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3" r:id="rId9"/>
    <p:sldId id="267" r:id="rId10"/>
    <p:sldId id="264" r:id="rId11"/>
    <p:sldId id="265" r:id="rId12"/>
  </p:sldIdLst>
  <p:sldSz cx="12192000" cy="6858000"/>
  <p:notesSz cx="7559675" cy="106918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07"/>
    <p:restoredTop sz="94685"/>
  </p:normalViewPr>
  <p:slideViewPr>
    <p:cSldViewPr snapToGrid="0">
      <p:cViewPr varScale="1">
        <p:scale>
          <a:sx n="134" d="100"/>
          <a:sy n="134" d="100"/>
        </p:scale>
        <p:origin x="8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Relationship Id="rId14" Type="http://schemas.openxmlformats.org/officeDocument/2006/relationships/image" Target="../media/image5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10" Type="http://schemas.openxmlformats.org/officeDocument/2006/relationships/image" Target="../media/image76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70.png"/><Relationship Id="rId7" Type="http://schemas.openxmlformats.org/officeDocument/2006/relationships/image" Target="../media/image9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102.png"/><Relationship Id="rId17" Type="http://schemas.openxmlformats.org/officeDocument/2006/relationships/image" Target="../media/image107.png"/><Relationship Id="rId2" Type="http://schemas.openxmlformats.org/officeDocument/2006/relationships/image" Target="../media/image92.png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形状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图片 4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图片 5"/>
          <p:cNvPicPr/>
          <p:nvPr/>
        </p:nvPicPr>
        <p:blipFill>
          <a:blip r:embed="rId3"/>
          <a:stretch/>
        </p:blipFill>
        <p:spPr>
          <a:xfrm>
            <a:off x="6095880" y="0"/>
            <a:ext cx="6095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任意形状 6"/>
          <p:cNvSpPr/>
          <p:nvPr/>
        </p:nvSpPr>
        <p:spPr>
          <a:xfrm>
            <a:off x="0" y="6781680"/>
            <a:ext cx="12192120" cy="76320"/>
          </a:xfrm>
          <a:custGeom>
            <a:avLst/>
            <a:gdLst/>
            <a:ahLst/>
            <a:cxnLst/>
            <a:rect l="0" t="0" r="r" b="b"/>
            <a:pathLst>
              <a:path w="33867" h="212">
                <a:moveTo>
                  <a:pt x="0" y="0"/>
                </a:moveTo>
                <a:lnTo>
                  <a:pt x="33867" y="0"/>
                </a:lnTo>
                <a:lnTo>
                  <a:pt x="33867" y="212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" name="图片 7"/>
          <p:cNvPicPr/>
          <p:nvPr/>
        </p:nvPicPr>
        <p:blipFill>
          <a:blip r:embed="rId4"/>
          <a:stretch/>
        </p:blipFill>
        <p:spPr>
          <a:xfrm>
            <a:off x="5438880" y="-783360"/>
            <a:ext cx="8419680" cy="84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任意形状 8"/>
          <p:cNvSpPr/>
          <p:nvPr/>
        </p:nvSpPr>
        <p:spPr>
          <a:xfrm>
            <a:off x="609480" y="961920"/>
            <a:ext cx="457560" cy="57600"/>
          </a:xfrm>
          <a:custGeom>
            <a:avLst/>
            <a:gdLst/>
            <a:ahLst/>
            <a:cxnLst/>
            <a:rect l="0" t="0" r="r" b="b"/>
            <a:pathLst>
              <a:path w="1271" h="160">
                <a:moveTo>
                  <a:pt x="0" y="79"/>
                </a:move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1191" y="0"/>
                </a:lnTo>
                <a:cubicBezTo>
                  <a:pt x="1202" y="0"/>
                  <a:pt x="1212" y="2"/>
                  <a:pt x="1222" y="6"/>
                </a:cubicBezTo>
                <a:cubicBezTo>
                  <a:pt x="1232" y="10"/>
                  <a:pt x="1240" y="16"/>
                  <a:pt x="1248" y="23"/>
                </a:cubicBezTo>
                <a:cubicBezTo>
                  <a:pt x="1255" y="30"/>
                  <a:pt x="1261" y="39"/>
                  <a:pt x="1265" y="49"/>
                </a:cubicBezTo>
                <a:cubicBezTo>
                  <a:pt x="1269" y="59"/>
                  <a:pt x="1271" y="69"/>
                  <a:pt x="1271" y="79"/>
                </a:cubicBezTo>
                <a:cubicBezTo>
                  <a:pt x="1271" y="90"/>
                  <a:pt x="1269" y="101"/>
                  <a:pt x="1265" y="111"/>
                </a:cubicBezTo>
                <a:cubicBezTo>
                  <a:pt x="1261" y="120"/>
                  <a:pt x="1255" y="129"/>
                  <a:pt x="1248" y="136"/>
                </a:cubicBezTo>
                <a:cubicBezTo>
                  <a:pt x="1240" y="144"/>
                  <a:pt x="1232" y="149"/>
                  <a:pt x="1222" y="153"/>
                </a:cubicBezTo>
                <a:cubicBezTo>
                  <a:pt x="1212" y="158"/>
                  <a:pt x="1202" y="160"/>
                  <a:pt x="1191" y="160"/>
                </a:cubicBezTo>
                <a:lnTo>
                  <a:pt x="79" y="160"/>
                </a:ln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0"/>
                  <a:pt x="0" y="79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19320" y="853560"/>
            <a:ext cx="21002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 dirty="0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本科 毕业设计开题答辩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480" y="1302120"/>
            <a:ext cx="33606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60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基于深度学习的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480" y="1873440"/>
            <a:ext cx="336060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6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乳腺癌超声图像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" name="图片 12"/>
          <p:cNvPicPr/>
          <p:nvPr/>
        </p:nvPicPr>
        <p:blipFill>
          <a:blip r:embed="rId5"/>
          <a:stretch/>
        </p:blipFill>
        <p:spPr>
          <a:xfrm>
            <a:off x="609480" y="3448080"/>
            <a:ext cx="2723760" cy="186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任意形状 13"/>
          <p:cNvSpPr/>
          <p:nvPr/>
        </p:nvSpPr>
        <p:spPr>
          <a:xfrm>
            <a:off x="915840" y="3738240"/>
            <a:ext cx="111600" cy="143280"/>
          </a:xfrm>
          <a:custGeom>
            <a:avLst/>
            <a:gdLst/>
            <a:ahLst/>
            <a:cxnLst/>
            <a:rect l="0" t="0" r="r" b="b"/>
            <a:pathLst>
              <a:path w="310" h="398" fill="none">
                <a:moveTo>
                  <a:pt x="243" y="89"/>
                </a:moveTo>
                <a:cubicBezTo>
                  <a:pt x="243" y="100"/>
                  <a:pt x="241" y="113"/>
                  <a:pt x="237" y="123"/>
                </a:cubicBezTo>
                <a:cubicBezTo>
                  <a:pt x="232" y="134"/>
                  <a:pt x="226" y="144"/>
                  <a:pt x="218" y="152"/>
                </a:cubicBezTo>
                <a:cubicBezTo>
                  <a:pt x="209" y="160"/>
                  <a:pt x="200" y="167"/>
                  <a:pt x="189" y="171"/>
                </a:cubicBezTo>
                <a:cubicBezTo>
                  <a:pt x="178" y="176"/>
                  <a:pt x="167" y="178"/>
                  <a:pt x="155" y="178"/>
                </a:cubicBezTo>
                <a:cubicBezTo>
                  <a:pt x="144" y="178"/>
                  <a:pt x="132" y="176"/>
                  <a:pt x="121" y="171"/>
                </a:cubicBezTo>
                <a:cubicBezTo>
                  <a:pt x="111" y="167"/>
                  <a:pt x="101" y="160"/>
                  <a:pt x="93" y="152"/>
                </a:cubicBezTo>
                <a:cubicBezTo>
                  <a:pt x="85" y="144"/>
                  <a:pt x="78" y="134"/>
                  <a:pt x="73" y="123"/>
                </a:cubicBezTo>
                <a:cubicBezTo>
                  <a:pt x="68" y="113"/>
                  <a:pt x="66" y="100"/>
                  <a:pt x="66" y="89"/>
                </a:cubicBezTo>
                <a:cubicBezTo>
                  <a:pt x="66" y="77"/>
                  <a:pt x="68" y="66"/>
                  <a:pt x="73" y="55"/>
                </a:cubicBezTo>
                <a:cubicBezTo>
                  <a:pt x="78" y="44"/>
                  <a:pt x="85" y="34"/>
                  <a:pt x="93" y="26"/>
                </a:cubicBezTo>
                <a:cubicBezTo>
                  <a:pt x="101" y="18"/>
                  <a:pt x="111" y="12"/>
                  <a:pt x="121" y="7"/>
                </a:cubicBezTo>
                <a:cubicBezTo>
                  <a:pt x="132" y="3"/>
                  <a:pt x="144" y="0"/>
                  <a:pt x="155" y="0"/>
                </a:cubicBezTo>
                <a:cubicBezTo>
                  <a:pt x="167" y="0"/>
                  <a:pt x="178" y="3"/>
                  <a:pt x="189" y="7"/>
                </a:cubicBezTo>
                <a:cubicBezTo>
                  <a:pt x="200" y="12"/>
                  <a:pt x="209" y="18"/>
                  <a:pt x="218" y="26"/>
                </a:cubicBezTo>
                <a:cubicBezTo>
                  <a:pt x="226" y="34"/>
                  <a:pt x="232" y="44"/>
                  <a:pt x="237" y="55"/>
                </a:cubicBezTo>
                <a:cubicBezTo>
                  <a:pt x="241" y="66"/>
                  <a:pt x="243" y="77"/>
                  <a:pt x="243" y="89"/>
                </a:cubicBezTo>
                <a:moveTo>
                  <a:pt x="155" y="244"/>
                </a:moveTo>
                <a:cubicBezTo>
                  <a:pt x="145" y="244"/>
                  <a:pt x="135" y="245"/>
                  <a:pt x="125" y="247"/>
                </a:cubicBezTo>
                <a:cubicBezTo>
                  <a:pt x="115" y="249"/>
                  <a:pt x="106" y="252"/>
                  <a:pt x="96" y="256"/>
                </a:cubicBezTo>
                <a:cubicBezTo>
                  <a:pt x="87" y="260"/>
                  <a:pt x="78" y="264"/>
                  <a:pt x="69" y="270"/>
                </a:cubicBezTo>
                <a:cubicBezTo>
                  <a:pt x="60" y="276"/>
                  <a:pt x="52" y="282"/>
                  <a:pt x="45" y="289"/>
                </a:cubicBezTo>
                <a:cubicBezTo>
                  <a:pt x="38" y="296"/>
                  <a:pt x="32" y="304"/>
                  <a:pt x="26" y="313"/>
                </a:cubicBezTo>
                <a:cubicBezTo>
                  <a:pt x="20" y="321"/>
                  <a:pt x="16" y="330"/>
                  <a:pt x="12" y="339"/>
                </a:cubicBezTo>
                <a:cubicBezTo>
                  <a:pt x="8" y="349"/>
                  <a:pt x="5" y="358"/>
                  <a:pt x="3" y="368"/>
                </a:cubicBezTo>
                <a:cubicBezTo>
                  <a:pt x="1" y="378"/>
                  <a:pt x="0" y="388"/>
                  <a:pt x="0" y="398"/>
                </a:cubicBezTo>
                <a:lnTo>
                  <a:pt x="310" y="398"/>
                </a:lnTo>
                <a:cubicBezTo>
                  <a:pt x="310" y="388"/>
                  <a:pt x="309" y="378"/>
                  <a:pt x="307" y="368"/>
                </a:cubicBezTo>
                <a:cubicBezTo>
                  <a:pt x="305" y="358"/>
                  <a:pt x="302" y="349"/>
                  <a:pt x="298" y="339"/>
                </a:cubicBezTo>
                <a:cubicBezTo>
                  <a:pt x="294" y="330"/>
                  <a:pt x="289" y="321"/>
                  <a:pt x="284" y="313"/>
                </a:cubicBezTo>
                <a:cubicBezTo>
                  <a:pt x="278" y="304"/>
                  <a:pt x="272" y="296"/>
                  <a:pt x="264" y="289"/>
                </a:cubicBezTo>
                <a:cubicBezTo>
                  <a:pt x="257" y="282"/>
                  <a:pt x="249" y="276"/>
                  <a:pt x="241" y="270"/>
                </a:cubicBezTo>
                <a:cubicBezTo>
                  <a:pt x="233" y="264"/>
                  <a:pt x="224" y="260"/>
                  <a:pt x="214" y="256"/>
                </a:cubicBezTo>
                <a:cubicBezTo>
                  <a:pt x="205" y="252"/>
                  <a:pt x="195" y="249"/>
                  <a:pt x="185" y="247"/>
                </a:cubicBezTo>
                <a:cubicBezTo>
                  <a:pt x="175" y="245"/>
                  <a:pt x="165" y="244"/>
                  <a:pt x="155" y="244"/>
                </a:cubicBezTo>
              </a:path>
            </a:pathLst>
          </a:custGeom>
          <a:ln w="15840" cap="rnd">
            <a:solidFill>
              <a:srgbClr val="F99600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480" y="2445120"/>
            <a:ext cx="288036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60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自动诊断系统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43000" y="3683880"/>
            <a:ext cx="54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答辩人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任意形状 16"/>
          <p:cNvSpPr/>
          <p:nvPr/>
        </p:nvSpPr>
        <p:spPr>
          <a:xfrm>
            <a:off x="900000" y="411948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354" y="398"/>
                </a:moveTo>
                <a:lnTo>
                  <a:pt x="354" y="44"/>
                </a:lnTo>
                <a:cubicBezTo>
                  <a:pt x="354" y="38"/>
                  <a:pt x="352" y="32"/>
                  <a:pt x="350" y="27"/>
                </a:cubicBezTo>
                <a:cubicBezTo>
                  <a:pt x="348" y="22"/>
                  <a:pt x="345" y="17"/>
                  <a:pt x="341" y="13"/>
                </a:cubicBezTo>
                <a:cubicBezTo>
                  <a:pt x="337" y="9"/>
                  <a:pt x="332" y="5"/>
                  <a:pt x="326" y="3"/>
                </a:cubicBezTo>
                <a:cubicBezTo>
                  <a:pt x="321" y="1"/>
                  <a:pt x="315" y="0"/>
                  <a:pt x="309" y="0"/>
                </a:cubicBezTo>
                <a:lnTo>
                  <a:pt x="89" y="0"/>
                </a:lnTo>
                <a:cubicBezTo>
                  <a:pt x="83" y="0"/>
                  <a:pt x="78" y="1"/>
                  <a:pt x="71" y="3"/>
                </a:cubicBezTo>
                <a:cubicBezTo>
                  <a:pt x="66" y="5"/>
                  <a:pt x="61" y="9"/>
                  <a:pt x="57" y="13"/>
                </a:cubicBezTo>
                <a:cubicBezTo>
                  <a:pt x="53" y="17"/>
                  <a:pt x="50" y="22"/>
                  <a:pt x="47" y="27"/>
                </a:cubicBezTo>
                <a:cubicBezTo>
                  <a:pt x="45" y="32"/>
                  <a:pt x="44" y="38"/>
                  <a:pt x="44" y="44"/>
                </a:cubicBezTo>
                <a:lnTo>
                  <a:pt x="44" y="398"/>
                </a:lnTo>
                <a:moveTo>
                  <a:pt x="354" y="398"/>
                </a:moveTo>
                <a:lnTo>
                  <a:pt x="398" y="398"/>
                </a:lnTo>
                <a:moveTo>
                  <a:pt x="354" y="398"/>
                </a:moveTo>
                <a:lnTo>
                  <a:pt x="243" y="398"/>
                </a:lnTo>
                <a:moveTo>
                  <a:pt x="44" y="398"/>
                </a:moveTo>
                <a:lnTo>
                  <a:pt x="0" y="398"/>
                </a:lnTo>
                <a:moveTo>
                  <a:pt x="44" y="398"/>
                </a:moveTo>
                <a:lnTo>
                  <a:pt x="155" y="398"/>
                </a:lnTo>
                <a:moveTo>
                  <a:pt x="133" y="88"/>
                </a:moveTo>
                <a:lnTo>
                  <a:pt x="155" y="88"/>
                </a:lnTo>
                <a:moveTo>
                  <a:pt x="133" y="176"/>
                </a:moveTo>
                <a:lnTo>
                  <a:pt x="155" y="176"/>
                </a:lnTo>
                <a:moveTo>
                  <a:pt x="243" y="88"/>
                </a:moveTo>
                <a:lnTo>
                  <a:pt x="265" y="88"/>
                </a:lnTo>
                <a:moveTo>
                  <a:pt x="243" y="176"/>
                </a:moveTo>
                <a:lnTo>
                  <a:pt x="265" y="176"/>
                </a:lnTo>
                <a:moveTo>
                  <a:pt x="155" y="398"/>
                </a:moveTo>
                <a:lnTo>
                  <a:pt x="155" y="287"/>
                </a:lnTo>
                <a:cubicBezTo>
                  <a:pt x="155" y="281"/>
                  <a:pt x="157" y="276"/>
                  <a:pt x="162" y="272"/>
                </a:cubicBezTo>
                <a:cubicBezTo>
                  <a:pt x="166" y="267"/>
                  <a:pt x="171" y="265"/>
                  <a:pt x="177" y="265"/>
                </a:cubicBezTo>
                <a:lnTo>
                  <a:pt x="221" y="265"/>
                </a:lnTo>
                <a:cubicBezTo>
                  <a:pt x="227" y="265"/>
                  <a:pt x="233" y="267"/>
                  <a:pt x="237" y="272"/>
                </a:cubicBezTo>
                <a:cubicBezTo>
                  <a:pt x="241" y="276"/>
                  <a:pt x="243" y="281"/>
                  <a:pt x="243" y="287"/>
                </a:cubicBezTo>
                <a:lnTo>
                  <a:pt x="243" y="398"/>
                </a:lnTo>
                <a:moveTo>
                  <a:pt x="155" y="398"/>
                </a:moveTo>
                <a:lnTo>
                  <a:pt x="243" y="398"/>
                </a:lnTo>
              </a:path>
            </a:pathLst>
          </a:custGeom>
          <a:ln w="15840" cap="rnd">
            <a:solidFill>
              <a:srgbClr val="F99600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33720" y="3683880"/>
            <a:ext cx="54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雷传栋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43000" y="4064760"/>
            <a:ext cx="36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班级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任意形状 19"/>
          <p:cNvSpPr/>
          <p:nvPr/>
        </p:nvSpPr>
        <p:spPr>
          <a:xfrm>
            <a:off x="900000" y="4500360"/>
            <a:ext cx="143280" cy="127440"/>
          </a:xfrm>
          <a:custGeom>
            <a:avLst/>
            <a:gdLst/>
            <a:ahLst/>
            <a:cxnLst/>
            <a:rect l="0" t="0" r="r" b="b"/>
            <a:pathLst>
              <a:path w="398" h="354" fill="none">
                <a:moveTo>
                  <a:pt x="155" y="66"/>
                </a:moveTo>
                <a:lnTo>
                  <a:pt x="44" y="66"/>
                </a:lnTo>
                <a:cubicBezTo>
                  <a:pt x="38" y="66"/>
                  <a:pt x="32" y="67"/>
                  <a:pt x="27" y="70"/>
                </a:cubicBezTo>
                <a:cubicBezTo>
                  <a:pt x="22" y="72"/>
                  <a:pt x="17" y="75"/>
                  <a:pt x="13" y="79"/>
                </a:cubicBezTo>
                <a:cubicBezTo>
                  <a:pt x="9" y="83"/>
                  <a:pt x="5" y="88"/>
                  <a:pt x="3" y="93"/>
                </a:cubicBezTo>
                <a:cubicBezTo>
                  <a:pt x="1" y="99"/>
                  <a:pt x="0" y="104"/>
                  <a:pt x="0" y="110"/>
                </a:cubicBezTo>
                <a:lnTo>
                  <a:pt x="0" y="309"/>
                </a:lnTo>
                <a:cubicBezTo>
                  <a:pt x="0" y="315"/>
                  <a:pt x="1" y="320"/>
                  <a:pt x="3" y="326"/>
                </a:cubicBezTo>
                <a:cubicBezTo>
                  <a:pt x="5" y="331"/>
                  <a:pt x="9" y="336"/>
                  <a:pt x="13" y="340"/>
                </a:cubicBezTo>
                <a:cubicBezTo>
                  <a:pt x="17" y="344"/>
                  <a:pt x="22" y="348"/>
                  <a:pt x="27" y="350"/>
                </a:cubicBezTo>
                <a:cubicBezTo>
                  <a:pt x="32" y="353"/>
                  <a:pt x="38" y="354"/>
                  <a:pt x="44" y="354"/>
                </a:cubicBezTo>
                <a:lnTo>
                  <a:pt x="354" y="354"/>
                </a:lnTo>
                <a:cubicBezTo>
                  <a:pt x="359" y="354"/>
                  <a:pt x="365" y="353"/>
                  <a:pt x="370" y="350"/>
                </a:cubicBezTo>
                <a:cubicBezTo>
                  <a:pt x="376" y="348"/>
                  <a:pt x="381" y="344"/>
                  <a:pt x="385" y="340"/>
                </a:cubicBezTo>
                <a:cubicBezTo>
                  <a:pt x="389" y="336"/>
                  <a:pt x="392" y="331"/>
                  <a:pt x="394" y="326"/>
                </a:cubicBezTo>
                <a:cubicBezTo>
                  <a:pt x="397" y="320"/>
                  <a:pt x="398" y="315"/>
                  <a:pt x="398" y="309"/>
                </a:cubicBezTo>
                <a:lnTo>
                  <a:pt x="398" y="110"/>
                </a:lnTo>
                <a:cubicBezTo>
                  <a:pt x="398" y="104"/>
                  <a:pt x="397" y="99"/>
                  <a:pt x="394" y="93"/>
                </a:cubicBezTo>
                <a:cubicBezTo>
                  <a:pt x="392" y="88"/>
                  <a:pt x="389" y="83"/>
                  <a:pt x="385" y="79"/>
                </a:cubicBezTo>
                <a:cubicBezTo>
                  <a:pt x="381" y="75"/>
                  <a:pt x="376" y="72"/>
                  <a:pt x="370" y="70"/>
                </a:cubicBezTo>
                <a:cubicBezTo>
                  <a:pt x="365" y="67"/>
                  <a:pt x="359" y="66"/>
                  <a:pt x="354" y="66"/>
                </a:cubicBezTo>
                <a:lnTo>
                  <a:pt x="243" y="66"/>
                </a:lnTo>
                <a:moveTo>
                  <a:pt x="155" y="66"/>
                </a:moveTo>
                <a:lnTo>
                  <a:pt x="155" y="44"/>
                </a:lnTo>
                <a:cubicBezTo>
                  <a:pt x="155" y="38"/>
                  <a:pt x="156" y="33"/>
                  <a:pt x="159" y="27"/>
                </a:cubicBezTo>
                <a:cubicBezTo>
                  <a:pt x="161" y="22"/>
                  <a:pt x="164" y="17"/>
                  <a:pt x="168" y="13"/>
                </a:cubicBezTo>
                <a:cubicBezTo>
                  <a:pt x="172" y="9"/>
                  <a:pt x="177" y="6"/>
                  <a:pt x="182" y="3"/>
                </a:cubicBezTo>
                <a:cubicBezTo>
                  <a:pt x="188" y="1"/>
                  <a:pt x="193" y="0"/>
                  <a:pt x="199" y="0"/>
                </a:cubicBezTo>
                <a:cubicBezTo>
                  <a:pt x="205" y="0"/>
                  <a:pt x="211" y="1"/>
                  <a:pt x="216" y="3"/>
                </a:cubicBezTo>
                <a:cubicBezTo>
                  <a:pt x="222" y="6"/>
                  <a:pt x="226" y="9"/>
                  <a:pt x="230" y="13"/>
                </a:cubicBezTo>
                <a:cubicBezTo>
                  <a:pt x="235" y="17"/>
                  <a:pt x="238" y="22"/>
                  <a:pt x="240" y="27"/>
                </a:cubicBezTo>
                <a:cubicBezTo>
                  <a:pt x="242" y="33"/>
                  <a:pt x="243" y="38"/>
                  <a:pt x="243" y="44"/>
                </a:cubicBezTo>
                <a:lnTo>
                  <a:pt x="243" y="66"/>
                </a:lnTo>
                <a:moveTo>
                  <a:pt x="155" y="66"/>
                </a:moveTo>
                <a:cubicBezTo>
                  <a:pt x="155" y="86"/>
                  <a:pt x="175" y="103"/>
                  <a:pt x="199" y="113"/>
                </a:cubicBezTo>
                <a:cubicBezTo>
                  <a:pt x="224" y="103"/>
                  <a:pt x="243" y="86"/>
                  <a:pt x="243" y="66"/>
                </a:cubicBezTo>
              </a:path>
            </a:pathLst>
          </a:custGeom>
          <a:ln w="15840" cap="rnd">
            <a:solidFill>
              <a:srgbClr val="F99600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133720" y="4064760"/>
            <a:ext cx="5929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CS2202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143000" y="4446000"/>
            <a:ext cx="36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学号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任意形状 22"/>
          <p:cNvSpPr/>
          <p:nvPr/>
        </p:nvSpPr>
        <p:spPr>
          <a:xfrm>
            <a:off x="900000" y="487332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398" y="250"/>
                </a:moveTo>
                <a:cubicBezTo>
                  <a:pt x="334" y="275"/>
                  <a:pt x="268" y="288"/>
                  <a:pt x="199" y="288"/>
                </a:cubicBezTo>
                <a:cubicBezTo>
                  <a:pt x="129" y="288"/>
                  <a:pt x="61" y="274"/>
                  <a:pt x="0" y="250"/>
                </a:cubicBezTo>
                <a:moveTo>
                  <a:pt x="287" y="89"/>
                </a:moveTo>
                <a:lnTo>
                  <a:pt x="287" y="44"/>
                </a:lnTo>
                <a:cubicBezTo>
                  <a:pt x="287" y="39"/>
                  <a:pt x="286" y="33"/>
                  <a:pt x="284" y="28"/>
                </a:cubicBezTo>
                <a:cubicBezTo>
                  <a:pt x="282" y="22"/>
                  <a:pt x="279" y="17"/>
                  <a:pt x="275" y="13"/>
                </a:cubicBezTo>
                <a:cubicBezTo>
                  <a:pt x="270" y="9"/>
                  <a:pt x="266" y="6"/>
                  <a:pt x="260" y="4"/>
                </a:cubicBezTo>
                <a:cubicBezTo>
                  <a:pt x="255" y="1"/>
                  <a:pt x="249" y="0"/>
                  <a:pt x="243" y="0"/>
                </a:cubicBezTo>
                <a:lnTo>
                  <a:pt x="155" y="0"/>
                </a:lnTo>
                <a:cubicBezTo>
                  <a:pt x="149" y="0"/>
                  <a:pt x="144" y="1"/>
                  <a:pt x="138" y="4"/>
                </a:cubicBezTo>
                <a:cubicBezTo>
                  <a:pt x="133" y="6"/>
                  <a:pt x="128" y="9"/>
                  <a:pt x="124" y="13"/>
                </a:cubicBezTo>
                <a:cubicBezTo>
                  <a:pt x="120" y="17"/>
                  <a:pt x="117" y="22"/>
                  <a:pt x="114" y="28"/>
                </a:cubicBezTo>
                <a:cubicBezTo>
                  <a:pt x="112" y="33"/>
                  <a:pt x="111" y="39"/>
                  <a:pt x="111" y="44"/>
                </a:cubicBezTo>
                <a:lnTo>
                  <a:pt x="111" y="89"/>
                </a:lnTo>
                <a:moveTo>
                  <a:pt x="199" y="222"/>
                </a:moveTo>
                <a:moveTo>
                  <a:pt x="44" y="398"/>
                </a:moveTo>
                <a:lnTo>
                  <a:pt x="354" y="398"/>
                </a:lnTo>
                <a:cubicBezTo>
                  <a:pt x="359" y="398"/>
                  <a:pt x="365" y="397"/>
                  <a:pt x="370" y="395"/>
                </a:cubicBezTo>
                <a:cubicBezTo>
                  <a:pt x="376" y="393"/>
                  <a:pt x="381" y="389"/>
                  <a:pt x="385" y="385"/>
                </a:cubicBezTo>
                <a:cubicBezTo>
                  <a:pt x="389" y="381"/>
                  <a:pt x="392" y="376"/>
                  <a:pt x="394" y="371"/>
                </a:cubicBezTo>
                <a:cubicBezTo>
                  <a:pt x="397" y="366"/>
                  <a:pt x="398" y="360"/>
                  <a:pt x="398" y="354"/>
                </a:cubicBezTo>
                <a:lnTo>
                  <a:pt x="398" y="134"/>
                </a:lnTo>
                <a:cubicBezTo>
                  <a:pt x="398" y="128"/>
                  <a:pt x="397" y="121"/>
                  <a:pt x="394" y="116"/>
                </a:cubicBezTo>
                <a:cubicBezTo>
                  <a:pt x="392" y="110"/>
                  <a:pt x="389" y="106"/>
                  <a:pt x="385" y="101"/>
                </a:cubicBezTo>
                <a:cubicBezTo>
                  <a:pt x="381" y="97"/>
                  <a:pt x="376" y="94"/>
                  <a:pt x="370" y="92"/>
                </a:cubicBezTo>
                <a:cubicBezTo>
                  <a:pt x="365" y="90"/>
                  <a:pt x="359" y="89"/>
                  <a:pt x="354" y="89"/>
                </a:cubicBezTo>
                <a:lnTo>
                  <a:pt x="44" y="89"/>
                </a:lnTo>
                <a:cubicBezTo>
                  <a:pt x="38" y="89"/>
                  <a:pt x="32" y="90"/>
                  <a:pt x="27" y="92"/>
                </a:cubicBezTo>
                <a:cubicBezTo>
                  <a:pt x="22" y="94"/>
                  <a:pt x="17" y="97"/>
                  <a:pt x="13" y="101"/>
                </a:cubicBezTo>
                <a:cubicBezTo>
                  <a:pt x="9" y="106"/>
                  <a:pt x="5" y="110"/>
                  <a:pt x="3" y="116"/>
                </a:cubicBezTo>
                <a:cubicBezTo>
                  <a:pt x="1" y="121"/>
                  <a:pt x="0" y="128"/>
                  <a:pt x="0" y="134"/>
                </a:cubicBezTo>
                <a:lnTo>
                  <a:pt x="0" y="354"/>
                </a:lnTo>
                <a:cubicBezTo>
                  <a:pt x="0" y="360"/>
                  <a:pt x="1" y="366"/>
                  <a:pt x="3" y="371"/>
                </a:cubicBezTo>
                <a:cubicBezTo>
                  <a:pt x="5" y="376"/>
                  <a:pt x="9" y="381"/>
                  <a:pt x="13" y="385"/>
                </a:cubicBezTo>
                <a:cubicBezTo>
                  <a:pt x="17" y="389"/>
                  <a:pt x="22" y="393"/>
                  <a:pt x="27" y="395"/>
                </a:cubicBezTo>
                <a:cubicBezTo>
                  <a:pt x="32" y="397"/>
                  <a:pt x="38" y="398"/>
                  <a:pt x="44" y="398"/>
                </a:cubicBezTo>
              </a:path>
            </a:pathLst>
          </a:custGeom>
          <a:ln w="15840" cap="rnd">
            <a:solidFill>
              <a:srgbClr val="F99600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133720" y="4446000"/>
            <a:ext cx="10040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U202211999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43000" y="482688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指导老师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任意形状 25"/>
          <p:cNvSpPr/>
          <p:nvPr/>
        </p:nvSpPr>
        <p:spPr>
          <a:xfrm>
            <a:off x="633240" y="5814720"/>
            <a:ext cx="143280" cy="143280"/>
          </a:xfrm>
          <a:custGeom>
            <a:avLst/>
            <a:gdLst/>
            <a:ahLst/>
            <a:cxnLst/>
            <a:rect l="0" t="0" r="r" b="b"/>
            <a:pathLst>
              <a:path w="398" h="398" fill="none">
                <a:moveTo>
                  <a:pt x="111" y="89"/>
                </a:moveTo>
                <a:lnTo>
                  <a:pt x="111" y="0"/>
                </a:lnTo>
                <a:moveTo>
                  <a:pt x="288" y="89"/>
                </a:moveTo>
                <a:lnTo>
                  <a:pt x="288" y="0"/>
                </a:lnTo>
                <a:moveTo>
                  <a:pt x="89" y="177"/>
                </a:moveTo>
                <a:lnTo>
                  <a:pt x="310" y="177"/>
                </a:lnTo>
                <a:moveTo>
                  <a:pt x="45" y="398"/>
                </a:moveTo>
                <a:lnTo>
                  <a:pt x="354" y="398"/>
                </a:lnTo>
                <a:cubicBezTo>
                  <a:pt x="360" y="398"/>
                  <a:pt x="365" y="397"/>
                  <a:pt x="371" y="395"/>
                </a:cubicBezTo>
                <a:cubicBezTo>
                  <a:pt x="376" y="393"/>
                  <a:pt x="381" y="389"/>
                  <a:pt x="385" y="385"/>
                </a:cubicBezTo>
                <a:cubicBezTo>
                  <a:pt x="389" y="381"/>
                  <a:pt x="392" y="376"/>
                  <a:pt x="394" y="371"/>
                </a:cubicBezTo>
                <a:cubicBezTo>
                  <a:pt x="397" y="366"/>
                  <a:pt x="398" y="360"/>
                  <a:pt x="398" y="354"/>
                </a:cubicBezTo>
                <a:lnTo>
                  <a:pt x="398" y="89"/>
                </a:lnTo>
                <a:cubicBezTo>
                  <a:pt x="398" y="83"/>
                  <a:pt x="397" y="77"/>
                  <a:pt x="394" y="72"/>
                </a:cubicBezTo>
                <a:cubicBezTo>
                  <a:pt x="392" y="66"/>
                  <a:pt x="389" y="61"/>
                  <a:pt x="385" y="57"/>
                </a:cubicBezTo>
                <a:cubicBezTo>
                  <a:pt x="381" y="53"/>
                  <a:pt x="376" y="50"/>
                  <a:pt x="371" y="48"/>
                </a:cubicBezTo>
                <a:cubicBezTo>
                  <a:pt x="365" y="46"/>
                  <a:pt x="360" y="44"/>
                  <a:pt x="354" y="44"/>
                </a:cubicBezTo>
                <a:lnTo>
                  <a:pt x="45" y="44"/>
                </a:lnTo>
                <a:cubicBezTo>
                  <a:pt x="39" y="44"/>
                  <a:pt x="34" y="46"/>
                  <a:pt x="28" y="48"/>
                </a:cubicBezTo>
                <a:cubicBezTo>
                  <a:pt x="22" y="50"/>
                  <a:pt x="17" y="53"/>
                  <a:pt x="13" y="57"/>
                </a:cubicBezTo>
                <a:cubicBezTo>
                  <a:pt x="9" y="61"/>
                  <a:pt x="6" y="66"/>
                  <a:pt x="3" y="72"/>
                </a:cubicBezTo>
                <a:cubicBezTo>
                  <a:pt x="1" y="77"/>
                  <a:pt x="0" y="83"/>
                  <a:pt x="0" y="89"/>
                </a:cubicBezTo>
                <a:lnTo>
                  <a:pt x="0" y="354"/>
                </a:lnTo>
                <a:cubicBezTo>
                  <a:pt x="0" y="360"/>
                  <a:pt x="1" y="366"/>
                  <a:pt x="3" y="371"/>
                </a:cubicBezTo>
                <a:cubicBezTo>
                  <a:pt x="6" y="376"/>
                  <a:pt x="9" y="381"/>
                  <a:pt x="13" y="385"/>
                </a:cubicBezTo>
                <a:cubicBezTo>
                  <a:pt x="17" y="389"/>
                  <a:pt x="22" y="393"/>
                  <a:pt x="28" y="395"/>
                </a:cubicBezTo>
                <a:cubicBezTo>
                  <a:pt x="34" y="397"/>
                  <a:pt x="39" y="398"/>
                  <a:pt x="45" y="398"/>
                </a:cubicBezTo>
              </a:path>
            </a:pathLst>
          </a:custGeom>
          <a:ln w="15840" cap="rnd">
            <a:solidFill>
              <a:srgbClr val="1A66C2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133720" y="4826880"/>
            <a:ext cx="36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陆枫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6240" y="5797440"/>
            <a:ext cx="36648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 dirty="0">
                <a:solidFill>
                  <a:srgbClr val="1A66C2"/>
                </a:solidFill>
                <a:effectLst/>
                <a:uFillTx/>
                <a:latin typeface="Courier New"/>
                <a:ea typeface="Courier New"/>
              </a:rPr>
              <a:t>2026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42000" y="5747760"/>
            <a:ext cx="159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 dirty="0">
                <a:solidFill>
                  <a:srgbClr val="1A66C2"/>
                </a:solidFill>
                <a:effectLst/>
                <a:uFillTx/>
                <a:latin typeface="NotoSansCJKsc"/>
                <a:ea typeface="NotoSansCJKsc"/>
              </a:rPr>
              <a:t>年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394640" y="5797440"/>
            <a:ext cx="15192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 dirty="0">
                <a:solidFill>
                  <a:srgbClr val="1A66C2"/>
                </a:solidFill>
                <a:effectLst/>
                <a:uFillTx/>
                <a:latin typeface="Courier New"/>
                <a:ea typeface="Courier New"/>
              </a:rPr>
              <a:t>3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486080" y="5747760"/>
            <a:ext cx="15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 dirty="0">
                <a:solidFill>
                  <a:srgbClr val="1A66C2"/>
                </a:solidFill>
                <a:effectLst/>
                <a:uFillTx/>
                <a:latin typeface="NotoSansCJKsc"/>
                <a:ea typeface="NotoSansCJKsc"/>
              </a:rPr>
              <a:t>⽉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638360" y="5797440"/>
            <a:ext cx="183600" cy="172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1A66C2"/>
                </a:solidFill>
                <a:effectLst/>
                <a:uFillTx/>
                <a:latin typeface="Courier New"/>
                <a:ea typeface="Courier New"/>
              </a:rPr>
              <a:t>12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" name="图片 32"/>
          <p:cNvPicPr/>
          <p:nvPr/>
        </p:nvPicPr>
        <p:blipFill>
          <a:blip r:embed="rId6"/>
          <a:stretch/>
        </p:blipFill>
        <p:spPr>
          <a:xfrm rot="60000">
            <a:off x="7286400" y="581040"/>
            <a:ext cx="4266720" cy="575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图片 33"/>
          <p:cNvPicPr/>
          <p:nvPr/>
        </p:nvPicPr>
        <p:blipFill>
          <a:blip r:embed="rId7"/>
          <a:stretch/>
        </p:blipFill>
        <p:spPr>
          <a:xfrm rot="60000">
            <a:off x="7324560" y="619560"/>
            <a:ext cx="4276440" cy="567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图片 34"/>
          <p:cNvPicPr/>
          <p:nvPr/>
        </p:nvPicPr>
        <p:blipFill>
          <a:blip r:embed="rId8"/>
          <a:stretch/>
        </p:blipFill>
        <p:spPr>
          <a:xfrm rot="60000">
            <a:off x="7286400" y="581040"/>
            <a:ext cx="4266720" cy="5752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图片 35"/>
          <p:cNvPicPr/>
          <p:nvPr/>
        </p:nvPicPr>
        <p:blipFill>
          <a:blip r:embed="rId9"/>
          <a:stretch/>
        </p:blipFill>
        <p:spPr>
          <a:xfrm rot="60000">
            <a:off x="7472880" y="5634720"/>
            <a:ext cx="1238040" cy="44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文本框 36"/>
          <p:cNvSpPr txBox="1"/>
          <p:nvPr/>
        </p:nvSpPr>
        <p:spPr>
          <a:xfrm>
            <a:off x="1821240" y="5747760"/>
            <a:ext cx="153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 dirty="0">
                <a:solidFill>
                  <a:srgbClr val="1A66C2"/>
                </a:solidFill>
                <a:effectLst/>
                <a:uFillTx/>
                <a:latin typeface="NotoSansCJKsc"/>
                <a:ea typeface="NotoSansCJKsc"/>
              </a:rPr>
              <a:t>⽇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文本框 37"/>
          <p:cNvSpPr txBox="1"/>
          <p:nvPr/>
        </p:nvSpPr>
        <p:spPr>
          <a:xfrm rot="60000">
            <a:off x="7626960" y="5701680"/>
            <a:ext cx="7610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AI DIAGNOSIS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文本框 38"/>
          <p:cNvSpPr txBox="1"/>
          <p:nvPr/>
        </p:nvSpPr>
        <p:spPr>
          <a:xfrm rot="60000">
            <a:off x="7624080" y="5866920"/>
            <a:ext cx="101484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7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Deep Learning System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任意形状 3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" name="图片 40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图片 41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图片 42"/>
          <p:cNvPicPr/>
          <p:nvPr/>
        </p:nvPicPr>
        <p:blipFill>
          <a:blip r:embed="rId4"/>
          <a:stretch/>
        </p:blipFill>
        <p:spPr>
          <a:xfrm>
            <a:off x="9753480" y="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图片 43"/>
          <p:cNvPicPr/>
          <p:nvPr/>
        </p:nvPicPr>
        <p:blipFill>
          <a:blip r:embed="rId5"/>
          <a:stretch/>
        </p:blipFill>
        <p:spPr>
          <a:xfrm>
            <a:off x="0" y="5638680"/>
            <a:ext cx="365724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任意形状 44"/>
          <p:cNvSpPr/>
          <p:nvPr/>
        </p:nvSpPr>
        <p:spPr>
          <a:xfrm>
            <a:off x="456840" y="380880"/>
            <a:ext cx="76680" cy="381240"/>
          </a:xfrm>
          <a:custGeom>
            <a:avLst/>
            <a:gdLst/>
            <a:ahLst/>
            <a:cxnLst/>
            <a:rect l="0" t="0" r="r" b="b"/>
            <a:pathLst>
              <a:path w="213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lnTo>
                  <a:pt x="213" y="953"/>
                </a:lnTo>
                <a:cubicBezTo>
                  <a:pt x="213" y="967"/>
                  <a:pt x="210" y="981"/>
                  <a:pt x="205" y="994"/>
                </a:cubicBezTo>
                <a:cubicBezTo>
                  <a:pt x="200" y="1007"/>
                  <a:pt x="192" y="1018"/>
                  <a:pt x="182" y="1028"/>
                </a:cubicBezTo>
                <a:cubicBezTo>
                  <a:pt x="172" y="1038"/>
                  <a:pt x="161" y="1046"/>
                  <a:pt x="148" y="1051"/>
                </a:cubicBezTo>
                <a:cubicBezTo>
                  <a:pt x="135" y="1056"/>
                  <a:pt x="121" y="1059"/>
                  <a:pt x="107" y="1059"/>
                </a:cubicBezTo>
                <a:cubicBezTo>
                  <a:pt x="92" y="1059"/>
                  <a:pt x="79" y="1056"/>
                  <a:pt x="66" y="1051"/>
                </a:cubicBezTo>
                <a:cubicBezTo>
                  <a:pt x="53" y="1046"/>
                  <a:pt x="41" y="1038"/>
                  <a:pt x="31" y="1028"/>
                </a:cubicBezTo>
                <a:cubicBezTo>
                  <a:pt x="22" y="1018"/>
                  <a:pt x="14" y="1007"/>
                  <a:pt x="9" y="994"/>
                </a:cubicBezTo>
                <a:cubicBezTo>
                  <a:pt x="3" y="981"/>
                  <a:pt x="0" y="967"/>
                  <a:pt x="0" y="953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" name="图片 45"/>
          <p:cNvPicPr/>
          <p:nvPr/>
        </p:nvPicPr>
        <p:blipFill>
          <a:blip r:embed="rId6"/>
          <a:stretch/>
        </p:blipFill>
        <p:spPr>
          <a:xfrm>
            <a:off x="457200" y="990720"/>
            <a:ext cx="5486040" cy="540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任意形状 46"/>
          <p:cNvSpPr/>
          <p:nvPr/>
        </p:nvSpPr>
        <p:spPr>
          <a:xfrm>
            <a:off x="771480" y="13046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95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5"/>
                  <a:pt x="141" y="54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952" y="0"/>
                </a:lnTo>
                <a:cubicBezTo>
                  <a:pt x="973" y="0"/>
                  <a:pt x="994" y="2"/>
                  <a:pt x="1014" y="6"/>
                </a:cubicBezTo>
                <a:cubicBezTo>
                  <a:pt x="1036" y="10"/>
                  <a:pt x="1055" y="16"/>
                  <a:pt x="1075" y="24"/>
                </a:cubicBezTo>
                <a:cubicBezTo>
                  <a:pt x="1094" y="32"/>
                  <a:pt x="1112" y="42"/>
                  <a:pt x="1130" y="54"/>
                </a:cubicBezTo>
                <a:cubicBezTo>
                  <a:pt x="1147" y="65"/>
                  <a:pt x="1163" y="79"/>
                  <a:pt x="1178" y="93"/>
                </a:cubicBezTo>
                <a:cubicBezTo>
                  <a:pt x="1192" y="108"/>
                  <a:pt x="1206" y="124"/>
                  <a:pt x="1217" y="141"/>
                </a:cubicBezTo>
                <a:cubicBezTo>
                  <a:pt x="1229" y="159"/>
                  <a:pt x="1238" y="177"/>
                  <a:pt x="1246" y="196"/>
                </a:cubicBezTo>
                <a:cubicBezTo>
                  <a:pt x="1254" y="216"/>
                  <a:pt x="1260" y="235"/>
                  <a:pt x="1265" y="256"/>
                </a:cubicBezTo>
                <a:cubicBezTo>
                  <a:pt x="1269" y="276"/>
                  <a:pt x="1271" y="297"/>
                  <a:pt x="1271" y="318"/>
                </a:cubicBezTo>
                <a:lnTo>
                  <a:pt x="1271" y="954"/>
                </a:lnTo>
                <a:cubicBezTo>
                  <a:pt x="1271" y="975"/>
                  <a:pt x="1269" y="995"/>
                  <a:pt x="1265" y="1016"/>
                </a:cubicBezTo>
                <a:cubicBezTo>
                  <a:pt x="1260" y="1036"/>
                  <a:pt x="1254" y="1056"/>
                  <a:pt x="1246" y="1075"/>
                </a:cubicBezTo>
                <a:cubicBezTo>
                  <a:pt x="1238" y="1095"/>
                  <a:pt x="1229" y="1113"/>
                  <a:pt x="1217" y="1130"/>
                </a:cubicBezTo>
                <a:cubicBezTo>
                  <a:pt x="1206" y="1148"/>
                  <a:pt x="1192" y="1164"/>
                  <a:pt x="1178" y="1178"/>
                </a:cubicBezTo>
                <a:cubicBezTo>
                  <a:pt x="1163" y="1193"/>
                  <a:pt x="1147" y="1206"/>
                  <a:pt x="1130" y="1218"/>
                </a:cubicBezTo>
                <a:cubicBezTo>
                  <a:pt x="1112" y="1229"/>
                  <a:pt x="1094" y="1239"/>
                  <a:pt x="1075" y="1247"/>
                </a:cubicBezTo>
                <a:cubicBezTo>
                  <a:pt x="1055" y="1255"/>
                  <a:pt x="1036" y="1261"/>
                  <a:pt x="1014" y="1265"/>
                </a:cubicBezTo>
                <a:cubicBezTo>
                  <a:pt x="994" y="1269"/>
                  <a:pt x="973" y="1271"/>
                  <a:pt x="952" y="1271"/>
                </a:cubicBezTo>
                <a:lnTo>
                  <a:pt x="317" y="1271"/>
                </a:lnTo>
                <a:cubicBezTo>
                  <a:pt x="296" y="1271"/>
                  <a:pt x="276" y="1269"/>
                  <a:pt x="255" y="1265"/>
                </a:cubicBezTo>
                <a:cubicBezTo>
                  <a:pt x="235" y="1261"/>
                  <a:pt x="215" y="1255"/>
                  <a:pt x="196" y="1247"/>
                </a:cubicBezTo>
                <a:cubicBezTo>
                  <a:pt x="176" y="1239"/>
                  <a:pt x="158" y="1229"/>
                  <a:pt x="141" y="1218"/>
                </a:cubicBezTo>
                <a:cubicBezTo>
                  <a:pt x="123" y="1206"/>
                  <a:pt x="107" y="1193"/>
                  <a:pt x="93" y="1178"/>
                </a:cubicBezTo>
                <a:cubicBezTo>
                  <a:pt x="78" y="1164"/>
                  <a:pt x="65" y="1148"/>
                  <a:pt x="53" y="1130"/>
                </a:cubicBezTo>
                <a:cubicBezTo>
                  <a:pt x="42" y="1113"/>
                  <a:pt x="32" y="1095"/>
                  <a:pt x="24" y="1075"/>
                </a:cubicBezTo>
                <a:cubicBezTo>
                  <a:pt x="16" y="1056"/>
                  <a:pt x="10" y="1036"/>
                  <a:pt x="6" y="1016"/>
                </a:cubicBezTo>
                <a:cubicBezTo>
                  <a:pt x="2" y="995"/>
                  <a:pt x="0" y="975"/>
                  <a:pt x="0" y="954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任意形状 47"/>
          <p:cNvSpPr/>
          <p:nvPr/>
        </p:nvSpPr>
        <p:spPr>
          <a:xfrm>
            <a:off x="888840" y="1422360"/>
            <a:ext cx="222480" cy="222480"/>
          </a:xfrm>
          <a:custGeom>
            <a:avLst/>
            <a:gdLst/>
            <a:ahLst/>
            <a:cxnLst/>
            <a:rect l="0" t="0" r="r" b="b"/>
            <a:pathLst>
              <a:path w="618" h="618" fill="none">
                <a:moveTo>
                  <a:pt x="618" y="309"/>
                </a:moveTo>
                <a:cubicBezTo>
                  <a:pt x="618" y="330"/>
                  <a:pt x="616" y="350"/>
                  <a:pt x="612" y="370"/>
                </a:cubicBezTo>
                <a:cubicBezTo>
                  <a:pt x="608" y="389"/>
                  <a:pt x="603" y="409"/>
                  <a:pt x="595" y="427"/>
                </a:cubicBezTo>
                <a:cubicBezTo>
                  <a:pt x="587" y="446"/>
                  <a:pt x="578" y="464"/>
                  <a:pt x="566" y="481"/>
                </a:cubicBezTo>
                <a:cubicBezTo>
                  <a:pt x="555" y="498"/>
                  <a:pt x="542" y="513"/>
                  <a:pt x="528" y="528"/>
                </a:cubicBezTo>
                <a:cubicBezTo>
                  <a:pt x="514" y="542"/>
                  <a:pt x="498" y="555"/>
                  <a:pt x="481" y="566"/>
                </a:cubicBezTo>
                <a:cubicBezTo>
                  <a:pt x="464" y="577"/>
                  <a:pt x="446" y="587"/>
                  <a:pt x="428" y="594"/>
                </a:cubicBezTo>
                <a:cubicBezTo>
                  <a:pt x="409" y="602"/>
                  <a:pt x="390" y="608"/>
                  <a:pt x="370" y="612"/>
                </a:cubicBezTo>
                <a:cubicBezTo>
                  <a:pt x="350" y="616"/>
                  <a:pt x="330" y="618"/>
                  <a:pt x="310" y="618"/>
                </a:cubicBezTo>
                <a:cubicBezTo>
                  <a:pt x="288" y="618"/>
                  <a:pt x="268" y="616"/>
                  <a:pt x="248" y="612"/>
                </a:cubicBezTo>
                <a:cubicBezTo>
                  <a:pt x="229" y="608"/>
                  <a:pt x="209" y="602"/>
                  <a:pt x="190" y="594"/>
                </a:cubicBezTo>
                <a:cubicBezTo>
                  <a:pt x="172" y="587"/>
                  <a:pt x="154" y="577"/>
                  <a:pt x="137" y="566"/>
                </a:cubicBezTo>
                <a:cubicBezTo>
                  <a:pt x="120" y="555"/>
                  <a:pt x="105" y="542"/>
                  <a:pt x="90" y="528"/>
                </a:cubicBezTo>
                <a:cubicBezTo>
                  <a:pt x="76" y="513"/>
                  <a:pt x="63" y="498"/>
                  <a:pt x="52" y="481"/>
                </a:cubicBezTo>
                <a:cubicBezTo>
                  <a:pt x="41" y="464"/>
                  <a:pt x="31" y="446"/>
                  <a:pt x="23" y="427"/>
                </a:cubicBezTo>
                <a:cubicBezTo>
                  <a:pt x="16" y="409"/>
                  <a:pt x="10" y="389"/>
                  <a:pt x="6" y="370"/>
                </a:cubicBezTo>
                <a:cubicBezTo>
                  <a:pt x="2" y="350"/>
                  <a:pt x="0" y="330"/>
                  <a:pt x="0" y="309"/>
                </a:cubicBezTo>
                <a:cubicBezTo>
                  <a:pt x="0" y="289"/>
                  <a:pt x="2" y="269"/>
                  <a:pt x="6" y="249"/>
                </a:cubicBezTo>
                <a:cubicBezTo>
                  <a:pt x="10" y="229"/>
                  <a:pt x="16" y="210"/>
                  <a:pt x="23" y="191"/>
                </a:cubicBezTo>
                <a:cubicBezTo>
                  <a:pt x="31" y="172"/>
                  <a:pt x="41" y="155"/>
                  <a:pt x="52" y="138"/>
                </a:cubicBezTo>
                <a:cubicBezTo>
                  <a:pt x="63" y="121"/>
                  <a:pt x="76" y="105"/>
                  <a:pt x="90" y="91"/>
                </a:cubicBezTo>
                <a:cubicBezTo>
                  <a:pt x="105" y="77"/>
                  <a:pt x="120" y="64"/>
                  <a:pt x="137" y="52"/>
                </a:cubicBezTo>
                <a:cubicBezTo>
                  <a:pt x="154" y="40"/>
                  <a:pt x="172" y="31"/>
                  <a:pt x="190" y="23"/>
                </a:cubicBezTo>
                <a:cubicBezTo>
                  <a:pt x="209" y="15"/>
                  <a:pt x="229" y="9"/>
                  <a:pt x="248" y="6"/>
                </a:cubicBezTo>
                <a:cubicBezTo>
                  <a:pt x="268" y="2"/>
                  <a:pt x="288" y="0"/>
                  <a:pt x="310" y="0"/>
                </a:cubicBezTo>
                <a:cubicBezTo>
                  <a:pt x="330" y="0"/>
                  <a:pt x="350" y="2"/>
                  <a:pt x="370" y="6"/>
                </a:cubicBezTo>
                <a:cubicBezTo>
                  <a:pt x="390" y="9"/>
                  <a:pt x="409" y="15"/>
                  <a:pt x="428" y="23"/>
                </a:cubicBezTo>
                <a:cubicBezTo>
                  <a:pt x="446" y="31"/>
                  <a:pt x="464" y="40"/>
                  <a:pt x="481" y="52"/>
                </a:cubicBezTo>
                <a:cubicBezTo>
                  <a:pt x="498" y="64"/>
                  <a:pt x="514" y="77"/>
                  <a:pt x="528" y="91"/>
                </a:cubicBezTo>
                <a:cubicBezTo>
                  <a:pt x="542" y="105"/>
                  <a:pt x="555" y="121"/>
                  <a:pt x="566" y="138"/>
                </a:cubicBezTo>
                <a:cubicBezTo>
                  <a:pt x="578" y="155"/>
                  <a:pt x="587" y="172"/>
                  <a:pt x="595" y="191"/>
                </a:cubicBezTo>
                <a:cubicBezTo>
                  <a:pt x="603" y="210"/>
                  <a:pt x="608" y="229"/>
                  <a:pt x="612" y="249"/>
                </a:cubicBezTo>
                <a:cubicBezTo>
                  <a:pt x="616" y="269"/>
                  <a:pt x="618" y="289"/>
                  <a:pt x="618" y="309"/>
                </a:cubicBezTo>
              </a:path>
            </a:pathLst>
          </a:custGeom>
          <a:ln w="21960" cap="rnd">
            <a:solidFill>
              <a:srgbClr val="1A66C2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直线连接符 48"/>
          <p:cNvSpPr/>
          <p:nvPr/>
        </p:nvSpPr>
        <p:spPr>
          <a:xfrm>
            <a:off x="888840" y="1533240"/>
            <a:ext cx="222120" cy="0"/>
          </a:xfrm>
          <a:prstGeom prst="line">
            <a:avLst/>
          </a:prstGeom>
          <a:ln w="21960" cap="rnd">
            <a:solidFill>
              <a:srgbClr val="1A66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0800" tIns="-10800" rIns="10800" bIns="-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任意形状 49"/>
          <p:cNvSpPr/>
          <p:nvPr/>
        </p:nvSpPr>
        <p:spPr>
          <a:xfrm>
            <a:off x="955440" y="1422360"/>
            <a:ext cx="89280" cy="222480"/>
          </a:xfrm>
          <a:custGeom>
            <a:avLst/>
            <a:gdLst/>
            <a:ahLst/>
            <a:cxnLst/>
            <a:rect l="0" t="0" r="r" b="b"/>
            <a:pathLst>
              <a:path w="248" h="618" fill="none">
                <a:moveTo>
                  <a:pt x="124" y="0"/>
                </a:moveTo>
                <a:cubicBezTo>
                  <a:pt x="162" y="42"/>
                  <a:pt x="193" y="91"/>
                  <a:pt x="214" y="144"/>
                </a:cubicBezTo>
                <a:cubicBezTo>
                  <a:pt x="236" y="197"/>
                  <a:pt x="247" y="252"/>
                  <a:pt x="248" y="309"/>
                </a:cubicBezTo>
                <a:cubicBezTo>
                  <a:pt x="247" y="367"/>
                  <a:pt x="236" y="422"/>
                  <a:pt x="214" y="475"/>
                </a:cubicBezTo>
                <a:cubicBezTo>
                  <a:pt x="193" y="528"/>
                  <a:pt x="162" y="576"/>
                  <a:pt x="124" y="618"/>
                </a:cubicBezTo>
                <a:cubicBezTo>
                  <a:pt x="85" y="576"/>
                  <a:pt x="55" y="528"/>
                  <a:pt x="34" y="475"/>
                </a:cubicBezTo>
                <a:cubicBezTo>
                  <a:pt x="13" y="422"/>
                  <a:pt x="1" y="367"/>
                  <a:pt x="0" y="309"/>
                </a:cubicBezTo>
                <a:cubicBezTo>
                  <a:pt x="1" y="252"/>
                  <a:pt x="13" y="197"/>
                  <a:pt x="34" y="144"/>
                </a:cubicBezTo>
                <a:cubicBezTo>
                  <a:pt x="55" y="91"/>
                  <a:pt x="85" y="42"/>
                  <a:pt x="124" y="0"/>
                </a:cubicBezTo>
              </a:path>
            </a:pathLst>
          </a:custGeom>
          <a:ln w="21960" cap="rnd">
            <a:solidFill>
              <a:srgbClr val="1A66C2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685800" y="357480"/>
            <a:ext cx="1440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研究背景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43160" y="1384560"/>
            <a:ext cx="1440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全球流行现状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任意形状 52"/>
          <p:cNvSpPr/>
          <p:nvPr/>
        </p:nvSpPr>
        <p:spPr>
          <a:xfrm>
            <a:off x="771480" y="4781520"/>
            <a:ext cx="4857840" cy="457560"/>
          </a:xfrm>
          <a:custGeom>
            <a:avLst/>
            <a:gdLst/>
            <a:ahLst/>
            <a:cxnLst/>
            <a:rect l="0" t="0" r="r" b="b"/>
            <a:pathLst>
              <a:path w="13494" h="1271">
                <a:moveTo>
                  <a:pt x="0" y="1059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6" y="157"/>
                  <a:pt x="10" y="144"/>
                  <a:pt x="16" y="131"/>
                </a:cubicBezTo>
                <a:cubicBezTo>
                  <a:pt x="21" y="118"/>
                  <a:pt x="28" y="106"/>
                  <a:pt x="35" y="95"/>
                </a:cubicBezTo>
                <a:cubicBezTo>
                  <a:pt x="43" y="83"/>
                  <a:pt x="52" y="72"/>
                  <a:pt x="62" y="63"/>
                </a:cubicBezTo>
                <a:cubicBezTo>
                  <a:pt x="71" y="53"/>
                  <a:pt x="82" y="44"/>
                  <a:pt x="94" y="35"/>
                </a:cubicBezTo>
                <a:cubicBezTo>
                  <a:pt x="105" y="28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13283" y="0"/>
                </a:lnTo>
                <a:cubicBezTo>
                  <a:pt x="13297" y="0"/>
                  <a:pt x="13310" y="1"/>
                  <a:pt x="13324" y="4"/>
                </a:cubicBezTo>
                <a:cubicBezTo>
                  <a:pt x="13338" y="6"/>
                  <a:pt x="13351" y="10"/>
                  <a:pt x="13364" y="16"/>
                </a:cubicBezTo>
                <a:cubicBezTo>
                  <a:pt x="13377" y="21"/>
                  <a:pt x="13389" y="28"/>
                  <a:pt x="13400" y="35"/>
                </a:cubicBezTo>
                <a:cubicBezTo>
                  <a:pt x="13412" y="44"/>
                  <a:pt x="13423" y="53"/>
                  <a:pt x="13432" y="63"/>
                </a:cubicBezTo>
                <a:cubicBezTo>
                  <a:pt x="13442" y="72"/>
                  <a:pt x="13451" y="83"/>
                  <a:pt x="13459" y="95"/>
                </a:cubicBezTo>
                <a:cubicBezTo>
                  <a:pt x="13466" y="106"/>
                  <a:pt x="13473" y="118"/>
                  <a:pt x="13478" y="131"/>
                </a:cubicBezTo>
                <a:cubicBezTo>
                  <a:pt x="13484" y="144"/>
                  <a:pt x="13488" y="157"/>
                  <a:pt x="13490" y="171"/>
                </a:cubicBezTo>
                <a:cubicBezTo>
                  <a:pt x="13493" y="185"/>
                  <a:pt x="13494" y="198"/>
                  <a:pt x="13494" y="212"/>
                </a:cubicBezTo>
                <a:lnTo>
                  <a:pt x="13494" y="1059"/>
                </a:lnTo>
                <a:cubicBezTo>
                  <a:pt x="13494" y="1073"/>
                  <a:pt x="13493" y="1087"/>
                  <a:pt x="13490" y="1100"/>
                </a:cubicBezTo>
                <a:cubicBezTo>
                  <a:pt x="13488" y="1114"/>
                  <a:pt x="13484" y="1127"/>
                  <a:pt x="13478" y="1140"/>
                </a:cubicBezTo>
                <a:cubicBezTo>
                  <a:pt x="13473" y="1153"/>
                  <a:pt x="13466" y="1165"/>
                  <a:pt x="13459" y="1177"/>
                </a:cubicBezTo>
                <a:cubicBezTo>
                  <a:pt x="13451" y="1188"/>
                  <a:pt x="13442" y="1199"/>
                  <a:pt x="13432" y="1209"/>
                </a:cubicBezTo>
                <a:cubicBezTo>
                  <a:pt x="13423" y="1218"/>
                  <a:pt x="13412" y="1227"/>
                  <a:pt x="13400" y="1235"/>
                </a:cubicBezTo>
                <a:cubicBezTo>
                  <a:pt x="13389" y="1243"/>
                  <a:pt x="13377" y="1249"/>
                  <a:pt x="13364" y="1254"/>
                </a:cubicBezTo>
                <a:cubicBezTo>
                  <a:pt x="13351" y="1260"/>
                  <a:pt x="13338" y="1264"/>
                  <a:pt x="13324" y="1267"/>
                </a:cubicBezTo>
                <a:cubicBezTo>
                  <a:pt x="13310" y="1269"/>
                  <a:pt x="13297" y="1271"/>
                  <a:pt x="13283" y="1271"/>
                </a:cubicBezTo>
                <a:lnTo>
                  <a:pt x="211" y="1271"/>
                </a:lnTo>
                <a:cubicBezTo>
                  <a:pt x="197" y="1271"/>
                  <a:pt x="184" y="1269"/>
                  <a:pt x="170" y="1267"/>
                </a:cubicBezTo>
                <a:cubicBezTo>
                  <a:pt x="156" y="1264"/>
                  <a:pt x="143" y="1260"/>
                  <a:pt x="130" y="1254"/>
                </a:cubicBezTo>
                <a:cubicBezTo>
                  <a:pt x="117" y="1249"/>
                  <a:pt x="105" y="1243"/>
                  <a:pt x="94" y="1235"/>
                </a:cubicBezTo>
                <a:cubicBezTo>
                  <a:pt x="82" y="1227"/>
                  <a:pt x="71" y="1218"/>
                  <a:pt x="62" y="1209"/>
                </a:cubicBezTo>
                <a:cubicBezTo>
                  <a:pt x="52" y="1199"/>
                  <a:pt x="43" y="1188"/>
                  <a:pt x="35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0" y="1127"/>
                  <a:pt x="6" y="1114"/>
                  <a:pt x="4" y="1100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EFF6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任意形状 53"/>
          <p:cNvSpPr/>
          <p:nvPr/>
        </p:nvSpPr>
        <p:spPr>
          <a:xfrm>
            <a:off x="917280" y="4930560"/>
            <a:ext cx="127440" cy="159120"/>
          </a:xfrm>
          <a:custGeom>
            <a:avLst/>
            <a:gdLst/>
            <a:ahLst/>
            <a:cxnLst/>
            <a:rect l="0" t="0" r="r" b="b"/>
            <a:pathLst>
              <a:path w="354" h="442" fill="none">
                <a:moveTo>
                  <a:pt x="178" y="442"/>
                </a:moveTo>
                <a:cubicBezTo>
                  <a:pt x="178" y="442"/>
                  <a:pt x="354" y="354"/>
                  <a:pt x="354" y="222"/>
                </a:cubicBezTo>
                <a:lnTo>
                  <a:pt x="354" y="66"/>
                </a:lnTo>
                <a:lnTo>
                  <a:pt x="178" y="0"/>
                </a:lnTo>
                <a:lnTo>
                  <a:pt x="0" y="66"/>
                </a:lnTo>
                <a:lnTo>
                  <a:pt x="0" y="222"/>
                </a:lnTo>
                <a:cubicBezTo>
                  <a:pt x="0" y="354"/>
                  <a:pt x="178" y="442"/>
                  <a:pt x="178" y="442"/>
                </a:cubicBezTo>
              </a:path>
            </a:pathLst>
          </a:custGeom>
          <a:ln w="15840">
            <a:solidFill>
              <a:srgbClr val="F99600"/>
            </a:solidFill>
            <a:miter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71480" y="2864880"/>
            <a:ext cx="2970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乳腺癌是全球女性</a:t>
            </a:r>
            <a:r>
              <a:rPr lang="zh-CN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最常见的恶性肿瘤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" name="图片 55"/>
          <p:cNvPicPr/>
          <p:nvPr/>
        </p:nvPicPr>
        <p:blipFill>
          <a:blip r:embed="rId7"/>
          <a:stretch/>
        </p:blipFill>
        <p:spPr>
          <a:xfrm>
            <a:off x="4343400" y="685800"/>
            <a:ext cx="190476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图片 56"/>
          <p:cNvPicPr/>
          <p:nvPr/>
        </p:nvPicPr>
        <p:blipFill>
          <a:blip r:embed="rId8"/>
          <a:stretch/>
        </p:blipFill>
        <p:spPr>
          <a:xfrm>
            <a:off x="771480" y="3352680"/>
            <a:ext cx="4857480" cy="119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任意形状 57"/>
          <p:cNvSpPr/>
          <p:nvPr/>
        </p:nvSpPr>
        <p:spPr>
          <a:xfrm>
            <a:off x="1009440" y="364788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199" y="160"/>
                  <a:pt x="192" y="172"/>
                  <a:pt x="182" y="182"/>
                </a:cubicBezTo>
                <a:cubicBezTo>
                  <a:pt x="172" y="192"/>
                  <a:pt x="160" y="199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199"/>
                  <a:pt x="41" y="192"/>
                  <a:pt x="31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2" y="21"/>
                  <a:pt x="182" y="31"/>
                </a:cubicBezTo>
                <a:cubicBezTo>
                  <a:pt x="192" y="41"/>
                  <a:pt x="199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190520" y="4914000"/>
            <a:ext cx="1280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早期筛查至关重要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162080" y="3600720"/>
            <a:ext cx="12643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WHO 2024 </a:t>
            </a:r>
            <a:r>
              <a:rPr lang="zh-CN" sz="10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最新数据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09800" y="4026600"/>
            <a:ext cx="144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全球新发病例高达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457360" y="3829320"/>
            <a:ext cx="823680" cy="518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600" b="1" u="none" strike="noStrike">
                <a:solidFill>
                  <a:srgbClr val="F99600"/>
                </a:solidFill>
                <a:effectLst/>
                <a:uFillTx/>
                <a:latin typeface="Courier New"/>
                <a:ea typeface="Courier New"/>
              </a:rPr>
              <a:t>230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3" name="图片 62"/>
          <p:cNvPicPr/>
          <p:nvPr/>
        </p:nvPicPr>
        <p:blipFill>
          <a:blip r:embed="rId6"/>
          <a:stretch/>
        </p:blipFill>
        <p:spPr>
          <a:xfrm>
            <a:off x="6248520" y="990720"/>
            <a:ext cx="5486040" cy="540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任意形状 63"/>
          <p:cNvSpPr/>
          <p:nvPr/>
        </p:nvSpPr>
        <p:spPr>
          <a:xfrm>
            <a:off x="6562440" y="13046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95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9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9" y="42"/>
                  <a:pt x="178" y="32"/>
                  <a:pt x="197" y="24"/>
                </a:cubicBezTo>
                <a:cubicBezTo>
                  <a:pt x="217" y="16"/>
                  <a:pt x="236" y="10"/>
                  <a:pt x="257" y="6"/>
                </a:cubicBezTo>
                <a:cubicBezTo>
                  <a:pt x="277" y="2"/>
                  <a:pt x="298" y="0"/>
                  <a:pt x="319" y="0"/>
                </a:cubicBezTo>
                <a:lnTo>
                  <a:pt x="954" y="0"/>
                </a:lnTo>
                <a:cubicBezTo>
                  <a:pt x="975" y="0"/>
                  <a:pt x="995" y="2"/>
                  <a:pt x="1016" y="6"/>
                </a:cubicBezTo>
                <a:cubicBezTo>
                  <a:pt x="1036" y="10"/>
                  <a:pt x="1056" y="16"/>
                  <a:pt x="1075" y="24"/>
                </a:cubicBezTo>
                <a:cubicBezTo>
                  <a:pt x="1095" y="32"/>
                  <a:pt x="1113" y="42"/>
                  <a:pt x="1130" y="54"/>
                </a:cubicBezTo>
                <a:cubicBezTo>
                  <a:pt x="1148" y="65"/>
                  <a:pt x="1164" y="79"/>
                  <a:pt x="1178" y="93"/>
                </a:cubicBezTo>
                <a:cubicBezTo>
                  <a:pt x="1193" y="108"/>
                  <a:pt x="1206" y="124"/>
                  <a:pt x="1218" y="141"/>
                </a:cubicBezTo>
                <a:cubicBezTo>
                  <a:pt x="1229" y="159"/>
                  <a:pt x="1239" y="177"/>
                  <a:pt x="1247" y="196"/>
                </a:cubicBezTo>
                <a:cubicBezTo>
                  <a:pt x="1255" y="216"/>
                  <a:pt x="1261" y="235"/>
                  <a:pt x="1265" y="256"/>
                </a:cubicBezTo>
                <a:cubicBezTo>
                  <a:pt x="1269" y="276"/>
                  <a:pt x="1271" y="297"/>
                  <a:pt x="1271" y="318"/>
                </a:cubicBezTo>
                <a:lnTo>
                  <a:pt x="1271" y="954"/>
                </a:lnTo>
                <a:cubicBezTo>
                  <a:pt x="1271" y="975"/>
                  <a:pt x="1269" y="995"/>
                  <a:pt x="1265" y="1016"/>
                </a:cubicBezTo>
                <a:cubicBezTo>
                  <a:pt x="1261" y="1036"/>
                  <a:pt x="1255" y="1056"/>
                  <a:pt x="1247" y="1075"/>
                </a:cubicBezTo>
                <a:cubicBezTo>
                  <a:pt x="1239" y="1095"/>
                  <a:pt x="1229" y="1113"/>
                  <a:pt x="1218" y="1130"/>
                </a:cubicBezTo>
                <a:cubicBezTo>
                  <a:pt x="1206" y="1148"/>
                  <a:pt x="1193" y="1164"/>
                  <a:pt x="1178" y="1178"/>
                </a:cubicBezTo>
                <a:cubicBezTo>
                  <a:pt x="1164" y="1193"/>
                  <a:pt x="1148" y="1206"/>
                  <a:pt x="1130" y="1218"/>
                </a:cubicBezTo>
                <a:cubicBezTo>
                  <a:pt x="1113" y="1229"/>
                  <a:pt x="1095" y="1239"/>
                  <a:pt x="1075" y="1247"/>
                </a:cubicBezTo>
                <a:cubicBezTo>
                  <a:pt x="1056" y="1255"/>
                  <a:pt x="1036" y="1261"/>
                  <a:pt x="1016" y="1265"/>
                </a:cubicBezTo>
                <a:cubicBezTo>
                  <a:pt x="995" y="1269"/>
                  <a:pt x="975" y="1271"/>
                  <a:pt x="954" y="1271"/>
                </a:cubicBezTo>
                <a:lnTo>
                  <a:pt x="319" y="1271"/>
                </a:lnTo>
                <a:cubicBezTo>
                  <a:pt x="298" y="1271"/>
                  <a:pt x="277" y="1269"/>
                  <a:pt x="257" y="1265"/>
                </a:cubicBezTo>
                <a:cubicBezTo>
                  <a:pt x="236" y="1261"/>
                  <a:pt x="217" y="1255"/>
                  <a:pt x="197" y="1247"/>
                </a:cubicBezTo>
                <a:cubicBezTo>
                  <a:pt x="178" y="1239"/>
                  <a:pt x="159" y="1229"/>
                  <a:pt x="141" y="1218"/>
                </a:cubicBezTo>
                <a:cubicBezTo>
                  <a:pt x="124" y="1206"/>
                  <a:pt x="108" y="1193"/>
                  <a:pt x="93" y="1178"/>
                </a:cubicBezTo>
                <a:cubicBezTo>
                  <a:pt x="79" y="1164"/>
                  <a:pt x="65" y="1148"/>
                  <a:pt x="54" y="1130"/>
                </a:cubicBezTo>
                <a:cubicBezTo>
                  <a:pt x="42" y="1113"/>
                  <a:pt x="32" y="1095"/>
                  <a:pt x="24" y="1075"/>
                </a:cubicBezTo>
                <a:cubicBezTo>
                  <a:pt x="16" y="1056"/>
                  <a:pt x="10" y="1036"/>
                  <a:pt x="6" y="1016"/>
                </a:cubicBezTo>
                <a:cubicBezTo>
                  <a:pt x="2" y="995"/>
                  <a:pt x="0" y="975"/>
                  <a:pt x="0" y="954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任意形状 64"/>
          <p:cNvSpPr/>
          <p:nvPr/>
        </p:nvSpPr>
        <p:spPr>
          <a:xfrm>
            <a:off x="6680160" y="1433160"/>
            <a:ext cx="222480" cy="200520"/>
          </a:xfrm>
          <a:custGeom>
            <a:avLst/>
            <a:gdLst/>
            <a:ahLst/>
            <a:cxnLst/>
            <a:rect l="0" t="0" r="r" b="b"/>
            <a:pathLst>
              <a:path w="618" h="557" fill="none">
                <a:moveTo>
                  <a:pt x="618" y="279"/>
                </a:moveTo>
                <a:lnTo>
                  <a:pt x="494" y="279"/>
                </a:lnTo>
                <a:lnTo>
                  <a:pt x="402" y="557"/>
                </a:lnTo>
                <a:lnTo>
                  <a:pt x="216" y="0"/>
                </a:lnTo>
                <a:lnTo>
                  <a:pt x="123" y="279"/>
                </a:lnTo>
                <a:lnTo>
                  <a:pt x="0" y="279"/>
                </a:lnTo>
              </a:path>
            </a:pathLst>
          </a:custGeom>
          <a:ln w="21960" cap="rnd">
            <a:solidFill>
              <a:srgbClr val="F99600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356640" y="3965760"/>
            <a:ext cx="4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99600"/>
                </a:solidFill>
                <a:effectLst/>
                <a:uFillTx/>
                <a:latin typeface="NotoSansSC"/>
                <a:ea typeface="NotoSansSC"/>
              </a:rPr>
              <a:t>万例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134120" y="1384560"/>
            <a:ext cx="168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筛查手段与痛点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6562800" y="2721960"/>
            <a:ext cx="48607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超声检查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是目前重要的筛查手段。然而，诊断结果高度依赖医生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9" name="图片 68"/>
          <p:cNvPicPr/>
          <p:nvPr/>
        </p:nvPicPr>
        <p:blipFill>
          <a:blip r:embed="rId9"/>
          <a:stretch/>
        </p:blipFill>
        <p:spPr>
          <a:xfrm>
            <a:off x="10134720" y="685800"/>
            <a:ext cx="1904760" cy="1904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图片 69"/>
          <p:cNvPicPr/>
          <p:nvPr/>
        </p:nvPicPr>
        <p:blipFill>
          <a:blip r:embed="rId10"/>
          <a:stretch/>
        </p:blipFill>
        <p:spPr>
          <a:xfrm>
            <a:off x="6562800" y="3476520"/>
            <a:ext cx="4857480" cy="8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任意形状 70"/>
          <p:cNvSpPr/>
          <p:nvPr/>
        </p:nvSpPr>
        <p:spPr>
          <a:xfrm>
            <a:off x="6806880" y="3720960"/>
            <a:ext cx="159120" cy="159120"/>
          </a:xfrm>
          <a:custGeom>
            <a:avLst/>
            <a:gdLst/>
            <a:ahLst/>
            <a:cxnLst/>
            <a:rect l="0" t="0" r="r" b="b"/>
            <a:pathLst>
              <a:path w="442" h="442" fill="none">
                <a:moveTo>
                  <a:pt x="442" y="221"/>
                </a:moveTo>
                <a:cubicBezTo>
                  <a:pt x="442" y="236"/>
                  <a:pt x="441" y="250"/>
                  <a:pt x="438" y="264"/>
                </a:cubicBezTo>
                <a:cubicBezTo>
                  <a:pt x="435" y="279"/>
                  <a:pt x="431" y="292"/>
                  <a:pt x="426" y="306"/>
                </a:cubicBezTo>
                <a:cubicBezTo>
                  <a:pt x="420" y="319"/>
                  <a:pt x="413" y="332"/>
                  <a:pt x="405" y="344"/>
                </a:cubicBezTo>
                <a:cubicBezTo>
                  <a:pt x="397" y="356"/>
                  <a:pt x="388" y="367"/>
                  <a:pt x="378" y="377"/>
                </a:cubicBezTo>
                <a:cubicBezTo>
                  <a:pt x="368" y="388"/>
                  <a:pt x="356" y="397"/>
                  <a:pt x="344" y="405"/>
                </a:cubicBezTo>
                <a:cubicBezTo>
                  <a:pt x="332" y="413"/>
                  <a:pt x="320" y="420"/>
                  <a:pt x="306" y="425"/>
                </a:cubicBezTo>
                <a:cubicBezTo>
                  <a:pt x="293" y="431"/>
                  <a:pt x="279" y="435"/>
                  <a:pt x="265" y="438"/>
                </a:cubicBezTo>
                <a:cubicBezTo>
                  <a:pt x="251" y="440"/>
                  <a:pt x="236" y="442"/>
                  <a:pt x="221" y="442"/>
                </a:cubicBezTo>
                <a:cubicBezTo>
                  <a:pt x="206" y="442"/>
                  <a:pt x="192" y="440"/>
                  <a:pt x="178" y="438"/>
                </a:cubicBezTo>
                <a:cubicBezTo>
                  <a:pt x="164" y="435"/>
                  <a:pt x="150" y="431"/>
                  <a:pt x="136" y="425"/>
                </a:cubicBezTo>
                <a:cubicBezTo>
                  <a:pt x="123" y="420"/>
                  <a:pt x="110" y="413"/>
                  <a:pt x="98" y="405"/>
                </a:cubicBezTo>
                <a:cubicBezTo>
                  <a:pt x="86" y="397"/>
                  <a:pt x="75" y="388"/>
                  <a:pt x="65" y="377"/>
                </a:cubicBezTo>
                <a:cubicBezTo>
                  <a:pt x="55" y="367"/>
                  <a:pt x="46" y="356"/>
                  <a:pt x="38" y="344"/>
                </a:cubicBezTo>
                <a:cubicBezTo>
                  <a:pt x="30" y="332"/>
                  <a:pt x="23" y="319"/>
                  <a:pt x="17" y="306"/>
                </a:cubicBezTo>
                <a:cubicBezTo>
                  <a:pt x="12" y="292"/>
                  <a:pt x="7" y="279"/>
                  <a:pt x="5" y="264"/>
                </a:cubicBezTo>
                <a:cubicBezTo>
                  <a:pt x="2" y="250"/>
                  <a:pt x="0" y="236"/>
                  <a:pt x="0" y="221"/>
                </a:cubicBezTo>
                <a:cubicBezTo>
                  <a:pt x="0" y="207"/>
                  <a:pt x="2" y="193"/>
                  <a:pt x="5" y="178"/>
                </a:cubicBezTo>
                <a:cubicBezTo>
                  <a:pt x="7" y="164"/>
                  <a:pt x="12" y="150"/>
                  <a:pt x="17" y="137"/>
                </a:cubicBezTo>
                <a:cubicBezTo>
                  <a:pt x="23" y="124"/>
                  <a:pt x="30" y="111"/>
                  <a:pt x="38" y="99"/>
                </a:cubicBezTo>
                <a:cubicBezTo>
                  <a:pt x="46" y="87"/>
                  <a:pt x="55" y="76"/>
                  <a:pt x="65" y="65"/>
                </a:cubicBezTo>
                <a:cubicBezTo>
                  <a:pt x="75" y="55"/>
                  <a:pt x="86" y="46"/>
                  <a:pt x="98" y="38"/>
                </a:cubicBezTo>
                <a:cubicBezTo>
                  <a:pt x="110" y="30"/>
                  <a:pt x="123" y="23"/>
                  <a:pt x="136" y="18"/>
                </a:cubicBezTo>
                <a:cubicBezTo>
                  <a:pt x="150" y="12"/>
                  <a:pt x="164" y="8"/>
                  <a:pt x="178" y="5"/>
                </a:cubicBezTo>
                <a:cubicBezTo>
                  <a:pt x="192" y="1"/>
                  <a:pt x="206" y="0"/>
                  <a:pt x="221" y="0"/>
                </a:cubicBezTo>
                <a:cubicBezTo>
                  <a:pt x="236" y="0"/>
                  <a:pt x="251" y="1"/>
                  <a:pt x="265" y="5"/>
                </a:cubicBezTo>
                <a:cubicBezTo>
                  <a:pt x="279" y="8"/>
                  <a:pt x="293" y="12"/>
                  <a:pt x="306" y="18"/>
                </a:cubicBezTo>
                <a:cubicBezTo>
                  <a:pt x="320" y="23"/>
                  <a:pt x="332" y="30"/>
                  <a:pt x="344" y="38"/>
                </a:cubicBezTo>
                <a:cubicBezTo>
                  <a:pt x="356" y="46"/>
                  <a:pt x="368" y="55"/>
                  <a:pt x="378" y="65"/>
                </a:cubicBezTo>
                <a:cubicBezTo>
                  <a:pt x="388" y="76"/>
                  <a:pt x="397" y="87"/>
                  <a:pt x="405" y="99"/>
                </a:cubicBezTo>
                <a:cubicBezTo>
                  <a:pt x="413" y="111"/>
                  <a:pt x="420" y="124"/>
                  <a:pt x="426" y="137"/>
                </a:cubicBezTo>
                <a:cubicBezTo>
                  <a:pt x="431" y="150"/>
                  <a:pt x="435" y="164"/>
                  <a:pt x="438" y="178"/>
                </a:cubicBezTo>
                <a:cubicBezTo>
                  <a:pt x="441" y="193"/>
                  <a:pt x="442" y="207"/>
                  <a:pt x="442" y="221"/>
                </a:cubicBezTo>
              </a:path>
            </a:pathLst>
          </a:custGeom>
          <a:ln w="15840">
            <a:solidFill>
              <a:srgbClr val="F99600"/>
            </a:solidFill>
            <a:miter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直线连接符 71"/>
          <p:cNvSpPr/>
          <p:nvPr/>
        </p:nvSpPr>
        <p:spPr>
          <a:xfrm>
            <a:off x="6886440" y="3768480"/>
            <a:ext cx="0" cy="31680"/>
          </a:xfrm>
          <a:prstGeom prst="line">
            <a:avLst/>
          </a:prstGeom>
          <a:ln w="15840">
            <a:solidFill>
              <a:srgbClr val="F996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任意形状 72"/>
          <p:cNvSpPr/>
          <p:nvPr/>
        </p:nvSpPr>
        <p:spPr>
          <a:xfrm>
            <a:off x="6886440" y="3832200"/>
            <a:ext cx="0" cy="0"/>
          </a:xfrm>
          <a:custGeom>
            <a:avLst/>
            <a:gdLst/>
            <a:ahLst/>
            <a:cxnLst/>
            <a:rect l="0" t="0" r="r" b="b"/>
            <a:pathLst>
              <a:path fill="none">
                <a:moveTo>
                  <a:pt x="0" y="0"/>
                </a:moveTo>
              </a:path>
            </a:pathLst>
          </a:custGeom>
          <a:ln w="15840">
            <a:solidFill>
              <a:srgbClr val="F99600"/>
            </a:solidFill>
            <a:miter/>
          </a:ln>
        </p:spPr>
        <p:txBody>
          <a:bodyPr lIns="7920" tIns="-7920" rIns="7920" bIns="-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562800" y="2998080"/>
            <a:ext cx="10249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的临床经验。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095960" y="369324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主观性强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6" name="图片 75"/>
          <p:cNvPicPr/>
          <p:nvPr/>
        </p:nvPicPr>
        <p:blipFill>
          <a:blip r:embed="rId10"/>
          <a:stretch/>
        </p:blipFill>
        <p:spPr>
          <a:xfrm>
            <a:off x="6562800" y="4505400"/>
            <a:ext cx="4857480" cy="87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任意形状 76"/>
          <p:cNvSpPr/>
          <p:nvPr/>
        </p:nvSpPr>
        <p:spPr>
          <a:xfrm>
            <a:off x="6806880" y="4749480"/>
            <a:ext cx="159120" cy="159120"/>
          </a:xfrm>
          <a:custGeom>
            <a:avLst/>
            <a:gdLst/>
            <a:ahLst/>
            <a:cxnLst/>
            <a:rect l="0" t="0" r="r" b="b"/>
            <a:pathLst>
              <a:path w="442" h="442" fill="none">
                <a:moveTo>
                  <a:pt x="442" y="221"/>
                </a:moveTo>
                <a:cubicBezTo>
                  <a:pt x="442" y="236"/>
                  <a:pt x="441" y="251"/>
                  <a:pt x="438" y="265"/>
                </a:cubicBezTo>
                <a:cubicBezTo>
                  <a:pt x="435" y="279"/>
                  <a:pt x="431" y="293"/>
                  <a:pt x="426" y="306"/>
                </a:cubicBezTo>
                <a:cubicBezTo>
                  <a:pt x="420" y="320"/>
                  <a:pt x="413" y="332"/>
                  <a:pt x="405" y="344"/>
                </a:cubicBezTo>
                <a:cubicBezTo>
                  <a:pt x="397" y="356"/>
                  <a:pt x="388" y="368"/>
                  <a:pt x="378" y="378"/>
                </a:cubicBezTo>
                <a:cubicBezTo>
                  <a:pt x="368" y="388"/>
                  <a:pt x="356" y="397"/>
                  <a:pt x="344" y="405"/>
                </a:cubicBezTo>
                <a:cubicBezTo>
                  <a:pt x="332" y="413"/>
                  <a:pt x="320" y="420"/>
                  <a:pt x="306" y="426"/>
                </a:cubicBezTo>
                <a:cubicBezTo>
                  <a:pt x="293" y="431"/>
                  <a:pt x="279" y="435"/>
                  <a:pt x="265" y="438"/>
                </a:cubicBezTo>
                <a:cubicBezTo>
                  <a:pt x="251" y="441"/>
                  <a:pt x="236" y="442"/>
                  <a:pt x="221" y="442"/>
                </a:cubicBezTo>
                <a:cubicBezTo>
                  <a:pt x="206" y="442"/>
                  <a:pt x="192" y="441"/>
                  <a:pt x="178" y="438"/>
                </a:cubicBezTo>
                <a:cubicBezTo>
                  <a:pt x="164" y="435"/>
                  <a:pt x="150" y="431"/>
                  <a:pt x="136" y="426"/>
                </a:cubicBezTo>
                <a:cubicBezTo>
                  <a:pt x="123" y="420"/>
                  <a:pt x="110" y="413"/>
                  <a:pt x="98" y="405"/>
                </a:cubicBezTo>
                <a:cubicBezTo>
                  <a:pt x="86" y="397"/>
                  <a:pt x="75" y="388"/>
                  <a:pt x="65" y="378"/>
                </a:cubicBezTo>
                <a:cubicBezTo>
                  <a:pt x="55" y="368"/>
                  <a:pt x="46" y="356"/>
                  <a:pt x="38" y="344"/>
                </a:cubicBezTo>
                <a:cubicBezTo>
                  <a:pt x="30" y="332"/>
                  <a:pt x="23" y="320"/>
                  <a:pt x="17" y="306"/>
                </a:cubicBezTo>
                <a:cubicBezTo>
                  <a:pt x="12" y="293"/>
                  <a:pt x="7" y="279"/>
                  <a:pt x="5" y="265"/>
                </a:cubicBezTo>
                <a:cubicBezTo>
                  <a:pt x="2" y="251"/>
                  <a:pt x="0" y="236"/>
                  <a:pt x="0" y="221"/>
                </a:cubicBezTo>
                <a:cubicBezTo>
                  <a:pt x="0" y="206"/>
                  <a:pt x="2" y="192"/>
                  <a:pt x="5" y="178"/>
                </a:cubicBezTo>
                <a:cubicBezTo>
                  <a:pt x="7" y="164"/>
                  <a:pt x="12" y="150"/>
                  <a:pt x="17" y="136"/>
                </a:cubicBezTo>
                <a:cubicBezTo>
                  <a:pt x="23" y="123"/>
                  <a:pt x="30" y="110"/>
                  <a:pt x="38" y="98"/>
                </a:cubicBezTo>
                <a:cubicBezTo>
                  <a:pt x="46" y="86"/>
                  <a:pt x="55" y="75"/>
                  <a:pt x="65" y="65"/>
                </a:cubicBezTo>
                <a:cubicBezTo>
                  <a:pt x="75" y="55"/>
                  <a:pt x="86" y="46"/>
                  <a:pt x="98" y="38"/>
                </a:cubicBezTo>
                <a:cubicBezTo>
                  <a:pt x="110" y="30"/>
                  <a:pt x="123" y="23"/>
                  <a:pt x="136" y="17"/>
                </a:cubicBezTo>
                <a:cubicBezTo>
                  <a:pt x="150" y="12"/>
                  <a:pt x="164" y="7"/>
                  <a:pt x="178" y="5"/>
                </a:cubicBezTo>
                <a:cubicBezTo>
                  <a:pt x="192" y="2"/>
                  <a:pt x="206" y="0"/>
                  <a:pt x="221" y="0"/>
                </a:cubicBezTo>
                <a:cubicBezTo>
                  <a:pt x="236" y="0"/>
                  <a:pt x="251" y="2"/>
                  <a:pt x="265" y="5"/>
                </a:cubicBezTo>
                <a:cubicBezTo>
                  <a:pt x="279" y="7"/>
                  <a:pt x="293" y="12"/>
                  <a:pt x="306" y="17"/>
                </a:cubicBezTo>
                <a:cubicBezTo>
                  <a:pt x="320" y="23"/>
                  <a:pt x="332" y="30"/>
                  <a:pt x="344" y="38"/>
                </a:cubicBezTo>
                <a:cubicBezTo>
                  <a:pt x="356" y="46"/>
                  <a:pt x="368" y="55"/>
                  <a:pt x="378" y="65"/>
                </a:cubicBezTo>
                <a:cubicBezTo>
                  <a:pt x="388" y="75"/>
                  <a:pt x="397" y="86"/>
                  <a:pt x="405" y="98"/>
                </a:cubicBezTo>
                <a:cubicBezTo>
                  <a:pt x="413" y="110"/>
                  <a:pt x="420" y="123"/>
                  <a:pt x="426" y="136"/>
                </a:cubicBezTo>
                <a:cubicBezTo>
                  <a:pt x="431" y="150"/>
                  <a:pt x="435" y="164"/>
                  <a:pt x="438" y="178"/>
                </a:cubicBezTo>
                <a:cubicBezTo>
                  <a:pt x="441" y="192"/>
                  <a:pt x="442" y="206"/>
                  <a:pt x="442" y="221"/>
                </a:cubicBezTo>
              </a:path>
            </a:pathLst>
          </a:custGeom>
          <a:ln w="15840">
            <a:solidFill>
              <a:srgbClr val="F99600"/>
            </a:solidFill>
            <a:miter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任意形状 77"/>
          <p:cNvSpPr/>
          <p:nvPr/>
        </p:nvSpPr>
        <p:spPr>
          <a:xfrm>
            <a:off x="6886440" y="4781520"/>
            <a:ext cx="32040" cy="63720"/>
          </a:xfrm>
          <a:custGeom>
            <a:avLst/>
            <a:gdLst/>
            <a:ahLst/>
            <a:cxnLst/>
            <a:rect l="0" t="0" r="r" b="b"/>
            <a:pathLst>
              <a:path w="89" h="177" fill="none">
                <a:moveTo>
                  <a:pt x="0" y="0"/>
                </a:moveTo>
                <a:lnTo>
                  <a:pt x="0" y="133"/>
                </a:lnTo>
                <a:lnTo>
                  <a:pt x="89" y="177"/>
                </a:lnTo>
              </a:path>
            </a:pathLst>
          </a:custGeom>
          <a:ln w="15840">
            <a:solidFill>
              <a:srgbClr val="F99600"/>
            </a:solidFill>
            <a:miter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7095960" y="3981600"/>
            <a:ext cx="25203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不同医生对同一图像的判读可能存在偏差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7095960" y="4722120"/>
            <a:ext cx="126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诊断效率差异大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7095960" y="5010480"/>
            <a:ext cx="18201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人工阅片耗时且易受疲劳影响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任意形状 8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任意形状 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4" name="图片 83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图片 84"/>
          <p:cNvPicPr/>
          <p:nvPr/>
        </p:nvPicPr>
        <p:blipFill>
          <a:blip r:embed="rId3"/>
          <a:stretch/>
        </p:blipFill>
        <p:spPr>
          <a:xfrm>
            <a:off x="8124840" y="0"/>
            <a:ext cx="406692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图片 85"/>
          <p:cNvPicPr/>
          <p:nvPr/>
        </p:nvPicPr>
        <p:blipFill>
          <a:blip r:embed="rId4"/>
          <a:stretch/>
        </p:blipFill>
        <p:spPr>
          <a:xfrm>
            <a:off x="0" y="6781680"/>
            <a:ext cx="12191760" cy="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任意形状 86"/>
          <p:cNvSpPr/>
          <p:nvPr/>
        </p:nvSpPr>
        <p:spPr>
          <a:xfrm>
            <a:off x="456840" y="990360"/>
            <a:ext cx="915120" cy="57600"/>
          </a:xfrm>
          <a:custGeom>
            <a:avLst/>
            <a:gdLst/>
            <a:ahLst/>
            <a:cxnLst/>
            <a:rect l="0" t="0" r="r" b="b"/>
            <a:pathLst>
              <a:path w="2542" h="160">
                <a:moveTo>
                  <a:pt x="0" y="81"/>
                </a:moveTo>
                <a:cubicBezTo>
                  <a:pt x="0" y="70"/>
                  <a:pt x="4" y="60"/>
                  <a:pt x="8" y="50"/>
                </a:cubicBezTo>
                <a:cubicBezTo>
                  <a:pt x="12" y="40"/>
                  <a:pt x="17" y="32"/>
                  <a:pt x="25" y="24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lnTo>
                  <a:pt x="2462" y="0"/>
                </a:lnTo>
                <a:cubicBezTo>
                  <a:pt x="2473" y="0"/>
                  <a:pt x="2483" y="2"/>
                  <a:pt x="2492" y="6"/>
                </a:cubicBezTo>
                <a:cubicBezTo>
                  <a:pt x="2502" y="10"/>
                  <a:pt x="2511" y="17"/>
                  <a:pt x="2518" y="24"/>
                </a:cubicBezTo>
                <a:cubicBezTo>
                  <a:pt x="2526" y="32"/>
                  <a:pt x="2531" y="40"/>
                  <a:pt x="2535" y="50"/>
                </a:cubicBezTo>
                <a:cubicBezTo>
                  <a:pt x="2539" y="60"/>
                  <a:pt x="2542" y="70"/>
                  <a:pt x="2542" y="81"/>
                </a:cubicBezTo>
                <a:cubicBezTo>
                  <a:pt x="2542" y="91"/>
                  <a:pt x="2539" y="101"/>
                  <a:pt x="2535" y="111"/>
                </a:cubicBezTo>
                <a:cubicBezTo>
                  <a:pt x="2531" y="121"/>
                  <a:pt x="2526" y="129"/>
                  <a:pt x="2518" y="137"/>
                </a:cubicBezTo>
                <a:cubicBezTo>
                  <a:pt x="2511" y="144"/>
                  <a:pt x="2502" y="150"/>
                  <a:pt x="2492" y="154"/>
                </a:cubicBezTo>
                <a:cubicBezTo>
                  <a:pt x="2483" y="158"/>
                  <a:pt x="2473" y="160"/>
                  <a:pt x="2462" y="160"/>
                </a:cubicBezTo>
                <a:lnTo>
                  <a:pt x="81" y="160"/>
                </a:ln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7" y="129"/>
                  <a:pt x="12" y="121"/>
                  <a:pt x="8" y="111"/>
                </a:cubicBezTo>
                <a:cubicBezTo>
                  <a:pt x="4" y="101"/>
                  <a:pt x="0" y="91"/>
                  <a:pt x="0" y="81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任意形状 87"/>
          <p:cNvSpPr/>
          <p:nvPr/>
        </p:nvSpPr>
        <p:spPr>
          <a:xfrm>
            <a:off x="7638840" y="2009520"/>
            <a:ext cx="3657960" cy="3657960"/>
          </a:xfrm>
          <a:custGeom>
            <a:avLst/>
            <a:gdLst/>
            <a:ahLst/>
            <a:cxnLst/>
            <a:rect l="0" t="0" r="r" b="b"/>
            <a:pathLst>
              <a:path w="10161" h="10161">
                <a:moveTo>
                  <a:pt x="10161" y="5080"/>
                </a:moveTo>
                <a:cubicBezTo>
                  <a:pt x="10161" y="5163"/>
                  <a:pt x="10159" y="5246"/>
                  <a:pt x="10155" y="5329"/>
                </a:cubicBezTo>
                <a:cubicBezTo>
                  <a:pt x="10151" y="5413"/>
                  <a:pt x="10145" y="5495"/>
                  <a:pt x="10137" y="5578"/>
                </a:cubicBezTo>
                <a:cubicBezTo>
                  <a:pt x="10128" y="5661"/>
                  <a:pt x="10118" y="5743"/>
                  <a:pt x="10106" y="5826"/>
                </a:cubicBezTo>
                <a:cubicBezTo>
                  <a:pt x="10094" y="5908"/>
                  <a:pt x="10080" y="5990"/>
                  <a:pt x="10063" y="6071"/>
                </a:cubicBezTo>
                <a:cubicBezTo>
                  <a:pt x="10047" y="6153"/>
                  <a:pt x="10029" y="6234"/>
                  <a:pt x="10009" y="6315"/>
                </a:cubicBezTo>
                <a:cubicBezTo>
                  <a:pt x="9989" y="6395"/>
                  <a:pt x="9966" y="6475"/>
                  <a:pt x="9942" y="6555"/>
                </a:cubicBezTo>
                <a:cubicBezTo>
                  <a:pt x="9918" y="6634"/>
                  <a:pt x="9892" y="6713"/>
                  <a:pt x="9864" y="6792"/>
                </a:cubicBezTo>
                <a:cubicBezTo>
                  <a:pt x="9836" y="6870"/>
                  <a:pt x="9806" y="6947"/>
                  <a:pt x="9774" y="7024"/>
                </a:cubicBezTo>
                <a:cubicBezTo>
                  <a:pt x="9743" y="7101"/>
                  <a:pt x="9709" y="7177"/>
                  <a:pt x="9673" y="7252"/>
                </a:cubicBezTo>
                <a:cubicBezTo>
                  <a:pt x="9638" y="7327"/>
                  <a:pt x="9600" y="7402"/>
                  <a:pt x="9561" y="7475"/>
                </a:cubicBezTo>
                <a:cubicBezTo>
                  <a:pt x="9522" y="7548"/>
                  <a:pt x="9481" y="7621"/>
                  <a:pt x="9438" y="7692"/>
                </a:cubicBezTo>
                <a:cubicBezTo>
                  <a:pt x="9396" y="7763"/>
                  <a:pt x="9351" y="7833"/>
                  <a:pt x="9305" y="7903"/>
                </a:cubicBezTo>
                <a:cubicBezTo>
                  <a:pt x="9259" y="7972"/>
                  <a:pt x="9211" y="8040"/>
                  <a:pt x="9161" y="8106"/>
                </a:cubicBezTo>
                <a:cubicBezTo>
                  <a:pt x="9112" y="8173"/>
                  <a:pt x="9061" y="8239"/>
                  <a:pt x="9008" y="8303"/>
                </a:cubicBezTo>
                <a:cubicBezTo>
                  <a:pt x="8955" y="8367"/>
                  <a:pt x="8901" y="8430"/>
                  <a:pt x="8845" y="8492"/>
                </a:cubicBezTo>
                <a:cubicBezTo>
                  <a:pt x="8789" y="8553"/>
                  <a:pt x="8732" y="8614"/>
                  <a:pt x="8673" y="8672"/>
                </a:cubicBezTo>
                <a:cubicBezTo>
                  <a:pt x="8614" y="8731"/>
                  <a:pt x="8554" y="8788"/>
                  <a:pt x="8493" y="8844"/>
                </a:cubicBezTo>
                <a:cubicBezTo>
                  <a:pt x="8431" y="8900"/>
                  <a:pt x="8368" y="8954"/>
                  <a:pt x="8304" y="9007"/>
                </a:cubicBezTo>
                <a:cubicBezTo>
                  <a:pt x="8240" y="9060"/>
                  <a:pt x="8174" y="9111"/>
                  <a:pt x="8107" y="9160"/>
                </a:cubicBezTo>
                <a:cubicBezTo>
                  <a:pt x="8040" y="9210"/>
                  <a:pt x="7973" y="9258"/>
                  <a:pt x="7903" y="9304"/>
                </a:cubicBezTo>
                <a:cubicBezTo>
                  <a:pt x="7834" y="9350"/>
                  <a:pt x="7764" y="9395"/>
                  <a:pt x="7693" y="9437"/>
                </a:cubicBezTo>
                <a:cubicBezTo>
                  <a:pt x="7621" y="9480"/>
                  <a:pt x="7549" y="9521"/>
                  <a:pt x="7476" y="9560"/>
                </a:cubicBezTo>
                <a:cubicBezTo>
                  <a:pt x="7402" y="9600"/>
                  <a:pt x="7328" y="9637"/>
                  <a:pt x="7253" y="9673"/>
                </a:cubicBezTo>
                <a:cubicBezTo>
                  <a:pt x="7178" y="9709"/>
                  <a:pt x="7102" y="9743"/>
                  <a:pt x="7025" y="9775"/>
                </a:cubicBezTo>
                <a:cubicBezTo>
                  <a:pt x="6948" y="9806"/>
                  <a:pt x="6871" y="9836"/>
                  <a:pt x="6792" y="9864"/>
                </a:cubicBezTo>
                <a:cubicBezTo>
                  <a:pt x="6714" y="9892"/>
                  <a:pt x="6635" y="9918"/>
                  <a:pt x="6556" y="9942"/>
                </a:cubicBezTo>
                <a:cubicBezTo>
                  <a:pt x="6476" y="9967"/>
                  <a:pt x="6396" y="9989"/>
                  <a:pt x="6315" y="10009"/>
                </a:cubicBezTo>
                <a:cubicBezTo>
                  <a:pt x="6235" y="10029"/>
                  <a:pt x="6154" y="10047"/>
                  <a:pt x="6072" y="10064"/>
                </a:cubicBezTo>
                <a:cubicBezTo>
                  <a:pt x="5991" y="10080"/>
                  <a:pt x="5909" y="10094"/>
                  <a:pt x="5826" y="10106"/>
                </a:cubicBezTo>
                <a:cubicBezTo>
                  <a:pt x="5744" y="10118"/>
                  <a:pt x="5662" y="10129"/>
                  <a:pt x="5579" y="10137"/>
                </a:cubicBezTo>
                <a:cubicBezTo>
                  <a:pt x="5496" y="10145"/>
                  <a:pt x="5413" y="10151"/>
                  <a:pt x="5330" y="10155"/>
                </a:cubicBezTo>
                <a:cubicBezTo>
                  <a:pt x="5247" y="10159"/>
                  <a:pt x="5164" y="10161"/>
                  <a:pt x="5081" y="10161"/>
                </a:cubicBezTo>
                <a:cubicBezTo>
                  <a:pt x="4998" y="10161"/>
                  <a:pt x="4915" y="10159"/>
                  <a:pt x="4832" y="10155"/>
                </a:cubicBezTo>
                <a:cubicBezTo>
                  <a:pt x="4749" y="10151"/>
                  <a:pt x="4666" y="10145"/>
                  <a:pt x="4583" y="10137"/>
                </a:cubicBezTo>
                <a:cubicBezTo>
                  <a:pt x="4500" y="10129"/>
                  <a:pt x="4418" y="10118"/>
                  <a:pt x="4336" y="10106"/>
                </a:cubicBezTo>
                <a:cubicBezTo>
                  <a:pt x="4253" y="10094"/>
                  <a:pt x="4171" y="10080"/>
                  <a:pt x="4089" y="10064"/>
                </a:cubicBezTo>
                <a:cubicBezTo>
                  <a:pt x="4007" y="10047"/>
                  <a:pt x="3926" y="10029"/>
                  <a:pt x="3846" y="10009"/>
                </a:cubicBezTo>
                <a:cubicBezTo>
                  <a:pt x="3765" y="9989"/>
                  <a:pt x="3685" y="9967"/>
                  <a:pt x="3605" y="9942"/>
                </a:cubicBezTo>
                <a:cubicBezTo>
                  <a:pt x="3526" y="9918"/>
                  <a:pt x="3447" y="9892"/>
                  <a:pt x="3369" y="9864"/>
                </a:cubicBezTo>
                <a:cubicBezTo>
                  <a:pt x="3290" y="9836"/>
                  <a:pt x="3213" y="9806"/>
                  <a:pt x="3136" y="9775"/>
                </a:cubicBezTo>
                <a:cubicBezTo>
                  <a:pt x="3059" y="9743"/>
                  <a:pt x="2983" y="9709"/>
                  <a:pt x="2908" y="9673"/>
                </a:cubicBezTo>
                <a:cubicBezTo>
                  <a:pt x="2833" y="9637"/>
                  <a:pt x="2759" y="9600"/>
                  <a:pt x="2685" y="9560"/>
                </a:cubicBezTo>
                <a:cubicBezTo>
                  <a:pt x="2612" y="9521"/>
                  <a:pt x="2540" y="9480"/>
                  <a:pt x="2468" y="9437"/>
                </a:cubicBezTo>
                <a:cubicBezTo>
                  <a:pt x="2397" y="9395"/>
                  <a:pt x="2327" y="9350"/>
                  <a:pt x="2258" y="9304"/>
                </a:cubicBezTo>
                <a:cubicBezTo>
                  <a:pt x="2189" y="9258"/>
                  <a:pt x="2121" y="9210"/>
                  <a:pt x="2054" y="9160"/>
                </a:cubicBezTo>
                <a:cubicBezTo>
                  <a:pt x="1987" y="9111"/>
                  <a:pt x="1922" y="9060"/>
                  <a:pt x="1857" y="9007"/>
                </a:cubicBezTo>
                <a:cubicBezTo>
                  <a:pt x="1793" y="8954"/>
                  <a:pt x="1730" y="8900"/>
                  <a:pt x="1669" y="8844"/>
                </a:cubicBezTo>
                <a:cubicBezTo>
                  <a:pt x="1607" y="8788"/>
                  <a:pt x="1547" y="8731"/>
                  <a:pt x="1488" y="8672"/>
                </a:cubicBezTo>
                <a:cubicBezTo>
                  <a:pt x="1429" y="8614"/>
                  <a:pt x="1372" y="8553"/>
                  <a:pt x="1316" y="8492"/>
                </a:cubicBezTo>
                <a:cubicBezTo>
                  <a:pt x="1260" y="8430"/>
                  <a:pt x="1206" y="8367"/>
                  <a:pt x="1153" y="8303"/>
                </a:cubicBezTo>
                <a:cubicBezTo>
                  <a:pt x="1100" y="8239"/>
                  <a:pt x="1049" y="8173"/>
                  <a:pt x="1000" y="8106"/>
                </a:cubicBezTo>
                <a:cubicBezTo>
                  <a:pt x="950" y="8040"/>
                  <a:pt x="902" y="7972"/>
                  <a:pt x="856" y="7903"/>
                </a:cubicBezTo>
                <a:cubicBezTo>
                  <a:pt x="810" y="7833"/>
                  <a:pt x="766" y="7763"/>
                  <a:pt x="723" y="7692"/>
                </a:cubicBezTo>
                <a:cubicBezTo>
                  <a:pt x="680" y="7621"/>
                  <a:pt x="639" y="7548"/>
                  <a:pt x="600" y="7475"/>
                </a:cubicBezTo>
                <a:cubicBezTo>
                  <a:pt x="561" y="7402"/>
                  <a:pt x="523" y="7327"/>
                  <a:pt x="488" y="7252"/>
                </a:cubicBezTo>
                <a:cubicBezTo>
                  <a:pt x="452" y="7177"/>
                  <a:pt x="419" y="7101"/>
                  <a:pt x="387" y="7024"/>
                </a:cubicBezTo>
                <a:cubicBezTo>
                  <a:pt x="355" y="6947"/>
                  <a:pt x="325" y="6870"/>
                  <a:pt x="297" y="6792"/>
                </a:cubicBezTo>
                <a:cubicBezTo>
                  <a:pt x="269" y="6713"/>
                  <a:pt x="243" y="6634"/>
                  <a:pt x="219" y="6555"/>
                </a:cubicBezTo>
                <a:cubicBezTo>
                  <a:pt x="195" y="6475"/>
                  <a:pt x="173" y="6395"/>
                  <a:pt x="152" y="6315"/>
                </a:cubicBezTo>
                <a:cubicBezTo>
                  <a:pt x="132" y="6234"/>
                  <a:pt x="114" y="6153"/>
                  <a:pt x="98" y="6071"/>
                </a:cubicBezTo>
                <a:cubicBezTo>
                  <a:pt x="81" y="5990"/>
                  <a:pt x="67" y="5908"/>
                  <a:pt x="55" y="5826"/>
                </a:cubicBezTo>
                <a:cubicBezTo>
                  <a:pt x="43" y="5743"/>
                  <a:pt x="33" y="5661"/>
                  <a:pt x="25" y="5578"/>
                </a:cubicBezTo>
                <a:cubicBezTo>
                  <a:pt x="16" y="5495"/>
                  <a:pt x="10" y="5413"/>
                  <a:pt x="6" y="5329"/>
                </a:cubicBezTo>
                <a:cubicBezTo>
                  <a:pt x="2" y="5246"/>
                  <a:pt x="0" y="5163"/>
                  <a:pt x="0" y="5080"/>
                </a:cubicBezTo>
                <a:cubicBezTo>
                  <a:pt x="0" y="4997"/>
                  <a:pt x="2" y="4914"/>
                  <a:pt x="6" y="4831"/>
                </a:cubicBezTo>
                <a:cubicBezTo>
                  <a:pt x="10" y="4748"/>
                  <a:pt x="16" y="4665"/>
                  <a:pt x="25" y="4582"/>
                </a:cubicBezTo>
                <a:cubicBezTo>
                  <a:pt x="33" y="4500"/>
                  <a:pt x="43" y="4417"/>
                  <a:pt x="55" y="4335"/>
                </a:cubicBezTo>
                <a:cubicBezTo>
                  <a:pt x="67" y="4253"/>
                  <a:pt x="81" y="4171"/>
                  <a:pt x="98" y="4089"/>
                </a:cubicBezTo>
                <a:cubicBezTo>
                  <a:pt x="114" y="4008"/>
                  <a:pt x="132" y="3927"/>
                  <a:pt x="152" y="3846"/>
                </a:cubicBezTo>
                <a:cubicBezTo>
                  <a:pt x="173" y="3765"/>
                  <a:pt x="195" y="3685"/>
                  <a:pt x="219" y="3606"/>
                </a:cubicBezTo>
                <a:cubicBezTo>
                  <a:pt x="243" y="3526"/>
                  <a:pt x="269" y="3447"/>
                  <a:pt x="297" y="3369"/>
                </a:cubicBezTo>
                <a:cubicBezTo>
                  <a:pt x="325" y="3291"/>
                  <a:pt x="355" y="3213"/>
                  <a:pt x="387" y="3136"/>
                </a:cubicBezTo>
                <a:cubicBezTo>
                  <a:pt x="419" y="3059"/>
                  <a:pt x="452" y="2983"/>
                  <a:pt x="488" y="2908"/>
                </a:cubicBezTo>
                <a:cubicBezTo>
                  <a:pt x="523" y="2833"/>
                  <a:pt x="561" y="2759"/>
                  <a:pt x="600" y="2686"/>
                </a:cubicBezTo>
                <a:cubicBezTo>
                  <a:pt x="639" y="2612"/>
                  <a:pt x="680" y="2540"/>
                  <a:pt x="723" y="2469"/>
                </a:cubicBezTo>
                <a:cubicBezTo>
                  <a:pt x="766" y="2397"/>
                  <a:pt x="810" y="2327"/>
                  <a:pt x="856" y="2258"/>
                </a:cubicBezTo>
                <a:cubicBezTo>
                  <a:pt x="902" y="2189"/>
                  <a:pt x="950" y="2121"/>
                  <a:pt x="1000" y="2054"/>
                </a:cubicBezTo>
                <a:cubicBezTo>
                  <a:pt x="1049" y="1987"/>
                  <a:pt x="1100" y="1922"/>
                  <a:pt x="1153" y="1857"/>
                </a:cubicBezTo>
                <a:cubicBezTo>
                  <a:pt x="1206" y="1793"/>
                  <a:pt x="1260" y="1730"/>
                  <a:pt x="1316" y="1669"/>
                </a:cubicBezTo>
                <a:cubicBezTo>
                  <a:pt x="1372" y="1607"/>
                  <a:pt x="1429" y="1547"/>
                  <a:pt x="1488" y="1488"/>
                </a:cubicBezTo>
                <a:cubicBezTo>
                  <a:pt x="1547" y="1429"/>
                  <a:pt x="1607" y="1372"/>
                  <a:pt x="1669" y="1316"/>
                </a:cubicBezTo>
                <a:cubicBezTo>
                  <a:pt x="1730" y="1260"/>
                  <a:pt x="1793" y="1206"/>
                  <a:pt x="1857" y="1153"/>
                </a:cubicBezTo>
                <a:cubicBezTo>
                  <a:pt x="1922" y="1101"/>
                  <a:pt x="1987" y="1049"/>
                  <a:pt x="2054" y="1000"/>
                </a:cubicBezTo>
                <a:cubicBezTo>
                  <a:pt x="2121" y="950"/>
                  <a:pt x="2189" y="903"/>
                  <a:pt x="2258" y="856"/>
                </a:cubicBezTo>
                <a:cubicBezTo>
                  <a:pt x="2327" y="810"/>
                  <a:pt x="2397" y="766"/>
                  <a:pt x="2468" y="723"/>
                </a:cubicBezTo>
                <a:cubicBezTo>
                  <a:pt x="2540" y="680"/>
                  <a:pt x="2612" y="639"/>
                  <a:pt x="2685" y="600"/>
                </a:cubicBezTo>
                <a:cubicBezTo>
                  <a:pt x="2759" y="561"/>
                  <a:pt x="2833" y="523"/>
                  <a:pt x="2908" y="488"/>
                </a:cubicBezTo>
                <a:cubicBezTo>
                  <a:pt x="2983" y="452"/>
                  <a:pt x="3059" y="419"/>
                  <a:pt x="3136" y="387"/>
                </a:cubicBezTo>
                <a:cubicBezTo>
                  <a:pt x="3213" y="355"/>
                  <a:pt x="3290" y="325"/>
                  <a:pt x="3369" y="297"/>
                </a:cubicBezTo>
                <a:cubicBezTo>
                  <a:pt x="3447" y="269"/>
                  <a:pt x="3526" y="243"/>
                  <a:pt x="3605" y="219"/>
                </a:cubicBezTo>
                <a:cubicBezTo>
                  <a:pt x="3685" y="195"/>
                  <a:pt x="3765" y="173"/>
                  <a:pt x="3846" y="152"/>
                </a:cubicBezTo>
                <a:cubicBezTo>
                  <a:pt x="3926" y="132"/>
                  <a:pt x="4007" y="114"/>
                  <a:pt x="4089" y="98"/>
                </a:cubicBezTo>
                <a:cubicBezTo>
                  <a:pt x="4171" y="82"/>
                  <a:pt x="4253" y="67"/>
                  <a:pt x="4336" y="55"/>
                </a:cubicBezTo>
                <a:cubicBezTo>
                  <a:pt x="4418" y="43"/>
                  <a:pt x="4500" y="33"/>
                  <a:pt x="4583" y="25"/>
                </a:cubicBezTo>
                <a:cubicBezTo>
                  <a:pt x="4666" y="17"/>
                  <a:pt x="4749" y="10"/>
                  <a:pt x="4832" y="6"/>
                </a:cubicBezTo>
                <a:cubicBezTo>
                  <a:pt x="4915" y="2"/>
                  <a:pt x="4998" y="0"/>
                  <a:pt x="5081" y="0"/>
                </a:cubicBezTo>
                <a:cubicBezTo>
                  <a:pt x="5164" y="0"/>
                  <a:pt x="5247" y="2"/>
                  <a:pt x="5330" y="6"/>
                </a:cubicBezTo>
                <a:cubicBezTo>
                  <a:pt x="5413" y="10"/>
                  <a:pt x="5496" y="17"/>
                  <a:pt x="5579" y="25"/>
                </a:cubicBezTo>
                <a:cubicBezTo>
                  <a:pt x="5662" y="33"/>
                  <a:pt x="5744" y="43"/>
                  <a:pt x="5826" y="55"/>
                </a:cubicBezTo>
                <a:cubicBezTo>
                  <a:pt x="5909" y="67"/>
                  <a:pt x="5991" y="82"/>
                  <a:pt x="6072" y="98"/>
                </a:cubicBezTo>
                <a:cubicBezTo>
                  <a:pt x="6154" y="114"/>
                  <a:pt x="6235" y="132"/>
                  <a:pt x="6315" y="152"/>
                </a:cubicBezTo>
                <a:cubicBezTo>
                  <a:pt x="6396" y="173"/>
                  <a:pt x="6476" y="195"/>
                  <a:pt x="6556" y="219"/>
                </a:cubicBezTo>
                <a:cubicBezTo>
                  <a:pt x="6635" y="243"/>
                  <a:pt x="6714" y="269"/>
                  <a:pt x="6792" y="297"/>
                </a:cubicBezTo>
                <a:cubicBezTo>
                  <a:pt x="6871" y="325"/>
                  <a:pt x="6948" y="355"/>
                  <a:pt x="7025" y="387"/>
                </a:cubicBezTo>
                <a:cubicBezTo>
                  <a:pt x="7102" y="419"/>
                  <a:pt x="7178" y="452"/>
                  <a:pt x="7253" y="488"/>
                </a:cubicBezTo>
                <a:cubicBezTo>
                  <a:pt x="7328" y="523"/>
                  <a:pt x="7402" y="561"/>
                  <a:pt x="7476" y="600"/>
                </a:cubicBezTo>
                <a:cubicBezTo>
                  <a:pt x="7549" y="639"/>
                  <a:pt x="7621" y="680"/>
                  <a:pt x="7693" y="723"/>
                </a:cubicBezTo>
                <a:cubicBezTo>
                  <a:pt x="7764" y="766"/>
                  <a:pt x="7834" y="810"/>
                  <a:pt x="7903" y="856"/>
                </a:cubicBezTo>
                <a:cubicBezTo>
                  <a:pt x="7973" y="903"/>
                  <a:pt x="8040" y="950"/>
                  <a:pt x="8107" y="1000"/>
                </a:cubicBezTo>
                <a:cubicBezTo>
                  <a:pt x="8174" y="1049"/>
                  <a:pt x="8240" y="1101"/>
                  <a:pt x="8304" y="1153"/>
                </a:cubicBezTo>
                <a:cubicBezTo>
                  <a:pt x="8368" y="1206"/>
                  <a:pt x="8431" y="1260"/>
                  <a:pt x="8493" y="1316"/>
                </a:cubicBezTo>
                <a:cubicBezTo>
                  <a:pt x="8554" y="1372"/>
                  <a:pt x="8614" y="1429"/>
                  <a:pt x="8673" y="1488"/>
                </a:cubicBezTo>
                <a:cubicBezTo>
                  <a:pt x="8732" y="1547"/>
                  <a:pt x="8789" y="1607"/>
                  <a:pt x="8845" y="1669"/>
                </a:cubicBezTo>
                <a:cubicBezTo>
                  <a:pt x="8901" y="1730"/>
                  <a:pt x="8955" y="1793"/>
                  <a:pt x="9008" y="1857"/>
                </a:cubicBezTo>
                <a:cubicBezTo>
                  <a:pt x="9061" y="1922"/>
                  <a:pt x="9112" y="1987"/>
                  <a:pt x="9161" y="2054"/>
                </a:cubicBezTo>
                <a:cubicBezTo>
                  <a:pt x="9211" y="2121"/>
                  <a:pt x="9259" y="2189"/>
                  <a:pt x="9305" y="2258"/>
                </a:cubicBezTo>
                <a:cubicBezTo>
                  <a:pt x="9351" y="2327"/>
                  <a:pt x="9396" y="2397"/>
                  <a:pt x="9438" y="2469"/>
                </a:cubicBezTo>
                <a:cubicBezTo>
                  <a:pt x="9481" y="2540"/>
                  <a:pt x="9522" y="2612"/>
                  <a:pt x="9561" y="2686"/>
                </a:cubicBezTo>
                <a:cubicBezTo>
                  <a:pt x="9600" y="2759"/>
                  <a:pt x="9638" y="2833"/>
                  <a:pt x="9673" y="2908"/>
                </a:cubicBezTo>
                <a:cubicBezTo>
                  <a:pt x="9709" y="2983"/>
                  <a:pt x="9743" y="3059"/>
                  <a:pt x="9774" y="3136"/>
                </a:cubicBezTo>
                <a:cubicBezTo>
                  <a:pt x="9806" y="3213"/>
                  <a:pt x="9836" y="3291"/>
                  <a:pt x="9864" y="3369"/>
                </a:cubicBezTo>
                <a:cubicBezTo>
                  <a:pt x="9892" y="3447"/>
                  <a:pt x="9918" y="3526"/>
                  <a:pt x="9942" y="3606"/>
                </a:cubicBezTo>
                <a:cubicBezTo>
                  <a:pt x="9966" y="3685"/>
                  <a:pt x="9989" y="3765"/>
                  <a:pt x="10009" y="3846"/>
                </a:cubicBezTo>
                <a:cubicBezTo>
                  <a:pt x="10029" y="3927"/>
                  <a:pt x="10047" y="4008"/>
                  <a:pt x="10063" y="4089"/>
                </a:cubicBezTo>
                <a:cubicBezTo>
                  <a:pt x="10080" y="4171"/>
                  <a:pt x="10094" y="4253"/>
                  <a:pt x="10106" y="4335"/>
                </a:cubicBezTo>
                <a:cubicBezTo>
                  <a:pt x="10118" y="4417"/>
                  <a:pt x="10128" y="4500"/>
                  <a:pt x="10137" y="4582"/>
                </a:cubicBezTo>
                <a:cubicBezTo>
                  <a:pt x="10145" y="4665"/>
                  <a:pt x="10151" y="4748"/>
                  <a:pt x="10155" y="4831"/>
                </a:cubicBezTo>
                <a:cubicBezTo>
                  <a:pt x="10159" y="4914"/>
                  <a:pt x="10161" y="4997"/>
                  <a:pt x="10161" y="5080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89" name="图片 88"/>
          <p:cNvPicPr/>
          <p:nvPr/>
        </p:nvPicPr>
        <p:blipFill>
          <a:blip r:embed="rId5"/>
          <a:stretch/>
        </p:blipFill>
        <p:spPr>
          <a:xfrm>
            <a:off x="457200" y="1276200"/>
            <a:ext cx="6352920" cy="24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任意形状 89"/>
          <p:cNvSpPr/>
          <p:nvPr/>
        </p:nvSpPr>
        <p:spPr>
          <a:xfrm>
            <a:off x="838080" y="173340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2"/>
                </a:lnTo>
                <a:cubicBezTo>
                  <a:pt x="0" y="198"/>
                  <a:pt x="1" y="184"/>
                  <a:pt x="4" y="170"/>
                </a:cubicBezTo>
                <a:cubicBezTo>
                  <a:pt x="7" y="157"/>
                  <a:pt x="11" y="143"/>
                  <a:pt x="16" y="131"/>
                </a:cubicBezTo>
                <a:cubicBezTo>
                  <a:pt x="21" y="118"/>
                  <a:pt x="28" y="106"/>
                  <a:pt x="36" y="94"/>
                </a:cubicBezTo>
                <a:cubicBezTo>
                  <a:pt x="43" y="82"/>
                  <a:pt x="52" y="72"/>
                  <a:pt x="62" y="62"/>
                </a:cubicBezTo>
                <a:cubicBezTo>
                  <a:pt x="72" y="52"/>
                  <a:pt x="82" y="43"/>
                  <a:pt x="94" y="36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1"/>
                  <a:pt x="157" y="7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059" y="0"/>
                </a:lnTo>
                <a:cubicBezTo>
                  <a:pt x="1073" y="0"/>
                  <a:pt x="1087" y="1"/>
                  <a:pt x="1100" y="4"/>
                </a:cubicBezTo>
                <a:cubicBezTo>
                  <a:pt x="1114" y="7"/>
                  <a:pt x="1127" y="11"/>
                  <a:pt x="1140" y="16"/>
                </a:cubicBezTo>
                <a:cubicBezTo>
                  <a:pt x="1153" y="21"/>
                  <a:pt x="1165" y="28"/>
                  <a:pt x="1177" y="36"/>
                </a:cubicBezTo>
                <a:cubicBezTo>
                  <a:pt x="1188" y="43"/>
                  <a:pt x="1199" y="52"/>
                  <a:pt x="1209" y="62"/>
                </a:cubicBezTo>
                <a:cubicBezTo>
                  <a:pt x="1219" y="72"/>
                  <a:pt x="1227" y="82"/>
                  <a:pt x="1235" y="94"/>
                </a:cubicBezTo>
                <a:cubicBezTo>
                  <a:pt x="1243" y="106"/>
                  <a:pt x="1249" y="118"/>
                  <a:pt x="1255" y="131"/>
                </a:cubicBezTo>
                <a:cubicBezTo>
                  <a:pt x="1260" y="143"/>
                  <a:pt x="1264" y="157"/>
                  <a:pt x="1267" y="170"/>
                </a:cubicBezTo>
                <a:cubicBezTo>
                  <a:pt x="1269" y="184"/>
                  <a:pt x="1271" y="198"/>
                  <a:pt x="1271" y="212"/>
                </a:cubicBezTo>
                <a:lnTo>
                  <a:pt x="1271" y="1059"/>
                </a:lnTo>
                <a:cubicBezTo>
                  <a:pt x="1271" y="1073"/>
                  <a:pt x="1269" y="1087"/>
                  <a:pt x="1267" y="1101"/>
                </a:cubicBezTo>
                <a:cubicBezTo>
                  <a:pt x="1264" y="1114"/>
                  <a:pt x="1260" y="1127"/>
                  <a:pt x="1255" y="1140"/>
                </a:cubicBezTo>
                <a:cubicBezTo>
                  <a:pt x="1249" y="1153"/>
                  <a:pt x="1243" y="1165"/>
                  <a:pt x="1235" y="1177"/>
                </a:cubicBezTo>
                <a:cubicBezTo>
                  <a:pt x="1227" y="1188"/>
                  <a:pt x="1219" y="1199"/>
                  <a:pt x="1209" y="1209"/>
                </a:cubicBezTo>
                <a:cubicBezTo>
                  <a:pt x="1199" y="1219"/>
                  <a:pt x="1188" y="1228"/>
                  <a:pt x="1177" y="1235"/>
                </a:cubicBezTo>
                <a:cubicBezTo>
                  <a:pt x="1165" y="1243"/>
                  <a:pt x="1153" y="1249"/>
                  <a:pt x="1140" y="1255"/>
                </a:cubicBezTo>
                <a:cubicBezTo>
                  <a:pt x="1127" y="1260"/>
                  <a:pt x="1114" y="1264"/>
                  <a:pt x="1100" y="1267"/>
                </a:cubicBezTo>
                <a:cubicBezTo>
                  <a:pt x="1087" y="1270"/>
                  <a:pt x="1073" y="1271"/>
                  <a:pt x="1059" y="1271"/>
                </a:cubicBezTo>
                <a:lnTo>
                  <a:pt x="211" y="1271"/>
                </a:lnTo>
                <a:cubicBezTo>
                  <a:pt x="198" y="1271"/>
                  <a:pt x="184" y="1270"/>
                  <a:pt x="170" y="1267"/>
                </a:cubicBezTo>
                <a:cubicBezTo>
                  <a:pt x="157" y="1264"/>
                  <a:pt x="143" y="1260"/>
                  <a:pt x="130" y="1255"/>
                </a:cubicBezTo>
                <a:cubicBezTo>
                  <a:pt x="118" y="1249"/>
                  <a:pt x="105" y="1243"/>
                  <a:pt x="94" y="1235"/>
                </a:cubicBezTo>
                <a:cubicBezTo>
                  <a:pt x="82" y="1228"/>
                  <a:pt x="72" y="1219"/>
                  <a:pt x="62" y="1209"/>
                </a:cubicBezTo>
                <a:cubicBezTo>
                  <a:pt x="52" y="1199"/>
                  <a:pt x="43" y="1188"/>
                  <a:pt x="36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1" y="1127"/>
                  <a:pt x="7" y="1114"/>
                  <a:pt x="4" y="1101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DBEAF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任意形状 90"/>
          <p:cNvSpPr/>
          <p:nvPr/>
        </p:nvSpPr>
        <p:spPr>
          <a:xfrm>
            <a:off x="966600" y="1861920"/>
            <a:ext cx="200520" cy="200520"/>
          </a:xfrm>
          <a:custGeom>
            <a:avLst/>
            <a:gdLst/>
            <a:ahLst/>
            <a:cxnLst/>
            <a:rect l="0" t="0" r="r" b="b"/>
            <a:pathLst>
              <a:path w="557" h="557" fill="none">
                <a:moveTo>
                  <a:pt x="206" y="433"/>
                </a:moveTo>
                <a:lnTo>
                  <a:pt x="350" y="433"/>
                </a:lnTo>
                <a:moveTo>
                  <a:pt x="278" y="0"/>
                </a:moveTo>
                <a:lnTo>
                  <a:pt x="278" y="31"/>
                </a:lnTo>
                <a:moveTo>
                  <a:pt x="475" y="81"/>
                </a:moveTo>
                <a:lnTo>
                  <a:pt x="453" y="104"/>
                </a:lnTo>
                <a:moveTo>
                  <a:pt x="557" y="279"/>
                </a:moveTo>
                <a:lnTo>
                  <a:pt x="526" y="279"/>
                </a:lnTo>
                <a:moveTo>
                  <a:pt x="31" y="279"/>
                </a:moveTo>
                <a:lnTo>
                  <a:pt x="0" y="279"/>
                </a:lnTo>
                <a:moveTo>
                  <a:pt x="103" y="104"/>
                </a:moveTo>
                <a:lnTo>
                  <a:pt x="81" y="81"/>
                </a:lnTo>
                <a:moveTo>
                  <a:pt x="169" y="388"/>
                </a:moveTo>
                <a:cubicBezTo>
                  <a:pt x="162" y="381"/>
                  <a:pt x="155" y="373"/>
                  <a:pt x="149" y="365"/>
                </a:cubicBezTo>
                <a:cubicBezTo>
                  <a:pt x="144" y="356"/>
                  <a:pt x="139" y="347"/>
                  <a:pt x="135" y="338"/>
                </a:cubicBezTo>
                <a:cubicBezTo>
                  <a:pt x="131" y="329"/>
                  <a:pt x="128" y="319"/>
                  <a:pt x="126" y="309"/>
                </a:cubicBezTo>
                <a:cubicBezTo>
                  <a:pt x="124" y="299"/>
                  <a:pt x="123" y="289"/>
                  <a:pt x="123" y="279"/>
                </a:cubicBezTo>
                <a:cubicBezTo>
                  <a:pt x="123" y="269"/>
                  <a:pt x="124" y="259"/>
                  <a:pt x="126" y="249"/>
                </a:cubicBezTo>
                <a:cubicBezTo>
                  <a:pt x="128" y="239"/>
                  <a:pt x="131" y="229"/>
                  <a:pt x="135" y="220"/>
                </a:cubicBezTo>
                <a:cubicBezTo>
                  <a:pt x="139" y="211"/>
                  <a:pt x="144" y="202"/>
                  <a:pt x="150" y="193"/>
                </a:cubicBezTo>
                <a:cubicBezTo>
                  <a:pt x="155" y="185"/>
                  <a:pt x="162" y="177"/>
                  <a:pt x="169" y="170"/>
                </a:cubicBezTo>
                <a:cubicBezTo>
                  <a:pt x="176" y="163"/>
                  <a:pt x="184" y="156"/>
                  <a:pt x="192" y="151"/>
                </a:cubicBezTo>
                <a:cubicBezTo>
                  <a:pt x="201" y="145"/>
                  <a:pt x="209" y="140"/>
                  <a:pt x="219" y="136"/>
                </a:cubicBezTo>
                <a:cubicBezTo>
                  <a:pt x="228" y="132"/>
                  <a:pt x="238" y="130"/>
                  <a:pt x="248" y="128"/>
                </a:cubicBezTo>
                <a:cubicBezTo>
                  <a:pt x="258" y="126"/>
                  <a:pt x="268" y="125"/>
                  <a:pt x="278" y="125"/>
                </a:cubicBezTo>
                <a:cubicBezTo>
                  <a:pt x="288" y="125"/>
                  <a:pt x="298" y="126"/>
                  <a:pt x="308" y="128"/>
                </a:cubicBezTo>
                <a:cubicBezTo>
                  <a:pt x="318" y="130"/>
                  <a:pt x="328" y="132"/>
                  <a:pt x="337" y="136"/>
                </a:cubicBezTo>
                <a:cubicBezTo>
                  <a:pt x="346" y="140"/>
                  <a:pt x="355" y="145"/>
                  <a:pt x="364" y="151"/>
                </a:cubicBezTo>
                <a:cubicBezTo>
                  <a:pt x="373" y="156"/>
                  <a:pt x="381" y="163"/>
                  <a:pt x="388" y="170"/>
                </a:cubicBezTo>
                <a:cubicBezTo>
                  <a:pt x="395" y="177"/>
                  <a:pt x="402" y="185"/>
                  <a:pt x="407" y="193"/>
                </a:cubicBezTo>
                <a:cubicBezTo>
                  <a:pt x="413" y="202"/>
                  <a:pt x="418" y="211"/>
                  <a:pt x="421" y="220"/>
                </a:cubicBezTo>
                <a:cubicBezTo>
                  <a:pt x="425" y="229"/>
                  <a:pt x="428" y="239"/>
                  <a:pt x="430" y="249"/>
                </a:cubicBezTo>
                <a:cubicBezTo>
                  <a:pt x="432" y="259"/>
                  <a:pt x="433" y="269"/>
                  <a:pt x="433" y="279"/>
                </a:cubicBezTo>
                <a:cubicBezTo>
                  <a:pt x="433" y="289"/>
                  <a:pt x="432" y="299"/>
                  <a:pt x="430" y="309"/>
                </a:cubicBezTo>
                <a:cubicBezTo>
                  <a:pt x="428" y="319"/>
                  <a:pt x="425" y="329"/>
                  <a:pt x="421" y="338"/>
                </a:cubicBezTo>
                <a:cubicBezTo>
                  <a:pt x="418" y="347"/>
                  <a:pt x="413" y="356"/>
                  <a:pt x="407" y="365"/>
                </a:cubicBezTo>
                <a:cubicBezTo>
                  <a:pt x="402" y="373"/>
                  <a:pt x="395" y="381"/>
                  <a:pt x="388" y="388"/>
                </a:cubicBezTo>
                <a:lnTo>
                  <a:pt x="371" y="405"/>
                </a:lnTo>
                <a:cubicBezTo>
                  <a:pt x="350" y="425"/>
                  <a:pt x="340" y="450"/>
                  <a:pt x="340" y="479"/>
                </a:cubicBezTo>
                <a:lnTo>
                  <a:pt x="340" y="495"/>
                </a:lnTo>
                <a:cubicBezTo>
                  <a:pt x="340" y="503"/>
                  <a:pt x="338" y="511"/>
                  <a:pt x="335" y="519"/>
                </a:cubicBezTo>
                <a:cubicBezTo>
                  <a:pt x="332" y="526"/>
                  <a:pt x="327" y="533"/>
                  <a:pt x="321" y="539"/>
                </a:cubicBezTo>
                <a:cubicBezTo>
                  <a:pt x="316" y="544"/>
                  <a:pt x="309" y="549"/>
                  <a:pt x="301" y="552"/>
                </a:cubicBezTo>
                <a:cubicBezTo>
                  <a:pt x="294" y="555"/>
                  <a:pt x="286" y="557"/>
                  <a:pt x="278" y="557"/>
                </a:cubicBezTo>
                <a:cubicBezTo>
                  <a:pt x="270" y="557"/>
                  <a:pt x="262" y="555"/>
                  <a:pt x="254" y="552"/>
                </a:cubicBezTo>
                <a:cubicBezTo>
                  <a:pt x="247" y="549"/>
                  <a:pt x="240" y="544"/>
                  <a:pt x="234" y="539"/>
                </a:cubicBezTo>
                <a:cubicBezTo>
                  <a:pt x="228" y="533"/>
                  <a:pt x="224" y="526"/>
                  <a:pt x="221" y="519"/>
                </a:cubicBezTo>
                <a:cubicBezTo>
                  <a:pt x="218" y="511"/>
                  <a:pt x="216" y="503"/>
                  <a:pt x="216" y="495"/>
                </a:cubicBezTo>
                <a:lnTo>
                  <a:pt x="216" y="479"/>
                </a:lnTo>
                <a:cubicBezTo>
                  <a:pt x="216" y="451"/>
                  <a:pt x="205" y="424"/>
                  <a:pt x="186" y="405"/>
                </a:cubicBezTo>
                <a:lnTo>
                  <a:pt x="169" y="388"/>
                </a:lnTo>
              </a:path>
            </a:pathLst>
          </a:custGeom>
          <a:ln w="21960" cap="rnd">
            <a:solidFill>
              <a:srgbClr val="2563EB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457200" y="273240"/>
            <a:ext cx="192024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6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研究意义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447920" y="179388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理论意义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838080" y="2358720"/>
            <a:ext cx="570096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探索</a:t>
            </a:r>
            <a:r>
              <a:rPr lang="zh-CN" sz="1500" b="0" u="none" strike="noStrike">
                <a:solidFill>
                  <a:srgbClr val="1D4ED8"/>
                </a:solidFill>
                <a:effectLst/>
                <a:uFillTx/>
                <a:latin typeface="NotoSansSC"/>
                <a:ea typeface="NotoSansSC"/>
              </a:rPr>
              <a:t>深度学习算法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在医学影像领域的深层应用机制，拓展计算机辅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38080" y="2663280"/>
            <a:ext cx="5632560" cy="27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助诊断（</a:t>
            </a:r>
            <a:r>
              <a:rPr lang="en-US" sz="1500" b="0" u="none" strike="noStrike">
                <a:solidFill>
                  <a:srgbClr val="374151"/>
                </a:solidFill>
                <a:effectLst/>
                <a:uFillTx/>
                <a:latin typeface="Roboto"/>
                <a:ea typeface="Roboto"/>
              </a:rPr>
              <a:t>CAD</a:t>
            </a:r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）的理论边界，推动医学影像分析技术的智能化与精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6" name="图片 95"/>
          <p:cNvPicPr/>
          <p:nvPr/>
        </p:nvPicPr>
        <p:blipFill>
          <a:blip r:embed="rId6"/>
          <a:stretch/>
        </p:blipFill>
        <p:spPr>
          <a:xfrm>
            <a:off x="457200" y="3952800"/>
            <a:ext cx="6352920" cy="244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任意形状 96"/>
          <p:cNvSpPr/>
          <p:nvPr/>
        </p:nvSpPr>
        <p:spPr>
          <a:xfrm>
            <a:off x="838080" y="432432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1059"/>
                </a:moveTo>
                <a:lnTo>
                  <a:pt x="0" y="212"/>
                </a:lnTo>
                <a:cubicBezTo>
                  <a:pt x="0" y="198"/>
                  <a:pt x="1" y="185"/>
                  <a:pt x="4" y="171"/>
                </a:cubicBezTo>
                <a:cubicBezTo>
                  <a:pt x="7" y="157"/>
                  <a:pt x="11" y="144"/>
                  <a:pt x="16" y="131"/>
                </a:cubicBezTo>
                <a:cubicBezTo>
                  <a:pt x="21" y="118"/>
                  <a:pt x="28" y="106"/>
                  <a:pt x="36" y="95"/>
                </a:cubicBezTo>
                <a:cubicBezTo>
                  <a:pt x="43" y="83"/>
                  <a:pt x="52" y="72"/>
                  <a:pt x="62" y="63"/>
                </a:cubicBezTo>
                <a:cubicBezTo>
                  <a:pt x="72" y="53"/>
                  <a:pt x="82" y="43"/>
                  <a:pt x="94" y="35"/>
                </a:cubicBezTo>
                <a:cubicBezTo>
                  <a:pt x="105" y="28"/>
                  <a:pt x="118" y="21"/>
                  <a:pt x="130" y="16"/>
                </a:cubicBezTo>
                <a:cubicBezTo>
                  <a:pt x="143" y="10"/>
                  <a:pt x="157" y="6"/>
                  <a:pt x="170" y="4"/>
                </a:cubicBezTo>
                <a:cubicBezTo>
                  <a:pt x="184" y="1"/>
                  <a:pt x="198" y="0"/>
                  <a:pt x="211" y="0"/>
                </a:cubicBezTo>
                <a:lnTo>
                  <a:pt x="1059" y="0"/>
                </a:lnTo>
                <a:cubicBezTo>
                  <a:pt x="1073" y="0"/>
                  <a:pt x="1087" y="1"/>
                  <a:pt x="1100" y="4"/>
                </a:cubicBezTo>
                <a:cubicBezTo>
                  <a:pt x="1114" y="6"/>
                  <a:pt x="1127" y="10"/>
                  <a:pt x="1140" y="16"/>
                </a:cubicBezTo>
                <a:cubicBezTo>
                  <a:pt x="1153" y="21"/>
                  <a:pt x="1165" y="28"/>
                  <a:pt x="1177" y="35"/>
                </a:cubicBezTo>
                <a:cubicBezTo>
                  <a:pt x="1188" y="43"/>
                  <a:pt x="1199" y="53"/>
                  <a:pt x="1209" y="63"/>
                </a:cubicBezTo>
                <a:cubicBezTo>
                  <a:pt x="1219" y="72"/>
                  <a:pt x="1227" y="83"/>
                  <a:pt x="1235" y="95"/>
                </a:cubicBezTo>
                <a:cubicBezTo>
                  <a:pt x="1243" y="106"/>
                  <a:pt x="1249" y="118"/>
                  <a:pt x="1255" y="131"/>
                </a:cubicBezTo>
                <a:cubicBezTo>
                  <a:pt x="1260" y="144"/>
                  <a:pt x="1264" y="157"/>
                  <a:pt x="1267" y="171"/>
                </a:cubicBezTo>
                <a:cubicBezTo>
                  <a:pt x="1269" y="185"/>
                  <a:pt x="1271" y="198"/>
                  <a:pt x="1271" y="212"/>
                </a:cubicBezTo>
                <a:lnTo>
                  <a:pt x="1271" y="1059"/>
                </a:lnTo>
                <a:cubicBezTo>
                  <a:pt x="1271" y="1073"/>
                  <a:pt x="1269" y="1087"/>
                  <a:pt x="1267" y="1100"/>
                </a:cubicBezTo>
                <a:cubicBezTo>
                  <a:pt x="1264" y="1114"/>
                  <a:pt x="1260" y="1127"/>
                  <a:pt x="1255" y="1140"/>
                </a:cubicBezTo>
                <a:cubicBezTo>
                  <a:pt x="1249" y="1153"/>
                  <a:pt x="1243" y="1165"/>
                  <a:pt x="1235" y="1177"/>
                </a:cubicBezTo>
                <a:cubicBezTo>
                  <a:pt x="1227" y="1188"/>
                  <a:pt x="1219" y="1199"/>
                  <a:pt x="1209" y="1209"/>
                </a:cubicBezTo>
                <a:cubicBezTo>
                  <a:pt x="1199" y="1218"/>
                  <a:pt x="1188" y="1227"/>
                  <a:pt x="1177" y="1235"/>
                </a:cubicBezTo>
                <a:cubicBezTo>
                  <a:pt x="1165" y="1243"/>
                  <a:pt x="1153" y="1249"/>
                  <a:pt x="1140" y="1254"/>
                </a:cubicBezTo>
                <a:cubicBezTo>
                  <a:pt x="1127" y="1260"/>
                  <a:pt x="1114" y="1264"/>
                  <a:pt x="1100" y="1267"/>
                </a:cubicBezTo>
                <a:cubicBezTo>
                  <a:pt x="1087" y="1269"/>
                  <a:pt x="1073" y="1271"/>
                  <a:pt x="1059" y="1271"/>
                </a:cubicBezTo>
                <a:lnTo>
                  <a:pt x="211" y="1271"/>
                </a:lnTo>
                <a:cubicBezTo>
                  <a:pt x="198" y="1271"/>
                  <a:pt x="184" y="1269"/>
                  <a:pt x="170" y="1267"/>
                </a:cubicBezTo>
                <a:cubicBezTo>
                  <a:pt x="157" y="1264"/>
                  <a:pt x="143" y="1260"/>
                  <a:pt x="130" y="1254"/>
                </a:cubicBezTo>
                <a:cubicBezTo>
                  <a:pt x="118" y="1249"/>
                  <a:pt x="105" y="1243"/>
                  <a:pt x="94" y="1235"/>
                </a:cubicBezTo>
                <a:cubicBezTo>
                  <a:pt x="82" y="1227"/>
                  <a:pt x="72" y="1218"/>
                  <a:pt x="62" y="1209"/>
                </a:cubicBezTo>
                <a:cubicBezTo>
                  <a:pt x="52" y="1199"/>
                  <a:pt x="43" y="1188"/>
                  <a:pt x="36" y="1177"/>
                </a:cubicBezTo>
                <a:cubicBezTo>
                  <a:pt x="28" y="1165"/>
                  <a:pt x="21" y="1153"/>
                  <a:pt x="16" y="1140"/>
                </a:cubicBezTo>
                <a:cubicBezTo>
                  <a:pt x="11" y="1127"/>
                  <a:pt x="7" y="1114"/>
                  <a:pt x="4" y="1100"/>
                </a:cubicBezTo>
                <a:cubicBezTo>
                  <a:pt x="1" y="1087"/>
                  <a:pt x="0" y="1073"/>
                  <a:pt x="0" y="1059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任意形状 97"/>
          <p:cNvSpPr/>
          <p:nvPr/>
        </p:nvSpPr>
        <p:spPr>
          <a:xfrm>
            <a:off x="966600" y="4452840"/>
            <a:ext cx="200520" cy="200160"/>
          </a:xfrm>
          <a:custGeom>
            <a:avLst/>
            <a:gdLst/>
            <a:ahLst/>
            <a:cxnLst/>
            <a:rect l="0" t="0" r="r" b="b"/>
            <a:pathLst>
              <a:path w="557" h="556" fill="none">
                <a:moveTo>
                  <a:pt x="185" y="279"/>
                </a:moveTo>
                <a:lnTo>
                  <a:pt x="247" y="340"/>
                </a:lnTo>
                <a:lnTo>
                  <a:pt x="371" y="217"/>
                </a:lnTo>
                <a:moveTo>
                  <a:pt x="557" y="279"/>
                </a:moveTo>
                <a:cubicBezTo>
                  <a:pt x="557" y="297"/>
                  <a:pt x="555" y="315"/>
                  <a:pt x="551" y="333"/>
                </a:cubicBezTo>
                <a:cubicBezTo>
                  <a:pt x="548" y="351"/>
                  <a:pt x="543" y="368"/>
                  <a:pt x="536" y="385"/>
                </a:cubicBezTo>
                <a:cubicBezTo>
                  <a:pt x="529" y="402"/>
                  <a:pt x="520" y="418"/>
                  <a:pt x="510" y="433"/>
                </a:cubicBezTo>
                <a:cubicBezTo>
                  <a:pt x="500" y="448"/>
                  <a:pt x="488" y="462"/>
                  <a:pt x="475" y="475"/>
                </a:cubicBezTo>
                <a:cubicBezTo>
                  <a:pt x="462" y="488"/>
                  <a:pt x="448" y="500"/>
                  <a:pt x="433" y="510"/>
                </a:cubicBezTo>
                <a:cubicBezTo>
                  <a:pt x="418" y="520"/>
                  <a:pt x="402" y="528"/>
                  <a:pt x="385" y="535"/>
                </a:cubicBezTo>
                <a:cubicBezTo>
                  <a:pt x="367" y="542"/>
                  <a:pt x="350" y="548"/>
                  <a:pt x="332" y="551"/>
                </a:cubicBezTo>
                <a:cubicBezTo>
                  <a:pt x="314" y="555"/>
                  <a:pt x="296" y="556"/>
                  <a:pt x="278" y="556"/>
                </a:cubicBezTo>
                <a:cubicBezTo>
                  <a:pt x="260" y="556"/>
                  <a:pt x="242" y="555"/>
                  <a:pt x="224" y="551"/>
                </a:cubicBezTo>
                <a:cubicBezTo>
                  <a:pt x="206" y="548"/>
                  <a:pt x="188" y="542"/>
                  <a:pt x="171" y="535"/>
                </a:cubicBezTo>
                <a:cubicBezTo>
                  <a:pt x="155" y="528"/>
                  <a:pt x="139" y="520"/>
                  <a:pt x="123" y="510"/>
                </a:cubicBezTo>
                <a:cubicBezTo>
                  <a:pt x="108" y="500"/>
                  <a:pt x="94" y="488"/>
                  <a:pt x="81" y="475"/>
                </a:cubicBezTo>
                <a:cubicBezTo>
                  <a:pt x="68" y="462"/>
                  <a:pt x="57" y="448"/>
                  <a:pt x="47" y="433"/>
                </a:cubicBezTo>
                <a:cubicBezTo>
                  <a:pt x="37" y="418"/>
                  <a:pt x="28" y="402"/>
                  <a:pt x="21" y="385"/>
                </a:cubicBezTo>
                <a:cubicBezTo>
                  <a:pt x="14" y="368"/>
                  <a:pt x="9" y="351"/>
                  <a:pt x="5" y="333"/>
                </a:cubicBezTo>
                <a:cubicBezTo>
                  <a:pt x="2" y="315"/>
                  <a:pt x="0" y="297"/>
                  <a:pt x="0" y="279"/>
                </a:cubicBezTo>
                <a:cubicBezTo>
                  <a:pt x="0" y="260"/>
                  <a:pt x="2" y="242"/>
                  <a:pt x="5" y="224"/>
                </a:cubicBezTo>
                <a:cubicBezTo>
                  <a:pt x="9" y="207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8"/>
                  <a:pt x="69" y="94"/>
                  <a:pt x="81" y="81"/>
                </a:cubicBezTo>
                <a:cubicBezTo>
                  <a:pt x="94" y="68"/>
                  <a:pt x="108" y="57"/>
                  <a:pt x="124" y="47"/>
                </a:cubicBezTo>
                <a:cubicBezTo>
                  <a:pt x="139" y="37"/>
                  <a:pt x="155" y="28"/>
                  <a:pt x="172" y="21"/>
                </a:cubicBezTo>
                <a:cubicBezTo>
                  <a:pt x="188" y="14"/>
                  <a:pt x="206" y="9"/>
                  <a:pt x="224" y="5"/>
                </a:cubicBezTo>
                <a:cubicBezTo>
                  <a:pt x="242" y="2"/>
                  <a:pt x="260" y="0"/>
                  <a:pt x="278" y="0"/>
                </a:cubicBezTo>
                <a:cubicBezTo>
                  <a:pt x="296" y="0"/>
                  <a:pt x="314" y="2"/>
                  <a:pt x="332" y="5"/>
                </a:cubicBezTo>
                <a:cubicBezTo>
                  <a:pt x="350" y="9"/>
                  <a:pt x="367" y="14"/>
                  <a:pt x="385" y="21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8"/>
                  <a:pt x="475" y="81"/>
                </a:cubicBezTo>
                <a:cubicBezTo>
                  <a:pt x="488" y="94"/>
                  <a:pt x="500" y="108"/>
                  <a:pt x="510" y="124"/>
                </a:cubicBezTo>
                <a:cubicBezTo>
                  <a:pt x="520" y="139"/>
                  <a:pt x="528" y="155"/>
                  <a:pt x="535" y="172"/>
                </a:cubicBezTo>
                <a:cubicBezTo>
                  <a:pt x="542" y="189"/>
                  <a:pt x="548" y="207"/>
                  <a:pt x="551" y="224"/>
                </a:cubicBezTo>
                <a:cubicBezTo>
                  <a:pt x="555" y="242"/>
                  <a:pt x="557" y="260"/>
                  <a:pt x="557" y="279"/>
                </a:cubicBezTo>
              </a:path>
            </a:pathLst>
          </a:custGeom>
          <a:ln w="21960" cap="rnd">
            <a:solidFill>
              <a:srgbClr val="F97316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838080" y="2977560"/>
            <a:ext cx="9532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准化发展。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任意形状 99"/>
          <p:cNvSpPr/>
          <p:nvPr/>
        </p:nvSpPr>
        <p:spPr>
          <a:xfrm>
            <a:off x="838080" y="497196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7"/>
                </a:moveTo>
                <a:cubicBezTo>
                  <a:pt x="636" y="338"/>
                  <a:pt x="634" y="359"/>
                  <a:pt x="630" y="379"/>
                </a:cubicBezTo>
                <a:cubicBezTo>
                  <a:pt x="626" y="400"/>
                  <a:pt x="620" y="419"/>
                  <a:pt x="612" y="439"/>
                </a:cubicBezTo>
                <a:cubicBezTo>
                  <a:pt x="604" y="459"/>
                  <a:pt x="594" y="477"/>
                  <a:pt x="582" y="495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7"/>
                  <a:pt x="511" y="571"/>
                  <a:pt x="494" y="582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7"/>
                  <a:pt x="32" y="459"/>
                  <a:pt x="24" y="439"/>
                </a:cubicBezTo>
                <a:cubicBezTo>
                  <a:pt x="16" y="419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4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3"/>
                </a:cubicBezTo>
                <a:cubicBezTo>
                  <a:pt x="511" y="65"/>
                  <a:pt x="528" y="78"/>
                  <a:pt x="543" y="93"/>
                </a:cubicBezTo>
                <a:cubicBezTo>
                  <a:pt x="558" y="107"/>
                  <a:pt x="571" y="124"/>
                  <a:pt x="582" y="141"/>
                </a:cubicBezTo>
                <a:cubicBezTo>
                  <a:pt x="594" y="158"/>
                  <a:pt x="604" y="176"/>
                  <a:pt x="612" y="196"/>
                </a:cubicBezTo>
                <a:cubicBezTo>
                  <a:pt x="620" y="215"/>
                  <a:pt x="626" y="235"/>
                  <a:pt x="630" y="255"/>
                </a:cubicBezTo>
                <a:cubicBezTo>
                  <a:pt x="634" y="276"/>
                  <a:pt x="636" y="296"/>
                  <a:pt x="636" y="317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任意形状 100"/>
          <p:cNvSpPr/>
          <p:nvPr/>
        </p:nvSpPr>
        <p:spPr>
          <a:xfrm>
            <a:off x="907920" y="5054400"/>
            <a:ext cx="89280" cy="63720"/>
          </a:xfrm>
          <a:custGeom>
            <a:avLst/>
            <a:gdLst/>
            <a:ahLst/>
            <a:cxnLst/>
            <a:rect l="0" t="0" r="r" b="b"/>
            <a:pathLst>
              <a:path w="248" h="177" fill="none">
                <a:moveTo>
                  <a:pt x="0" y="106"/>
                </a:moveTo>
                <a:lnTo>
                  <a:pt x="71" y="177"/>
                </a:lnTo>
                <a:lnTo>
                  <a:pt x="248" y="0"/>
                </a:lnTo>
              </a:path>
            </a:pathLst>
          </a:custGeom>
          <a:ln w="18720" cap="rnd">
            <a:solidFill>
              <a:srgbClr val="F97316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1447920" y="438480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99600"/>
                </a:solidFill>
                <a:effectLst/>
                <a:uFillTx/>
                <a:latin typeface="NotoSansSC"/>
                <a:ea typeface="NotoSansSC"/>
              </a:rPr>
              <a:t>实践意义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任意形状 102"/>
          <p:cNvSpPr/>
          <p:nvPr/>
        </p:nvSpPr>
        <p:spPr>
          <a:xfrm>
            <a:off x="838080" y="539100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7"/>
                </a:moveTo>
                <a:cubicBezTo>
                  <a:pt x="636" y="338"/>
                  <a:pt x="634" y="359"/>
                  <a:pt x="630" y="379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8"/>
                  <a:pt x="594" y="476"/>
                  <a:pt x="582" y="494"/>
                </a:cubicBezTo>
                <a:cubicBezTo>
                  <a:pt x="571" y="511"/>
                  <a:pt x="558" y="527"/>
                  <a:pt x="543" y="542"/>
                </a:cubicBezTo>
                <a:cubicBezTo>
                  <a:pt x="528" y="557"/>
                  <a:pt x="511" y="571"/>
                  <a:pt x="494" y="582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2"/>
                </a:cubicBezTo>
                <a:cubicBezTo>
                  <a:pt x="124" y="571"/>
                  <a:pt x="108" y="557"/>
                  <a:pt x="93" y="542"/>
                </a:cubicBezTo>
                <a:cubicBezTo>
                  <a:pt x="78" y="527"/>
                  <a:pt x="65" y="511"/>
                  <a:pt x="53" y="494"/>
                </a:cubicBezTo>
                <a:cubicBezTo>
                  <a:pt x="42" y="476"/>
                  <a:pt x="32" y="458"/>
                  <a:pt x="24" y="439"/>
                </a:cubicBezTo>
                <a:cubicBezTo>
                  <a:pt x="16" y="420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ubicBezTo>
                  <a:pt x="0" y="297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8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2"/>
                  <a:pt x="476" y="42"/>
                  <a:pt x="494" y="53"/>
                </a:cubicBezTo>
                <a:cubicBezTo>
                  <a:pt x="511" y="65"/>
                  <a:pt x="528" y="78"/>
                  <a:pt x="543" y="93"/>
                </a:cubicBezTo>
                <a:cubicBezTo>
                  <a:pt x="558" y="108"/>
                  <a:pt x="571" y="124"/>
                  <a:pt x="582" y="141"/>
                </a:cubicBezTo>
                <a:cubicBezTo>
                  <a:pt x="594" y="158"/>
                  <a:pt x="604" y="177"/>
                  <a:pt x="612" y="196"/>
                </a:cubicBezTo>
                <a:cubicBezTo>
                  <a:pt x="620" y="215"/>
                  <a:pt x="626" y="235"/>
                  <a:pt x="630" y="255"/>
                </a:cubicBezTo>
                <a:cubicBezTo>
                  <a:pt x="634" y="276"/>
                  <a:pt x="636" y="297"/>
                  <a:pt x="636" y="317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任意形状 103"/>
          <p:cNvSpPr/>
          <p:nvPr/>
        </p:nvSpPr>
        <p:spPr>
          <a:xfrm>
            <a:off x="907920" y="5473440"/>
            <a:ext cx="89280" cy="64080"/>
          </a:xfrm>
          <a:custGeom>
            <a:avLst/>
            <a:gdLst/>
            <a:ahLst/>
            <a:cxnLst/>
            <a:rect l="0" t="0" r="r" b="b"/>
            <a:pathLst>
              <a:path w="248" h="178" fill="none">
                <a:moveTo>
                  <a:pt x="0" y="107"/>
                </a:moveTo>
                <a:lnTo>
                  <a:pt x="71" y="178"/>
                </a:lnTo>
                <a:lnTo>
                  <a:pt x="248" y="0"/>
                </a:lnTo>
              </a:path>
            </a:pathLst>
          </a:custGeom>
          <a:ln w="18720" cap="rnd">
            <a:solidFill>
              <a:srgbClr val="F97316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181160" y="4941000"/>
            <a:ext cx="3420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辅助医生进行</a:t>
            </a:r>
            <a:r>
              <a:rPr lang="zh-CN" sz="1350" b="0" u="none" strike="noStrike">
                <a:solidFill>
                  <a:srgbClr val="EA580C"/>
                </a:solidFill>
                <a:effectLst/>
                <a:uFillTx/>
                <a:latin typeface="NotoSansSC"/>
                <a:ea typeface="NotoSansSC"/>
              </a:rPr>
              <a:t>快速诊断</a:t>
            </a:r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，提升临床工作效率。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任意形状 105"/>
          <p:cNvSpPr/>
          <p:nvPr/>
        </p:nvSpPr>
        <p:spPr>
          <a:xfrm>
            <a:off x="838080" y="581004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9"/>
                </a:moveTo>
                <a:cubicBezTo>
                  <a:pt x="636" y="339"/>
                  <a:pt x="634" y="360"/>
                  <a:pt x="630" y="381"/>
                </a:cubicBezTo>
                <a:cubicBezTo>
                  <a:pt x="626" y="401"/>
                  <a:pt x="620" y="421"/>
                  <a:pt x="612" y="440"/>
                </a:cubicBezTo>
                <a:cubicBezTo>
                  <a:pt x="604" y="459"/>
                  <a:pt x="594" y="478"/>
                  <a:pt x="582" y="495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8"/>
                  <a:pt x="511" y="571"/>
                  <a:pt x="494" y="583"/>
                </a:cubicBezTo>
                <a:cubicBezTo>
                  <a:pt x="476" y="594"/>
                  <a:pt x="458" y="604"/>
                  <a:pt x="439" y="612"/>
                </a:cubicBezTo>
                <a:cubicBezTo>
                  <a:pt x="420" y="620"/>
                  <a:pt x="400" y="626"/>
                  <a:pt x="379" y="630"/>
                </a:cubicBezTo>
                <a:cubicBezTo>
                  <a:pt x="359" y="634"/>
                  <a:pt x="338" y="636"/>
                  <a:pt x="317" y="636"/>
                </a:cubicBezTo>
                <a:cubicBezTo>
                  <a:pt x="296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8"/>
                  <a:pt x="32" y="459"/>
                  <a:pt x="24" y="440"/>
                </a:cubicBezTo>
                <a:cubicBezTo>
                  <a:pt x="16" y="421"/>
                  <a:pt x="10" y="401"/>
                  <a:pt x="6" y="381"/>
                </a:cubicBezTo>
                <a:cubicBezTo>
                  <a:pt x="2" y="360"/>
                  <a:pt x="0" y="339"/>
                  <a:pt x="0" y="319"/>
                </a:cubicBezTo>
                <a:cubicBezTo>
                  <a:pt x="0" y="298"/>
                  <a:pt x="2" y="277"/>
                  <a:pt x="6" y="257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8"/>
                  <a:pt x="42" y="160"/>
                  <a:pt x="53" y="142"/>
                </a:cubicBezTo>
                <a:cubicBezTo>
                  <a:pt x="65" y="125"/>
                  <a:pt x="78" y="109"/>
                  <a:pt x="93" y="94"/>
                </a:cubicBezTo>
                <a:cubicBezTo>
                  <a:pt x="108" y="79"/>
                  <a:pt x="124" y="66"/>
                  <a:pt x="141" y="55"/>
                </a:cubicBezTo>
                <a:cubicBezTo>
                  <a:pt x="158" y="43"/>
                  <a:pt x="177" y="33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cubicBezTo>
                  <a:pt x="338" y="0"/>
                  <a:pt x="359" y="2"/>
                  <a:pt x="379" y="6"/>
                </a:cubicBezTo>
                <a:cubicBezTo>
                  <a:pt x="400" y="10"/>
                  <a:pt x="420" y="16"/>
                  <a:pt x="439" y="24"/>
                </a:cubicBezTo>
                <a:cubicBezTo>
                  <a:pt x="458" y="33"/>
                  <a:pt x="476" y="43"/>
                  <a:pt x="494" y="55"/>
                </a:cubicBezTo>
                <a:cubicBezTo>
                  <a:pt x="511" y="66"/>
                  <a:pt x="528" y="79"/>
                  <a:pt x="543" y="94"/>
                </a:cubicBezTo>
                <a:cubicBezTo>
                  <a:pt x="558" y="109"/>
                  <a:pt x="571" y="125"/>
                  <a:pt x="582" y="142"/>
                </a:cubicBezTo>
                <a:cubicBezTo>
                  <a:pt x="594" y="160"/>
                  <a:pt x="604" y="178"/>
                  <a:pt x="612" y="197"/>
                </a:cubicBezTo>
                <a:cubicBezTo>
                  <a:pt x="620" y="216"/>
                  <a:pt x="626" y="236"/>
                  <a:pt x="630" y="257"/>
                </a:cubicBezTo>
                <a:cubicBezTo>
                  <a:pt x="634" y="277"/>
                  <a:pt x="636" y="298"/>
                  <a:pt x="636" y="319"/>
                </a:cubicBezTo>
                <a:close/>
              </a:path>
            </a:pathLst>
          </a:custGeom>
          <a:solidFill>
            <a:srgbClr val="FFEDD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任意形状 106"/>
          <p:cNvSpPr/>
          <p:nvPr/>
        </p:nvSpPr>
        <p:spPr>
          <a:xfrm>
            <a:off x="907920" y="5892480"/>
            <a:ext cx="89280" cy="64080"/>
          </a:xfrm>
          <a:custGeom>
            <a:avLst/>
            <a:gdLst/>
            <a:ahLst/>
            <a:cxnLst/>
            <a:rect l="0" t="0" r="r" b="b"/>
            <a:pathLst>
              <a:path w="248" h="178" fill="none">
                <a:moveTo>
                  <a:pt x="0" y="107"/>
                </a:moveTo>
                <a:lnTo>
                  <a:pt x="71" y="178"/>
                </a:lnTo>
                <a:lnTo>
                  <a:pt x="248" y="0"/>
                </a:lnTo>
              </a:path>
            </a:pathLst>
          </a:custGeom>
          <a:ln w="18720" cap="rnd">
            <a:solidFill>
              <a:srgbClr val="F97316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181160" y="5360400"/>
            <a:ext cx="3780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有效降低微小病灶的</a:t>
            </a:r>
            <a:r>
              <a:rPr lang="zh-CN" sz="1350" b="0" u="none" strike="noStrike">
                <a:solidFill>
                  <a:srgbClr val="EA580C"/>
                </a:solidFill>
                <a:effectLst/>
                <a:uFillTx/>
                <a:latin typeface="NotoSansSC"/>
                <a:ea typeface="NotoSansSC"/>
              </a:rPr>
              <a:t>漏诊率</a:t>
            </a:r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，提高早期筛查精度。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9" name="图片 108"/>
          <p:cNvPicPr/>
          <p:nvPr/>
        </p:nvPicPr>
        <p:blipFill>
          <a:blip r:embed="rId7"/>
          <a:stretch/>
        </p:blipFill>
        <p:spPr>
          <a:xfrm>
            <a:off x="7191360" y="2009880"/>
            <a:ext cx="4543200" cy="257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图片 109"/>
          <p:cNvPicPr/>
          <p:nvPr/>
        </p:nvPicPr>
        <p:blipFill>
          <a:blip r:embed="rId8"/>
          <a:stretch/>
        </p:blipFill>
        <p:spPr>
          <a:xfrm>
            <a:off x="7229520" y="2048040"/>
            <a:ext cx="4466880" cy="249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图片 110"/>
          <p:cNvPicPr/>
          <p:nvPr/>
        </p:nvPicPr>
        <p:blipFill>
          <a:blip r:embed="rId9"/>
          <a:stretch/>
        </p:blipFill>
        <p:spPr>
          <a:xfrm>
            <a:off x="7191360" y="3362400"/>
            <a:ext cx="4543200" cy="121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文本框 111"/>
          <p:cNvSpPr txBox="1"/>
          <p:nvPr/>
        </p:nvSpPr>
        <p:spPr>
          <a:xfrm>
            <a:off x="1181160" y="5779440"/>
            <a:ext cx="3420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增强诊断</a:t>
            </a:r>
            <a:r>
              <a:rPr lang="zh-CN" sz="1350" b="0" u="none" strike="noStrike">
                <a:solidFill>
                  <a:srgbClr val="EA580C"/>
                </a:solidFill>
                <a:effectLst/>
                <a:uFillTx/>
                <a:latin typeface="NotoSansSC"/>
                <a:ea typeface="NotoSansSC"/>
              </a:rPr>
              <a:t>一致性</a:t>
            </a:r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，减少主观经验带来的误差。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7423200" y="3803760"/>
            <a:ext cx="1440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智能医疗融合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4" name="图片 113"/>
          <p:cNvPicPr/>
          <p:nvPr/>
        </p:nvPicPr>
        <p:blipFill>
          <a:blip r:embed="rId10"/>
          <a:stretch/>
        </p:blipFill>
        <p:spPr>
          <a:xfrm>
            <a:off x="11125080" y="3895560"/>
            <a:ext cx="380520" cy="38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任意形状 114"/>
          <p:cNvSpPr/>
          <p:nvPr/>
        </p:nvSpPr>
        <p:spPr>
          <a:xfrm>
            <a:off x="11239200" y="4000320"/>
            <a:ext cx="153000" cy="171720"/>
          </a:xfrm>
          <a:custGeom>
            <a:avLst/>
            <a:gdLst/>
            <a:ahLst/>
            <a:cxnLst/>
            <a:rect l="0" t="0" r="r" b="b"/>
            <a:pathLst>
              <a:path w="425" h="477" fill="none">
                <a:moveTo>
                  <a:pt x="238" y="186"/>
                </a:moveTo>
                <a:lnTo>
                  <a:pt x="238" y="0"/>
                </a:lnTo>
                <a:lnTo>
                  <a:pt x="0" y="292"/>
                </a:lnTo>
                <a:lnTo>
                  <a:pt x="186" y="292"/>
                </a:lnTo>
                <a:lnTo>
                  <a:pt x="186" y="477"/>
                </a:lnTo>
                <a:lnTo>
                  <a:pt x="425" y="186"/>
                </a:lnTo>
                <a:lnTo>
                  <a:pt x="238" y="186"/>
                </a:lnTo>
              </a:path>
            </a:pathLst>
          </a:custGeom>
          <a:ln w="18720" cap="rnd">
            <a:solidFill>
              <a:srgbClr val="FFFFFF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6" name="图片 115"/>
          <p:cNvPicPr/>
          <p:nvPr/>
        </p:nvPicPr>
        <p:blipFill>
          <a:blip r:embed="rId11"/>
          <a:stretch/>
        </p:blipFill>
        <p:spPr>
          <a:xfrm>
            <a:off x="7191360" y="4886280"/>
            <a:ext cx="2199960" cy="78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文本框 116"/>
          <p:cNvSpPr txBox="1"/>
          <p:nvPr/>
        </p:nvSpPr>
        <p:spPr>
          <a:xfrm>
            <a:off x="7423200" y="4162680"/>
            <a:ext cx="1472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BFDBFE"/>
                </a:solidFill>
                <a:effectLst/>
                <a:uFillTx/>
                <a:latin typeface="Roboto"/>
                <a:ea typeface="Roboto"/>
              </a:rPr>
              <a:t>AI + MEDICAL IMAGING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文本框 117"/>
          <p:cNvSpPr txBox="1"/>
          <p:nvPr/>
        </p:nvSpPr>
        <p:spPr>
          <a:xfrm>
            <a:off x="7356600" y="5055480"/>
            <a:ext cx="54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精准化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19" name="图片 118"/>
          <p:cNvPicPr/>
          <p:nvPr/>
        </p:nvPicPr>
        <p:blipFill>
          <a:blip r:embed="rId12"/>
          <a:stretch/>
        </p:blipFill>
        <p:spPr>
          <a:xfrm>
            <a:off x="9543960" y="4886280"/>
            <a:ext cx="2190240" cy="78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文本框 119"/>
          <p:cNvSpPr txBox="1"/>
          <p:nvPr/>
        </p:nvSpPr>
        <p:spPr>
          <a:xfrm>
            <a:off x="7356600" y="5345280"/>
            <a:ext cx="540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Precision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9702720" y="5055480"/>
            <a:ext cx="54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智能化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702720" y="5345280"/>
            <a:ext cx="7200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Intelligence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任意形状 1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图片 123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图片 124"/>
          <p:cNvPicPr/>
          <p:nvPr/>
        </p:nvPicPr>
        <p:blipFill>
          <a:blip r:embed="rId3"/>
          <a:stretch/>
        </p:blipFill>
        <p:spPr>
          <a:xfrm>
            <a:off x="380880" y="152388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任意形状 125"/>
          <p:cNvSpPr/>
          <p:nvPr/>
        </p:nvSpPr>
        <p:spPr>
          <a:xfrm>
            <a:off x="1257120" y="2114280"/>
            <a:ext cx="533880" cy="533880"/>
          </a:xfrm>
          <a:custGeom>
            <a:avLst/>
            <a:gdLst/>
            <a:ahLst/>
            <a:cxnLst/>
            <a:rect l="0" t="0" r="r" b="b"/>
            <a:pathLst>
              <a:path w="1483" h="1483">
                <a:moveTo>
                  <a:pt x="1483" y="741"/>
                </a:moveTo>
                <a:cubicBezTo>
                  <a:pt x="1483" y="765"/>
                  <a:pt x="1481" y="790"/>
                  <a:pt x="1479" y="815"/>
                </a:cubicBezTo>
                <a:cubicBezTo>
                  <a:pt x="1477" y="839"/>
                  <a:pt x="1473" y="863"/>
                  <a:pt x="1468" y="887"/>
                </a:cubicBezTo>
                <a:cubicBezTo>
                  <a:pt x="1464" y="910"/>
                  <a:pt x="1458" y="934"/>
                  <a:pt x="1451" y="957"/>
                </a:cubicBezTo>
                <a:cubicBezTo>
                  <a:pt x="1444" y="980"/>
                  <a:pt x="1436" y="1003"/>
                  <a:pt x="1426" y="1026"/>
                </a:cubicBezTo>
                <a:cubicBezTo>
                  <a:pt x="1417" y="1048"/>
                  <a:pt x="1407" y="1070"/>
                  <a:pt x="1395" y="1091"/>
                </a:cubicBezTo>
                <a:cubicBezTo>
                  <a:pt x="1384" y="1113"/>
                  <a:pt x="1371" y="1133"/>
                  <a:pt x="1358" y="1154"/>
                </a:cubicBezTo>
                <a:cubicBezTo>
                  <a:pt x="1344" y="1174"/>
                  <a:pt x="1330" y="1193"/>
                  <a:pt x="1315" y="1212"/>
                </a:cubicBezTo>
                <a:cubicBezTo>
                  <a:pt x="1299" y="1231"/>
                  <a:pt x="1283" y="1249"/>
                  <a:pt x="1266" y="1266"/>
                </a:cubicBezTo>
                <a:cubicBezTo>
                  <a:pt x="1249" y="1283"/>
                  <a:pt x="1231" y="1299"/>
                  <a:pt x="1212" y="1315"/>
                </a:cubicBezTo>
                <a:cubicBezTo>
                  <a:pt x="1193" y="1330"/>
                  <a:pt x="1174" y="1345"/>
                  <a:pt x="1153" y="1358"/>
                </a:cubicBezTo>
                <a:cubicBezTo>
                  <a:pt x="1133" y="1372"/>
                  <a:pt x="1112" y="1384"/>
                  <a:pt x="1091" y="1395"/>
                </a:cubicBezTo>
                <a:cubicBezTo>
                  <a:pt x="1070" y="1407"/>
                  <a:pt x="1048" y="1417"/>
                  <a:pt x="1025" y="1427"/>
                </a:cubicBezTo>
                <a:cubicBezTo>
                  <a:pt x="1003" y="1436"/>
                  <a:pt x="980" y="1444"/>
                  <a:pt x="957" y="1451"/>
                </a:cubicBezTo>
                <a:cubicBezTo>
                  <a:pt x="934" y="1458"/>
                  <a:pt x="910" y="1464"/>
                  <a:pt x="886" y="1469"/>
                </a:cubicBezTo>
                <a:cubicBezTo>
                  <a:pt x="863" y="1473"/>
                  <a:pt x="839" y="1477"/>
                  <a:pt x="814" y="1479"/>
                </a:cubicBezTo>
                <a:cubicBezTo>
                  <a:pt x="790" y="1482"/>
                  <a:pt x="766" y="1483"/>
                  <a:pt x="742" y="1483"/>
                </a:cubicBezTo>
                <a:cubicBezTo>
                  <a:pt x="718" y="1483"/>
                  <a:pt x="693" y="1482"/>
                  <a:pt x="669" y="1479"/>
                </a:cubicBezTo>
                <a:cubicBezTo>
                  <a:pt x="645" y="1477"/>
                  <a:pt x="621" y="1473"/>
                  <a:pt x="597" y="1469"/>
                </a:cubicBezTo>
                <a:cubicBezTo>
                  <a:pt x="574" y="1464"/>
                  <a:pt x="550" y="1458"/>
                  <a:pt x="527" y="1451"/>
                </a:cubicBezTo>
                <a:cubicBezTo>
                  <a:pt x="504" y="1444"/>
                  <a:pt x="481" y="1436"/>
                  <a:pt x="458" y="1427"/>
                </a:cubicBezTo>
                <a:cubicBezTo>
                  <a:pt x="436" y="1417"/>
                  <a:pt x="414" y="1407"/>
                  <a:pt x="393" y="1395"/>
                </a:cubicBezTo>
                <a:cubicBezTo>
                  <a:pt x="371" y="1384"/>
                  <a:pt x="350" y="1372"/>
                  <a:pt x="330" y="1358"/>
                </a:cubicBezTo>
                <a:cubicBezTo>
                  <a:pt x="310" y="1345"/>
                  <a:pt x="291" y="1330"/>
                  <a:pt x="272" y="1315"/>
                </a:cubicBezTo>
                <a:cubicBezTo>
                  <a:pt x="253" y="1299"/>
                  <a:pt x="235" y="1283"/>
                  <a:pt x="218" y="1266"/>
                </a:cubicBezTo>
                <a:cubicBezTo>
                  <a:pt x="200" y="1249"/>
                  <a:pt x="184" y="1231"/>
                  <a:pt x="168" y="1212"/>
                </a:cubicBezTo>
                <a:cubicBezTo>
                  <a:pt x="153" y="1193"/>
                  <a:pt x="138" y="1174"/>
                  <a:pt x="125" y="1154"/>
                </a:cubicBezTo>
                <a:cubicBezTo>
                  <a:pt x="111" y="1133"/>
                  <a:pt x="99" y="1113"/>
                  <a:pt x="87" y="1091"/>
                </a:cubicBezTo>
                <a:cubicBezTo>
                  <a:pt x="76" y="1070"/>
                  <a:pt x="66" y="1048"/>
                  <a:pt x="56" y="1026"/>
                </a:cubicBezTo>
                <a:cubicBezTo>
                  <a:pt x="47" y="1003"/>
                  <a:pt x="39" y="980"/>
                  <a:pt x="32" y="957"/>
                </a:cubicBezTo>
                <a:cubicBezTo>
                  <a:pt x="25" y="934"/>
                  <a:pt x="19" y="910"/>
                  <a:pt x="14" y="887"/>
                </a:cubicBezTo>
                <a:cubicBezTo>
                  <a:pt x="10" y="863"/>
                  <a:pt x="6" y="839"/>
                  <a:pt x="4" y="815"/>
                </a:cubicBezTo>
                <a:cubicBezTo>
                  <a:pt x="1" y="790"/>
                  <a:pt x="0" y="765"/>
                  <a:pt x="0" y="741"/>
                </a:cubicBezTo>
                <a:cubicBezTo>
                  <a:pt x="0" y="717"/>
                  <a:pt x="1" y="693"/>
                  <a:pt x="4" y="668"/>
                </a:cubicBezTo>
                <a:cubicBezTo>
                  <a:pt x="6" y="644"/>
                  <a:pt x="10" y="620"/>
                  <a:pt x="14" y="597"/>
                </a:cubicBezTo>
                <a:cubicBezTo>
                  <a:pt x="19" y="573"/>
                  <a:pt x="25" y="549"/>
                  <a:pt x="32" y="526"/>
                </a:cubicBezTo>
                <a:cubicBezTo>
                  <a:pt x="39" y="503"/>
                  <a:pt x="47" y="480"/>
                  <a:pt x="56" y="458"/>
                </a:cubicBezTo>
                <a:cubicBezTo>
                  <a:pt x="66" y="435"/>
                  <a:pt x="76" y="413"/>
                  <a:pt x="87" y="392"/>
                </a:cubicBezTo>
                <a:cubicBezTo>
                  <a:pt x="99" y="370"/>
                  <a:pt x="111" y="350"/>
                  <a:pt x="125" y="329"/>
                </a:cubicBezTo>
                <a:cubicBezTo>
                  <a:pt x="138" y="309"/>
                  <a:pt x="153" y="290"/>
                  <a:pt x="168" y="271"/>
                </a:cubicBezTo>
                <a:cubicBezTo>
                  <a:pt x="184" y="252"/>
                  <a:pt x="200" y="234"/>
                  <a:pt x="218" y="217"/>
                </a:cubicBezTo>
                <a:cubicBezTo>
                  <a:pt x="235" y="200"/>
                  <a:pt x="253" y="184"/>
                  <a:pt x="272" y="168"/>
                </a:cubicBezTo>
                <a:cubicBezTo>
                  <a:pt x="291" y="153"/>
                  <a:pt x="310" y="139"/>
                  <a:pt x="330" y="125"/>
                </a:cubicBezTo>
                <a:cubicBezTo>
                  <a:pt x="350" y="112"/>
                  <a:pt x="371" y="99"/>
                  <a:pt x="393" y="88"/>
                </a:cubicBezTo>
                <a:cubicBezTo>
                  <a:pt x="414" y="76"/>
                  <a:pt x="436" y="66"/>
                  <a:pt x="458" y="57"/>
                </a:cubicBezTo>
                <a:cubicBezTo>
                  <a:pt x="481" y="47"/>
                  <a:pt x="504" y="39"/>
                  <a:pt x="527" y="32"/>
                </a:cubicBezTo>
                <a:cubicBezTo>
                  <a:pt x="550" y="25"/>
                  <a:pt x="574" y="19"/>
                  <a:pt x="597" y="14"/>
                </a:cubicBezTo>
                <a:cubicBezTo>
                  <a:pt x="621" y="10"/>
                  <a:pt x="645" y="6"/>
                  <a:pt x="669" y="4"/>
                </a:cubicBezTo>
                <a:cubicBezTo>
                  <a:pt x="693" y="1"/>
                  <a:pt x="718" y="0"/>
                  <a:pt x="742" y="0"/>
                </a:cubicBezTo>
                <a:cubicBezTo>
                  <a:pt x="766" y="0"/>
                  <a:pt x="790" y="1"/>
                  <a:pt x="814" y="4"/>
                </a:cubicBezTo>
                <a:cubicBezTo>
                  <a:pt x="839" y="6"/>
                  <a:pt x="863" y="10"/>
                  <a:pt x="886" y="14"/>
                </a:cubicBezTo>
                <a:cubicBezTo>
                  <a:pt x="910" y="19"/>
                  <a:pt x="934" y="25"/>
                  <a:pt x="957" y="32"/>
                </a:cubicBezTo>
                <a:cubicBezTo>
                  <a:pt x="980" y="39"/>
                  <a:pt x="1003" y="47"/>
                  <a:pt x="1025" y="57"/>
                </a:cubicBezTo>
                <a:cubicBezTo>
                  <a:pt x="1048" y="66"/>
                  <a:pt x="1070" y="76"/>
                  <a:pt x="1091" y="88"/>
                </a:cubicBezTo>
                <a:cubicBezTo>
                  <a:pt x="1112" y="99"/>
                  <a:pt x="1133" y="112"/>
                  <a:pt x="1153" y="125"/>
                </a:cubicBezTo>
                <a:cubicBezTo>
                  <a:pt x="1174" y="139"/>
                  <a:pt x="1193" y="153"/>
                  <a:pt x="1212" y="168"/>
                </a:cubicBezTo>
                <a:cubicBezTo>
                  <a:pt x="1231" y="184"/>
                  <a:pt x="1249" y="200"/>
                  <a:pt x="1266" y="217"/>
                </a:cubicBezTo>
                <a:cubicBezTo>
                  <a:pt x="1283" y="234"/>
                  <a:pt x="1299" y="252"/>
                  <a:pt x="1315" y="271"/>
                </a:cubicBezTo>
                <a:cubicBezTo>
                  <a:pt x="1330" y="290"/>
                  <a:pt x="1344" y="309"/>
                  <a:pt x="1358" y="329"/>
                </a:cubicBezTo>
                <a:cubicBezTo>
                  <a:pt x="1371" y="350"/>
                  <a:pt x="1384" y="370"/>
                  <a:pt x="1395" y="392"/>
                </a:cubicBezTo>
                <a:cubicBezTo>
                  <a:pt x="1407" y="413"/>
                  <a:pt x="1417" y="435"/>
                  <a:pt x="1426" y="458"/>
                </a:cubicBezTo>
                <a:cubicBezTo>
                  <a:pt x="1436" y="480"/>
                  <a:pt x="1444" y="503"/>
                  <a:pt x="1451" y="526"/>
                </a:cubicBezTo>
                <a:cubicBezTo>
                  <a:pt x="1458" y="549"/>
                  <a:pt x="1464" y="573"/>
                  <a:pt x="1468" y="597"/>
                </a:cubicBezTo>
                <a:cubicBezTo>
                  <a:pt x="1473" y="620"/>
                  <a:pt x="1477" y="644"/>
                  <a:pt x="1479" y="668"/>
                </a:cubicBezTo>
                <a:cubicBezTo>
                  <a:pt x="1481" y="693"/>
                  <a:pt x="1483" y="717"/>
                  <a:pt x="1483" y="741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任意形状 126"/>
          <p:cNvSpPr/>
          <p:nvPr/>
        </p:nvSpPr>
        <p:spPr>
          <a:xfrm>
            <a:off x="1422360" y="2279520"/>
            <a:ext cx="203400" cy="203400"/>
          </a:xfrm>
          <a:custGeom>
            <a:avLst/>
            <a:gdLst/>
            <a:ahLst/>
            <a:cxnLst/>
            <a:rect l="0" t="0" r="r" b="b"/>
            <a:pathLst>
              <a:path w="565" h="565" fill="none">
                <a:moveTo>
                  <a:pt x="0" y="424"/>
                </a:moveTo>
                <a:lnTo>
                  <a:pt x="161" y="262"/>
                </a:lnTo>
                <a:cubicBezTo>
                  <a:pt x="168" y="256"/>
                  <a:pt x="176" y="251"/>
                  <a:pt x="184" y="247"/>
                </a:cubicBezTo>
                <a:cubicBezTo>
                  <a:pt x="193" y="244"/>
                  <a:pt x="202" y="242"/>
                  <a:pt x="211" y="242"/>
                </a:cubicBezTo>
                <a:cubicBezTo>
                  <a:pt x="221" y="242"/>
                  <a:pt x="230" y="244"/>
                  <a:pt x="238" y="247"/>
                </a:cubicBezTo>
                <a:cubicBezTo>
                  <a:pt x="247" y="251"/>
                  <a:pt x="255" y="256"/>
                  <a:pt x="261" y="262"/>
                </a:cubicBezTo>
                <a:lnTo>
                  <a:pt x="424" y="424"/>
                </a:lnTo>
                <a:moveTo>
                  <a:pt x="353" y="354"/>
                </a:moveTo>
                <a:lnTo>
                  <a:pt x="409" y="298"/>
                </a:lnTo>
                <a:cubicBezTo>
                  <a:pt x="416" y="291"/>
                  <a:pt x="424" y="286"/>
                  <a:pt x="432" y="282"/>
                </a:cubicBezTo>
                <a:cubicBezTo>
                  <a:pt x="441" y="279"/>
                  <a:pt x="450" y="277"/>
                  <a:pt x="459" y="277"/>
                </a:cubicBezTo>
                <a:cubicBezTo>
                  <a:pt x="469" y="277"/>
                  <a:pt x="478" y="279"/>
                  <a:pt x="486" y="282"/>
                </a:cubicBezTo>
                <a:cubicBezTo>
                  <a:pt x="495" y="286"/>
                  <a:pt x="502" y="291"/>
                  <a:pt x="509" y="298"/>
                </a:cubicBezTo>
                <a:lnTo>
                  <a:pt x="565" y="354"/>
                </a:lnTo>
                <a:moveTo>
                  <a:pt x="353" y="141"/>
                </a:moveTo>
                <a:lnTo>
                  <a:pt x="354" y="141"/>
                </a:lnTo>
                <a:moveTo>
                  <a:pt x="70" y="565"/>
                </a:moveTo>
                <a:lnTo>
                  <a:pt x="494" y="565"/>
                </a:lnTo>
                <a:cubicBezTo>
                  <a:pt x="504" y="565"/>
                  <a:pt x="513" y="564"/>
                  <a:pt x="522" y="560"/>
                </a:cubicBezTo>
                <a:cubicBezTo>
                  <a:pt x="530" y="556"/>
                  <a:pt x="538" y="551"/>
                  <a:pt x="544" y="545"/>
                </a:cubicBezTo>
                <a:cubicBezTo>
                  <a:pt x="551" y="538"/>
                  <a:pt x="556" y="530"/>
                  <a:pt x="560" y="522"/>
                </a:cubicBezTo>
                <a:cubicBezTo>
                  <a:pt x="563" y="513"/>
                  <a:pt x="565" y="504"/>
                  <a:pt x="565" y="495"/>
                </a:cubicBezTo>
                <a:lnTo>
                  <a:pt x="565" y="70"/>
                </a:lnTo>
                <a:cubicBezTo>
                  <a:pt x="565" y="61"/>
                  <a:pt x="563" y="52"/>
                  <a:pt x="560" y="43"/>
                </a:cubicBezTo>
                <a:cubicBezTo>
                  <a:pt x="556" y="35"/>
                  <a:pt x="551" y="27"/>
                  <a:pt x="544" y="21"/>
                </a:cubicBezTo>
                <a:cubicBezTo>
                  <a:pt x="538" y="14"/>
                  <a:pt x="530" y="9"/>
                  <a:pt x="522" y="5"/>
                </a:cubicBezTo>
                <a:cubicBezTo>
                  <a:pt x="513" y="2"/>
                  <a:pt x="504" y="0"/>
                  <a:pt x="494" y="0"/>
                </a:cubicBezTo>
                <a:lnTo>
                  <a:pt x="70" y="0"/>
                </a:lnTo>
                <a:cubicBezTo>
                  <a:pt x="61" y="0"/>
                  <a:pt x="52" y="2"/>
                  <a:pt x="43" y="5"/>
                </a:cubicBezTo>
                <a:cubicBezTo>
                  <a:pt x="35" y="9"/>
                  <a:pt x="27" y="14"/>
                  <a:pt x="20" y="21"/>
                </a:cubicBezTo>
                <a:cubicBezTo>
                  <a:pt x="14" y="27"/>
                  <a:pt x="9" y="35"/>
                  <a:pt x="5" y="43"/>
                </a:cubicBezTo>
                <a:cubicBezTo>
                  <a:pt x="1" y="52"/>
                  <a:pt x="0" y="61"/>
                  <a:pt x="0" y="70"/>
                </a:cubicBezTo>
                <a:lnTo>
                  <a:pt x="0" y="495"/>
                </a:lnTo>
                <a:cubicBezTo>
                  <a:pt x="0" y="504"/>
                  <a:pt x="1" y="513"/>
                  <a:pt x="5" y="522"/>
                </a:cubicBezTo>
                <a:cubicBezTo>
                  <a:pt x="9" y="530"/>
                  <a:pt x="14" y="538"/>
                  <a:pt x="20" y="545"/>
                </a:cubicBezTo>
                <a:cubicBezTo>
                  <a:pt x="27" y="551"/>
                  <a:pt x="35" y="556"/>
                  <a:pt x="43" y="560"/>
                </a:cubicBezTo>
                <a:cubicBezTo>
                  <a:pt x="52" y="564"/>
                  <a:pt x="61" y="565"/>
                  <a:pt x="70" y="565"/>
                </a:cubicBezTo>
              </a:path>
            </a:pathLst>
          </a:custGeom>
          <a:ln w="25200" cap="rnd">
            <a:solidFill>
              <a:srgbClr val="1A66C2"/>
            </a:solidFill>
            <a:round/>
          </a:ln>
        </p:spPr>
        <p:txBody>
          <a:bodyPr lIns="12600" tIns="12600" rIns="12600" bIns="126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1143000" y="2806200"/>
            <a:ext cx="799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图像分类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9" name="图片 128"/>
          <p:cNvPicPr/>
          <p:nvPr/>
        </p:nvPicPr>
        <p:blipFill>
          <a:blip r:embed="rId4"/>
          <a:stretch/>
        </p:blipFill>
        <p:spPr>
          <a:xfrm>
            <a:off x="2895480" y="1523880"/>
            <a:ext cx="89150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0" name="任意形状 129"/>
          <p:cNvSpPr/>
          <p:nvPr/>
        </p:nvSpPr>
        <p:spPr>
          <a:xfrm>
            <a:off x="3352680" y="2657160"/>
            <a:ext cx="8001360" cy="19440"/>
          </a:xfrm>
          <a:custGeom>
            <a:avLst/>
            <a:gdLst/>
            <a:ahLst/>
            <a:cxnLst/>
            <a:rect l="0" t="0" r="r" b="b"/>
            <a:pathLst>
              <a:path w="22226" h="54">
                <a:moveTo>
                  <a:pt x="0" y="0"/>
                </a:moveTo>
                <a:lnTo>
                  <a:pt x="22226" y="0"/>
                </a:lnTo>
                <a:lnTo>
                  <a:pt x="2222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任意形状 130"/>
          <p:cNvSpPr/>
          <p:nvPr/>
        </p:nvSpPr>
        <p:spPr>
          <a:xfrm>
            <a:off x="5895720" y="2619360"/>
            <a:ext cx="114840" cy="95400"/>
          </a:xfrm>
          <a:custGeom>
            <a:avLst/>
            <a:gdLst/>
            <a:ahLst/>
            <a:cxnLst/>
            <a:rect l="0" t="0" r="r" b="b"/>
            <a:pathLst>
              <a:path w="319" h="265" fill="none">
                <a:moveTo>
                  <a:pt x="185" y="0"/>
                </a:moveTo>
                <a:lnTo>
                  <a:pt x="319" y="132"/>
                </a:lnTo>
                <a:moveTo>
                  <a:pt x="319" y="132"/>
                </a:moveTo>
                <a:lnTo>
                  <a:pt x="185" y="265"/>
                </a:lnTo>
                <a:moveTo>
                  <a:pt x="319" y="132"/>
                </a:moveTo>
                <a:lnTo>
                  <a:pt x="0" y="132"/>
                </a:ln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任意形状 131"/>
          <p:cNvSpPr/>
          <p:nvPr/>
        </p:nvSpPr>
        <p:spPr>
          <a:xfrm>
            <a:off x="8839080" y="2619360"/>
            <a:ext cx="114480" cy="95400"/>
          </a:xfrm>
          <a:custGeom>
            <a:avLst/>
            <a:gdLst/>
            <a:ahLst/>
            <a:cxnLst/>
            <a:rect l="0" t="0" r="r" b="b"/>
            <a:pathLst>
              <a:path w="318" h="265" fill="none">
                <a:moveTo>
                  <a:pt x="186" y="0"/>
                </a:moveTo>
                <a:lnTo>
                  <a:pt x="318" y="132"/>
                </a:lnTo>
                <a:moveTo>
                  <a:pt x="318" y="132"/>
                </a:moveTo>
                <a:lnTo>
                  <a:pt x="186" y="265"/>
                </a:lnTo>
                <a:moveTo>
                  <a:pt x="318" y="132"/>
                </a:moveTo>
                <a:lnTo>
                  <a:pt x="0" y="132"/>
                </a:ln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图片 132"/>
          <p:cNvPicPr/>
          <p:nvPr/>
        </p:nvPicPr>
        <p:blipFill>
          <a:blip r:embed="rId5"/>
          <a:stretch/>
        </p:blipFill>
        <p:spPr>
          <a:xfrm>
            <a:off x="3362400" y="2276640"/>
            <a:ext cx="1828440" cy="78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文本框 133"/>
          <p:cNvSpPr txBox="1"/>
          <p:nvPr/>
        </p:nvSpPr>
        <p:spPr>
          <a:xfrm>
            <a:off x="971640" y="3106800"/>
            <a:ext cx="119988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Image Classification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4095720" y="2464560"/>
            <a:ext cx="3679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CNN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6" name="图片 135"/>
          <p:cNvPicPr/>
          <p:nvPr/>
        </p:nvPicPr>
        <p:blipFill>
          <a:blip r:embed="rId5"/>
          <a:stretch/>
        </p:blipFill>
        <p:spPr>
          <a:xfrm>
            <a:off x="6362640" y="2276640"/>
            <a:ext cx="1828440" cy="78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文本框 136"/>
          <p:cNvSpPr txBox="1"/>
          <p:nvPr/>
        </p:nvSpPr>
        <p:spPr>
          <a:xfrm>
            <a:off x="3819600" y="2745000"/>
            <a:ext cx="9601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基础卷积神经网络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6981840" y="2464560"/>
            <a:ext cx="5724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ResNet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9" name="图片 138"/>
          <p:cNvPicPr/>
          <p:nvPr/>
        </p:nvPicPr>
        <p:blipFill>
          <a:blip r:embed="rId6"/>
          <a:stretch/>
        </p:blipFill>
        <p:spPr>
          <a:xfrm>
            <a:off x="9313560" y="2266920"/>
            <a:ext cx="2079720" cy="79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文本框 139"/>
          <p:cNvSpPr txBox="1"/>
          <p:nvPr/>
        </p:nvSpPr>
        <p:spPr>
          <a:xfrm>
            <a:off x="6767640" y="2745000"/>
            <a:ext cx="11401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残差网络 </a:t>
            </a: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/ </a:t>
            </a:r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深层优化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9518400" y="2454480"/>
            <a:ext cx="169200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1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Vision Transformer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2" name="图片 141"/>
          <p:cNvPicPr/>
          <p:nvPr/>
        </p:nvPicPr>
        <p:blipFill>
          <a:blip r:embed="rId7"/>
          <a:stretch/>
        </p:blipFill>
        <p:spPr>
          <a:xfrm>
            <a:off x="11313720" y="2187000"/>
            <a:ext cx="159480" cy="15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图片 142"/>
          <p:cNvPicPr/>
          <p:nvPr/>
        </p:nvPicPr>
        <p:blipFill>
          <a:blip r:embed="rId8"/>
          <a:stretch/>
        </p:blipFill>
        <p:spPr>
          <a:xfrm>
            <a:off x="380880" y="4038480"/>
            <a:ext cx="22856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任意形状 143"/>
          <p:cNvSpPr/>
          <p:nvPr/>
        </p:nvSpPr>
        <p:spPr>
          <a:xfrm>
            <a:off x="1257120" y="4628880"/>
            <a:ext cx="533880" cy="533880"/>
          </a:xfrm>
          <a:custGeom>
            <a:avLst/>
            <a:gdLst/>
            <a:ahLst/>
            <a:cxnLst/>
            <a:rect l="0" t="0" r="r" b="b"/>
            <a:pathLst>
              <a:path w="1483" h="1483">
                <a:moveTo>
                  <a:pt x="1483" y="741"/>
                </a:moveTo>
                <a:cubicBezTo>
                  <a:pt x="1483" y="765"/>
                  <a:pt x="1481" y="790"/>
                  <a:pt x="1479" y="814"/>
                </a:cubicBezTo>
                <a:cubicBezTo>
                  <a:pt x="1477" y="838"/>
                  <a:pt x="1473" y="862"/>
                  <a:pt x="1468" y="886"/>
                </a:cubicBezTo>
                <a:cubicBezTo>
                  <a:pt x="1464" y="909"/>
                  <a:pt x="1458" y="933"/>
                  <a:pt x="1451" y="956"/>
                </a:cubicBezTo>
                <a:cubicBezTo>
                  <a:pt x="1444" y="979"/>
                  <a:pt x="1436" y="1002"/>
                  <a:pt x="1426" y="1025"/>
                </a:cubicBezTo>
                <a:cubicBezTo>
                  <a:pt x="1417" y="1047"/>
                  <a:pt x="1407" y="1069"/>
                  <a:pt x="1395" y="1090"/>
                </a:cubicBezTo>
                <a:cubicBezTo>
                  <a:pt x="1384" y="1112"/>
                  <a:pt x="1371" y="1132"/>
                  <a:pt x="1358" y="1153"/>
                </a:cubicBezTo>
                <a:cubicBezTo>
                  <a:pt x="1344" y="1173"/>
                  <a:pt x="1330" y="1192"/>
                  <a:pt x="1315" y="1211"/>
                </a:cubicBezTo>
                <a:cubicBezTo>
                  <a:pt x="1299" y="1231"/>
                  <a:pt x="1283" y="1249"/>
                  <a:pt x="1266" y="1266"/>
                </a:cubicBezTo>
                <a:cubicBezTo>
                  <a:pt x="1249" y="1283"/>
                  <a:pt x="1231" y="1299"/>
                  <a:pt x="1212" y="1315"/>
                </a:cubicBezTo>
                <a:cubicBezTo>
                  <a:pt x="1193" y="1330"/>
                  <a:pt x="1174" y="1345"/>
                  <a:pt x="1153" y="1358"/>
                </a:cubicBezTo>
                <a:cubicBezTo>
                  <a:pt x="1133" y="1372"/>
                  <a:pt x="1112" y="1384"/>
                  <a:pt x="1091" y="1395"/>
                </a:cubicBezTo>
                <a:cubicBezTo>
                  <a:pt x="1070" y="1407"/>
                  <a:pt x="1048" y="1417"/>
                  <a:pt x="1025" y="1427"/>
                </a:cubicBezTo>
                <a:cubicBezTo>
                  <a:pt x="1003" y="1436"/>
                  <a:pt x="980" y="1444"/>
                  <a:pt x="957" y="1451"/>
                </a:cubicBezTo>
                <a:cubicBezTo>
                  <a:pt x="934" y="1458"/>
                  <a:pt x="910" y="1464"/>
                  <a:pt x="886" y="1469"/>
                </a:cubicBezTo>
                <a:cubicBezTo>
                  <a:pt x="863" y="1473"/>
                  <a:pt x="839" y="1477"/>
                  <a:pt x="814" y="1479"/>
                </a:cubicBezTo>
                <a:cubicBezTo>
                  <a:pt x="790" y="1482"/>
                  <a:pt x="766" y="1483"/>
                  <a:pt x="742" y="1483"/>
                </a:cubicBezTo>
                <a:cubicBezTo>
                  <a:pt x="718" y="1483"/>
                  <a:pt x="693" y="1482"/>
                  <a:pt x="669" y="1479"/>
                </a:cubicBezTo>
                <a:cubicBezTo>
                  <a:pt x="645" y="1477"/>
                  <a:pt x="621" y="1473"/>
                  <a:pt x="597" y="1469"/>
                </a:cubicBezTo>
                <a:cubicBezTo>
                  <a:pt x="574" y="1464"/>
                  <a:pt x="550" y="1458"/>
                  <a:pt x="527" y="1451"/>
                </a:cubicBezTo>
                <a:cubicBezTo>
                  <a:pt x="504" y="1444"/>
                  <a:pt x="481" y="1436"/>
                  <a:pt x="458" y="1427"/>
                </a:cubicBezTo>
                <a:cubicBezTo>
                  <a:pt x="436" y="1417"/>
                  <a:pt x="414" y="1407"/>
                  <a:pt x="393" y="1395"/>
                </a:cubicBezTo>
                <a:cubicBezTo>
                  <a:pt x="371" y="1384"/>
                  <a:pt x="350" y="1372"/>
                  <a:pt x="330" y="1358"/>
                </a:cubicBezTo>
                <a:cubicBezTo>
                  <a:pt x="310" y="1345"/>
                  <a:pt x="291" y="1330"/>
                  <a:pt x="272" y="1315"/>
                </a:cubicBezTo>
                <a:cubicBezTo>
                  <a:pt x="253" y="1299"/>
                  <a:pt x="235" y="1283"/>
                  <a:pt x="218" y="1266"/>
                </a:cubicBezTo>
                <a:cubicBezTo>
                  <a:pt x="200" y="1249"/>
                  <a:pt x="184" y="1231"/>
                  <a:pt x="168" y="1211"/>
                </a:cubicBezTo>
                <a:cubicBezTo>
                  <a:pt x="153" y="1192"/>
                  <a:pt x="138" y="1173"/>
                  <a:pt x="125" y="1153"/>
                </a:cubicBezTo>
                <a:cubicBezTo>
                  <a:pt x="111" y="1132"/>
                  <a:pt x="99" y="1112"/>
                  <a:pt x="87" y="1090"/>
                </a:cubicBezTo>
                <a:cubicBezTo>
                  <a:pt x="76" y="1069"/>
                  <a:pt x="66" y="1047"/>
                  <a:pt x="56" y="1025"/>
                </a:cubicBezTo>
                <a:cubicBezTo>
                  <a:pt x="47" y="1002"/>
                  <a:pt x="39" y="979"/>
                  <a:pt x="32" y="956"/>
                </a:cubicBezTo>
                <a:cubicBezTo>
                  <a:pt x="25" y="933"/>
                  <a:pt x="19" y="909"/>
                  <a:pt x="14" y="886"/>
                </a:cubicBezTo>
                <a:cubicBezTo>
                  <a:pt x="10" y="862"/>
                  <a:pt x="6" y="838"/>
                  <a:pt x="4" y="814"/>
                </a:cubicBezTo>
                <a:cubicBezTo>
                  <a:pt x="1" y="790"/>
                  <a:pt x="0" y="765"/>
                  <a:pt x="0" y="741"/>
                </a:cubicBezTo>
                <a:cubicBezTo>
                  <a:pt x="0" y="717"/>
                  <a:pt x="1" y="693"/>
                  <a:pt x="4" y="668"/>
                </a:cubicBezTo>
                <a:cubicBezTo>
                  <a:pt x="6" y="644"/>
                  <a:pt x="10" y="620"/>
                  <a:pt x="14" y="597"/>
                </a:cubicBezTo>
                <a:cubicBezTo>
                  <a:pt x="19" y="573"/>
                  <a:pt x="25" y="549"/>
                  <a:pt x="32" y="526"/>
                </a:cubicBezTo>
                <a:cubicBezTo>
                  <a:pt x="39" y="503"/>
                  <a:pt x="47" y="480"/>
                  <a:pt x="56" y="458"/>
                </a:cubicBezTo>
                <a:cubicBezTo>
                  <a:pt x="66" y="435"/>
                  <a:pt x="76" y="413"/>
                  <a:pt x="87" y="392"/>
                </a:cubicBezTo>
                <a:cubicBezTo>
                  <a:pt x="99" y="370"/>
                  <a:pt x="111" y="350"/>
                  <a:pt x="125" y="329"/>
                </a:cubicBezTo>
                <a:cubicBezTo>
                  <a:pt x="138" y="309"/>
                  <a:pt x="153" y="290"/>
                  <a:pt x="168" y="271"/>
                </a:cubicBezTo>
                <a:cubicBezTo>
                  <a:pt x="184" y="252"/>
                  <a:pt x="200" y="234"/>
                  <a:pt x="218" y="217"/>
                </a:cubicBezTo>
                <a:cubicBezTo>
                  <a:pt x="235" y="200"/>
                  <a:pt x="253" y="184"/>
                  <a:pt x="272" y="168"/>
                </a:cubicBezTo>
                <a:cubicBezTo>
                  <a:pt x="291" y="153"/>
                  <a:pt x="310" y="139"/>
                  <a:pt x="330" y="125"/>
                </a:cubicBezTo>
                <a:cubicBezTo>
                  <a:pt x="350" y="112"/>
                  <a:pt x="371" y="99"/>
                  <a:pt x="393" y="88"/>
                </a:cubicBezTo>
                <a:cubicBezTo>
                  <a:pt x="414" y="76"/>
                  <a:pt x="436" y="66"/>
                  <a:pt x="458" y="57"/>
                </a:cubicBezTo>
                <a:cubicBezTo>
                  <a:pt x="481" y="47"/>
                  <a:pt x="504" y="39"/>
                  <a:pt x="527" y="32"/>
                </a:cubicBezTo>
                <a:cubicBezTo>
                  <a:pt x="550" y="25"/>
                  <a:pt x="574" y="19"/>
                  <a:pt x="597" y="14"/>
                </a:cubicBezTo>
                <a:cubicBezTo>
                  <a:pt x="621" y="10"/>
                  <a:pt x="645" y="6"/>
                  <a:pt x="669" y="4"/>
                </a:cubicBezTo>
                <a:cubicBezTo>
                  <a:pt x="693" y="1"/>
                  <a:pt x="718" y="0"/>
                  <a:pt x="742" y="0"/>
                </a:cubicBezTo>
                <a:cubicBezTo>
                  <a:pt x="766" y="0"/>
                  <a:pt x="790" y="1"/>
                  <a:pt x="814" y="4"/>
                </a:cubicBezTo>
                <a:cubicBezTo>
                  <a:pt x="839" y="6"/>
                  <a:pt x="863" y="10"/>
                  <a:pt x="886" y="14"/>
                </a:cubicBezTo>
                <a:cubicBezTo>
                  <a:pt x="910" y="19"/>
                  <a:pt x="934" y="25"/>
                  <a:pt x="957" y="32"/>
                </a:cubicBezTo>
                <a:cubicBezTo>
                  <a:pt x="980" y="39"/>
                  <a:pt x="1003" y="47"/>
                  <a:pt x="1025" y="57"/>
                </a:cubicBezTo>
                <a:cubicBezTo>
                  <a:pt x="1048" y="66"/>
                  <a:pt x="1070" y="76"/>
                  <a:pt x="1091" y="88"/>
                </a:cubicBezTo>
                <a:cubicBezTo>
                  <a:pt x="1112" y="99"/>
                  <a:pt x="1133" y="112"/>
                  <a:pt x="1153" y="125"/>
                </a:cubicBezTo>
                <a:cubicBezTo>
                  <a:pt x="1174" y="139"/>
                  <a:pt x="1193" y="153"/>
                  <a:pt x="1212" y="168"/>
                </a:cubicBezTo>
                <a:cubicBezTo>
                  <a:pt x="1231" y="184"/>
                  <a:pt x="1249" y="200"/>
                  <a:pt x="1266" y="217"/>
                </a:cubicBezTo>
                <a:cubicBezTo>
                  <a:pt x="1283" y="234"/>
                  <a:pt x="1299" y="252"/>
                  <a:pt x="1315" y="271"/>
                </a:cubicBezTo>
                <a:cubicBezTo>
                  <a:pt x="1330" y="290"/>
                  <a:pt x="1344" y="309"/>
                  <a:pt x="1358" y="329"/>
                </a:cubicBezTo>
                <a:cubicBezTo>
                  <a:pt x="1371" y="350"/>
                  <a:pt x="1384" y="370"/>
                  <a:pt x="1395" y="392"/>
                </a:cubicBezTo>
                <a:cubicBezTo>
                  <a:pt x="1407" y="413"/>
                  <a:pt x="1417" y="435"/>
                  <a:pt x="1426" y="458"/>
                </a:cubicBezTo>
                <a:cubicBezTo>
                  <a:pt x="1436" y="480"/>
                  <a:pt x="1444" y="503"/>
                  <a:pt x="1451" y="526"/>
                </a:cubicBezTo>
                <a:cubicBezTo>
                  <a:pt x="1458" y="549"/>
                  <a:pt x="1464" y="573"/>
                  <a:pt x="1468" y="597"/>
                </a:cubicBezTo>
                <a:cubicBezTo>
                  <a:pt x="1473" y="620"/>
                  <a:pt x="1477" y="644"/>
                  <a:pt x="1479" y="668"/>
                </a:cubicBezTo>
                <a:cubicBezTo>
                  <a:pt x="1481" y="693"/>
                  <a:pt x="1483" y="717"/>
                  <a:pt x="1483" y="741"/>
                </a:cubicBezTo>
                <a:close/>
              </a:path>
            </a:pathLst>
          </a:custGeom>
          <a:solidFill>
            <a:srgbClr val="FFF3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任意形状 144"/>
          <p:cNvSpPr/>
          <p:nvPr/>
        </p:nvSpPr>
        <p:spPr>
          <a:xfrm>
            <a:off x="1422360" y="4794120"/>
            <a:ext cx="203400" cy="203400"/>
          </a:xfrm>
          <a:custGeom>
            <a:avLst/>
            <a:gdLst/>
            <a:ahLst/>
            <a:cxnLst/>
            <a:rect l="0" t="0" r="r" b="b"/>
            <a:pathLst>
              <a:path w="565" h="565" fill="none">
                <a:moveTo>
                  <a:pt x="0" y="35"/>
                </a:moveTo>
                <a:cubicBezTo>
                  <a:pt x="0" y="30"/>
                  <a:pt x="1" y="26"/>
                  <a:pt x="2" y="22"/>
                </a:cubicBezTo>
                <a:cubicBezTo>
                  <a:pt x="4" y="17"/>
                  <a:pt x="7" y="14"/>
                  <a:pt x="10" y="10"/>
                </a:cubicBezTo>
                <a:cubicBezTo>
                  <a:pt x="13" y="7"/>
                  <a:pt x="17" y="4"/>
                  <a:pt x="21" y="3"/>
                </a:cubicBezTo>
                <a:cubicBezTo>
                  <a:pt x="26" y="1"/>
                  <a:pt x="30" y="0"/>
                  <a:pt x="35" y="0"/>
                </a:cubicBezTo>
                <a:lnTo>
                  <a:pt x="530" y="0"/>
                </a:lnTo>
                <a:cubicBezTo>
                  <a:pt x="534" y="0"/>
                  <a:pt x="539" y="1"/>
                  <a:pt x="543" y="3"/>
                </a:cubicBezTo>
                <a:cubicBezTo>
                  <a:pt x="548" y="4"/>
                  <a:pt x="551" y="7"/>
                  <a:pt x="555" y="10"/>
                </a:cubicBezTo>
                <a:cubicBezTo>
                  <a:pt x="558" y="14"/>
                  <a:pt x="561" y="17"/>
                  <a:pt x="562" y="22"/>
                </a:cubicBezTo>
                <a:cubicBezTo>
                  <a:pt x="564" y="26"/>
                  <a:pt x="565" y="30"/>
                  <a:pt x="565" y="35"/>
                </a:cubicBezTo>
                <a:lnTo>
                  <a:pt x="565" y="106"/>
                </a:lnTo>
                <a:cubicBezTo>
                  <a:pt x="565" y="110"/>
                  <a:pt x="564" y="115"/>
                  <a:pt x="562" y="119"/>
                </a:cubicBezTo>
                <a:cubicBezTo>
                  <a:pt x="561" y="124"/>
                  <a:pt x="558" y="127"/>
                  <a:pt x="555" y="131"/>
                </a:cubicBezTo>
                <a:cubicBezTo>
                  <a:pt x="551" y="134"/>
                  <a:pt x="548" y="136"/>
                  <a:pt x="543" y="138"/>
                </a:cubicBezTo>
                <a:cubicBezTo>
                  <a:pt x="539" y="140"/>
                  <a:pt x="534" y="141"/>
                  <a:pt x="530" y="141"/>
                </a:cubicBezTo>
                <a:lnTo>
                  <a:pt x="35" y="141"/>
                </a:lnTo>
                <a:cubicBezTo>
                  <a:pt x="30" y="141"/>
                  <a:pt x="26" y="140"/>
                  <a:pt x="21" y="138"/>
                </a:cubicBezTo>
                <a:cubicBezTo>
                  <a:pt x="17" y="136"/>
                  <a:pt x="13" y="134"/>
                  <a:pt x="10" y="131"/>
                </a:cubicBezTo>
                <a:cubicBezTo>
                  <a:pt x="7" y="127"/>
                  <a:pt x="4" y="124"/>
                  <a:pt x="2" y="119"/>
                </a:cubicBezTo>
                <a:cubicBezTo>
                  <a:pt x="1" y="115"/>
                  <a:pt x="0" y="110"/>
                  <a:pt x="0" y="106"/>
                </a:cubicBezTo>
                <a:lnTo>
                  <a:pt x="0" y="35"/>
                </a:lnTo>
                <a:moveTo>
                  <a:pt x="0" y="317"/>
                </a:moveTo>
                <a:cubicBezTo>
                  <a:pt x="0" y="313"/>
                  <a:pt x="1" y="308"/>
                  <a:pt x="2" y="304"/>
                </a:cubicBezTo>
                <a:cubicBezTo>
                  <a:pt x="4" y="300"/>
                  <a:pt x="7" y="296"/>
                  <a:pt x="10" y="292"/>
                </a:cubicBezTo>
                <a:cubicBezTo>
                  <a:pt x="13" y="289"/>
                  <a:pt x="17" y="287"/>
                  <a:pt x="21" y="285"/>
                </a:cubicBezTo>
                <a:cubicBezTo>
                  <a:pt x="26" y="283"/>
                  <a:pt x="30" y="282"/>
                  <a:pt x="35" y="282"/>
                </a:cubicBezTo>
                <a:lnTo>
                  <a:pt x="247" y="282"/>
                </a:lnTo>
                <a:cubicBezTo>
                  <a:pt x="251" y="282"/>
                  <a:pt x="256" y="283"/>
                  <a:pt x="260" y="285"/>
                </a:cubicBezTo>
                <a:cubicBezTo>
                  <a:pt x="264" y="287"/>
                  <a:pt x="268" y="289"/>
                  <a:pt x="272" y="292"/>
                </a:cubicBezTo>
                <a:cubicBezTo>
                  <a:pt x="275" y="296"/>
                  <a:pt x="277" y="300"/>
                  <a:pt x="280" y="304"/>
                </a:cubicBezTo>
                <a:cubicBezTo>
                  <a:pt x="282" y="308"/>
                  <a:pt x="283" y="313"/>
                  <a:pt x="283" y="317"/>
                </a:cubicBezTo>
                <a:lnTo>
                  <a:pt x="283" y="530"/>
                </a:lnTo>
                <a:cubicBezTo>
                  <a:pt x="283" y="535"/>
                  <a:pt x="282" y="539"/>
                  <a:pt x="280" y="544"/>
                </a:cubicBezTo>
                <a:cubicBezTo>
                  <a:pt x="277" y="548"/>
                  <a:pt x="275" y="552"/>
                  <a:pt x="272" y="555"/>
                </a:cubicBezTo>
                <a:cubicBezTo>
                  <a:pt x="268" y="558"/>
                  <a:pt x="264" y="561"/>
                  <a:pt x="260" y="563"/>
                </a:cubicBezTo>
                <a:cubicBezTo>
                  <a:pt x="256" y="564"/>
                  <a:pt x="251" y="565"/>
                  <a:pt x="247" y="565"/>
                </a:cubicBezTo>
                <a:lnTo>
                  <a:pt x="35" y="565"/>
                </a:lnTo>
                <a:cubicBezTo>
                  <a:pt x="30" y="565"/>
                  <a:pt x="26" y="564"/>
                  <a:pt x="21" y="563"/>
                </a:cubicBezTo>
                <a:cubicBezTo>
                  <a:pt x="17" y="561"/>
                  <a:pt x="13" y="558"/>
                  <a:pt x="10" y="555"/>
                </a:cubicBezTo>
                <a:cubicBezTo>
                  <a:pt x="7" y="552"/>
                  <a:pt x="4" y="548"/>
                  <a:pt x="2" y="544"/>
                </a:cubicBezTo>
                <a:cubicBezTo>
                  <a:pt x="1" y="539"/>
                  <a:pt x="0" y="535"/>
                  <a:pt x="0" y="530"/>
                </a:cubicBezTo>
                <a:lnTo>
                  <a:pt x="0" y="317"/>
                </a:lnTo>
                <a:moveTo>
                  <a:pt x="424" y="317"/>
                </a:moveTo>
                <a:cubicBezTo>
                  <a:pt x="424" y="313"/>
                  <a:pt x="425" y="308"/>
                  <a:pt x="427" y="304"/>
                </a:cubicBezTo>
                <a:cubicBezTo>
                  <a:pt x="428" y="300"/>
                  <a:pt x="431" y="296"/>
                  <a:pt x="434" y="292"/>
                </a:cubicBezTo>
                <a:cubicBezTo>
                  <a:pt x="438" y="289"/>
                  <a:pt x="441" y="287"/>
                  <a:pt x="446" y="285"/>
                </a:cubicBezTo>
                <a:cubicBezTo>
                  <a:pt x="450" y="283"/>
                  <a:pt x="455" y="282"/>
                  <a:pt x="459" y="282"/>
                </a:cubicBezTo>
                <a:lnTo>
                  <a:pt x="530" y="282"/>
                </a:lnTo>
                <a:cubicBezTo>
                  <a:pt x="534" y="282"/>
                  <a:pt x="539" y="283"/>
                  <a:pt x="543" y="285"/>
                </a:cubicBezTo>
                <a:cubicBezTo>
                  <a:pt x="548" y="287"/>
                  <a:pt x="551" y="289"/>
                  <a:pt x="555" y="292"/>
                </a:cubicBezTo>
                <a:cubicBezTo>
                  <a:pt x="558" y="296"/>
                  <a:pt x="561" y="300"/>
                  <a:pt x="562" y="304"/>
                </a:cubicBezTo>
                <a:cubicBezTo>
                  <a:pt x="564" y="308"/>
                  <a:pt x="565" y="313"/>
                  <a:pt x="565" y="317"/>
                </a:cubicBezTo>
                <a:lnTo>
                  <a:pt x="565" y="530"/>
                </a:lnTo>
                <a:cubicBezTo>
                  <a:pt x="565" y="535"/>
                  <a:pt x="564" y="539"/>
                  <a:pt x="562" y="544"/>
                </a:cubicBezTo>
                <a:cubicBezTo>
                  <a:pt x="561" y="548"/>
                  <a:pt x="558" y="552"/>
                  <a:pt x="555" y="555"/>
                </a:cubicBezTo>
                <a:cubicBezTo>
                  <a:pt x="551" y="558"/>
                  <a:pt x="548" y="561"/>
                  <a:pt x="543" y="563"/>
                </a:cubicBezTo>
                <a:cubicBezTo>
                  <a:pt x="539" y="564"/>
                  <a:pt x="534" y="565"/>
                  <a:pt x="530" y="565"/>
                </a:cubicBezTo>
                <a:lnTo>
                  <a:pt x="459" y="565"/>
                </a:lnTo>
                <a:cubicBezTo>
                  <a:pt x="455" y="565"/>
                  <a:pt x="450" y="564"/>
                  <a:pt x="446" y="563"/>
                </a:cubicBezTo>
                <a:cubicBezTo>
                  <a:pt x="441" y="561"/>
                  <a:pt x="438" y="558"/>
                  <a:pt x="434" y="555"/>
                </a:cubicBezTo>
                <a:cubicBezTo>
                  <a:pt x="431" y="552"/>
                  <a:pt x="428" y="548"/>
                  <a:pt x="427" y="544"/>
                </a:cubicBezTo>
                <a:cubicBezTo>
                  <a:pt x="425" y="539"/>
                  <a:pt x="424" y="535"/>
                  <a:pt x="424" y="530"/>
                </a:cubicBezTo>
                <a:lnTo>
                  <a:pt x="424" y="317"/>
                </a:lnTo>
              </a:path>
            </a:pathLst>
          </a:custGeom>
          <a:ln w="25200" cap="rnd">
            <a:solidFill>
              <a:srgbClr val="F99600"/>
            </a:solidFill>
            <a:round/>
          </a:ln>
        </p:spPr>
        <p:txBody>
          <a:bodyPr lIns="12600" tIns="12600" rIns="12600" bIns="126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9933480" y="2748600"/>
            <a:ext cx="8773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DBEAFE"/>
                </a:solidFill>
                <a:effectLst/>
                <a:uFillTx/>
                <a:latin typeface="NotoSansSC"/>
                <a:ea typeface="NotoSansSC"/>
              </a:rPr>
              <a:t>注意力机制主导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1143000" y="5320800"/>
            <a:ext cx="79992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图像分割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" name="图片 147"/>
          <p:cNvPicPr/>
          <p:nvPr/>
        </p:nvPicPr>
        <p:blipFill>
          <a:blip r:embed="rId9"/>
          <a:stretch/>
        </p:blipFill>
        <p:spPr>
          <a:xfrm>
            <a:off x="2895480" y="4038480"/>
            <a:ext cx="8915040" cy="228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任意形状 148"/>
          <p:cNvSpPr/>
          <p:nvPr/>
        </p:nvSpPr>
        <p:spPr>
          <a:xfrm>
            <a:off x="3352680" y="5171760"/>
            <a:ext cx="8001360" cy="19440"/>
          </a:xfrm>
          <a:custGeom>
            <a:avLst/>
            <a:gdLst/>
            <a:ahLst/>
            <a:cxnLst/>
            <a:rect l="0" t="0" r="r" b="b"/>
            <a:pathLst>
              <a:path w="22226" h="54">
                <a:moveTo>
                  <a:pt x="0" y="0"/>
                </a:moveTo>
                <a:lnTo>
                  <a:pt x="22226" y="0"/>
                </a:lnTo>
                <a:lnTo>
                  <a:pt x="2222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任意形状 149"/>
          <p:cNvSpPr/>
          <p:nvPr/>
        </p:nvSpPr>
        <p:spPr>
          <a:xfrm>
            <a:off x="5895720" y="5133960"/>
            <a:ext cx="114840" cy="95400"/>
          </a:xfrm>
          <a:custGeom>
            <a:avLst/>
            <a:gdLst/>
            <a:ahLst/>
            <a:cxnLst/>
            <a:rect l="0" t="0" r="r" b="b"/>
            <a:pathLst>
              <a:path w="319" h="265" fill="none">
                <a:moveTo>
                  <a:pt x="185" y="0"/>
                </a:moveTo>
                <a:lnTo>
                  <a:pt x="319" y="133"/>
                </a:lnTo>
                <a:moveTo>
                  <a:pt x="319" y="133"/>
                </a:moveTo>
                <a:lnTo>
                  <a:pt x="185" y="265"/>
                </a:lnTo>
                <a:moveTo>
                  <a:pt x="319" y="133"/>
                </a:moveTo>
                <a:lnTo>
                  <a:pt x="0" y="133"/>
                </a:lnTo>
              </a:path>
            </a:pathLst>
          </a:custGeom>
          <a:ln w="18720" cap="rnd">
            <a:solidFill>
              <a:srgbClr val="F99600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任意形状 150"/>
          <p:cNvSpPr/>
          <p:nvPr/>
        </p:nvSpPr>
        <p:spPr>
          <a:xfrm>
            <a:off x="8839080" y="5133960"/>
            <a:ext cx="114480" cy="95400"/>
          </a:xfrm>
          <a:custGeom>
            <a:avLst/>
            <a:gdLst/>
            <a:ahLst/>
            <a:cxnLst/>
            <a:rect l="0" t="0" r="r" b="b"/>
            <a:pathLst>
              <a:path w="318" h="265" fill="none">
                <a:moveTo>
                  <a:pt x="186" y="0"/>
                </a:moveTo>
                <a:lnTo>
                  <a:pt x="318" y="133"/>
                </a:lnTo>
                <a:moveTo>
                  <a:pt x="318" y="133"/>
                </a:moveTo>
                <a:lnTo>
                  <a:pt x="186" y="265"/>
                </a:lnTo>
                <a:moveTo>
                  <a:pt x="318" y="133"/>
                </a:moveTo>
                <a:lnTo>
                  <a:pt x="0" y="133"/>
                </a:lnTo>
              </a:path>
            </a:pathLst>
          </a:custGeom>
          <a:ln w="18720" cap="rnd">
            <a:solidFill>
              <a:srgbClr val="F99600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" name="图片 151"/>
          <p:cNvPicPr/>
          <p:nvPr/>
        </p:nvPicPr>
        <p:blipFill>
          <a:blip r:embed="rId10"/>
          <a:stretch/>
        </p:blipFill>
        <p:spPr>
          <a:xfrm>
            <a:off x="3362400" y="4791240"/>
            <a:ext cx="1828440" cy="78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3" name="文本框 152"/>
          <p:cNvSpPr txBox="1"/>
          <p:nvPr/>
        </p:nvSpPr>
        <p:spPr>
          <a:xfrm>
            <a:off x="957240" y="5621400"/>
            <a:ext cx="113040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Image Segmentation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4105440" y="4979160"/>
            <a:ext cx="3268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FCN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图片 154"/>
          <p:cNvPicPr/>
          <p:nvPr/>
        </p:nvPicPr>
        <p:blipFill>
          <a:blip r:embed="rId5"/>
          <a:stretch/>
        </p:blipFill>
        <p:spPr>
          <a:xfrm>
            <a:off x="6362640" y="4791240"/>
            <a:ext cx="1828440" cy="780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文本框 155"/>
          <p:cNvSpPr txBox="1"/>
          <p:nvPr/>
        </p:nvSpPr>
        <p:spPr>
          <a:xfrm>
            <a:off x="3990960" y="5259600"/>
            <a:ext cx="59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全卷积网络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文本框 156"/>
          <p:cNvSpPr txBox="1"/>
          <p:nvPr/>
        </p:nvSpPr>
        <p:spPr>
          <a:xfrm>
            <a:off x="7034040" y="4979160"/>
            <a:ext cx="468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U-Net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8" name="图片 157"/>
          <p:cNvPicPr/>
          <p:nvPr/>
        </p:nvPicPr>
        <p:blipFill>
          <a:blip r:embed="rId11"/>
          <a:stretch/>
        </p:blipFill>
        <p:spPr>
          <a:xfrm>
            <a:off x="9313560" y="4781520"/>
            <a:ext cx="2079720" cy="79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文本框 158"/>
          <p:cNvSpPr txBox="1"/>
          <p:nvPr/>
        </p:nvSpPr>
        <p:spPr>
          <a:xfrm>
            <a:off x="6800760" y="5259600"/>
            <a:ext cx="101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编码器</a:t>
            </a: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-</a:t>
            </a:r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解码器结构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9653760" y="4969080"/>
            <a:ext cx="141012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1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Attention U-Net</a:t>
            </a:r>
            <a:endParaRPr lang="en-US" sz="14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图片 160"/>
          <p:cNvPicPr/>
          <p:nvPr/>
        </p:nvPicPr>
        <p:blipFill>
          <a:blip r:embed="rId12"/>
          <a:stretch/>
        </p:blipFill>
        <p:spPr>
          <a:xfrm>
            <a:off x="11313720" y="4701600"/>
            <a:ext cx="159480" cy="159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图片 161"/>
          <p:cNvPicPr/>
          <p:nvPr/>
        </p:nvPicPr>
        <p:blipFill>
          <a:blip r:embed="rId13"/>
          <a:stretch/>
        </p:blipFill>
        <p:spPr>
          <a:xfrm>
            <a:off x="9753480" y="0"/>
            <a:ext cx="2437920" cy="243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图片 162"/>
          <p:cNvPicPr/>
          <p:nvPr/>
        </p:nvPicPr>
        <p:blipFill>
          <a:blip r:embed="rId14"/>
          <a:stretch/>
        </p:blipFill>
        <p:spPr>
          <a:xfrm>
            <a:off x="0" y="5029200"/>
            <a:ext cx="182844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任意形状 163"/>
          <p:cNvSpPr/>
          <p:nvPr/>
        </p:nvSpPr>
        <p:spPr>
          <a:xfrm>
            <a:off x="380880" y="399960"/>
            <a:ext cx="57600" cy="304920"/>
          </a:xfrm>
          <a:custGeom>
            <a:avLst/>
            <a:gdLst/>
            <a:ahLst/>
            <a:cxnLst/>
            <a:rect l="0" t="0" r="r" b="b"/>
            <a:pathLst>
              <a:path w="160" h="847">
                <a:moveTo>
                  <a:pt x="0" y="768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9" y="16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9"/>
                  <a:pt x="160" y="79"/>
                </a:cubicBezTo>
                <a:lnTo>
                  <a:pt x="160" y="768"/>
                </a:lnTo>
                <a:cubicBezTo>
                  <a:pt x="160" y="779"/>
                  <a:pt x="158" y="789"/>
                  <a:pt x="154" y="798"/>
                </a:cubicBezTo>
                <a:cubicBezTo>
                  <a:pt x="150" y="808"/>
                  <a:pt x="144" y="817"/>
                  <a:pt x="136" y="824"/>
                </a:cubicBezTo>
                <a:cubicBezTo>
                  <a:pt x="129" y="832"/>
                  <a:pt x="119" y="837"/>
                  <a:pt x="110" y="841"/>
                </a:cubicBezTo>
                <a:cubicBezTo>
                  <a:pt x="100" y="845"/>
                  <a:pt x="90" y="847"/>
                  <a:pt x="79" y="847"/>
                </a:cubicBezTo>
                <a:cubicBezTo>
                  <a:pt x="69" y="847"/>
                  <a:pt x="59" y="845"/>
                  <a:pt x="49" y="841"/>
                </a:cubicBezTo>
                <a:cubicBezTo>
                  <a:pt x="39" y="837"/>
                  <a:pt x="31" y="832"/>
                  <a:pt x="23" y="824"/>
                </a:cubicBezTo>
                <a:cubicBezTo>
                  <a:pt x="16" y="817"/>
                  <a:pt x="10" y="808"/>
                  <a:pt x="6" y="798"/>
                </a:cubicBezTo>
                <a:cubicBezTo>
                  <a:pt x="2" y="789"/>
                  <a:pt x="0" y="779"/>
                  <a:pt x="0" y="768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文本框 164"/>
          <p:cNvSpPr txBox="1"/>
          <p:nvPr/>
        </p:nvSpPr>
        <p:spPr>
          <a:xfrm>
            <a:off x="9933480" y="5263200"/>
            <a:ext cx="877320" cy="17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39" b="0" u="none" strike="noStrike">
                <a:solidFill>
                  <a:srgbClr val="FFEDD5"/>
                </a:solidFill>
                <a:effectLst/>
                <a:uFillTx/>
                <a:latin typeface="NotoSansSC"/>
                <a:ea typeface="NotoSansSC"/>
              </a:rPr>
              <a:t>注意力门控机制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文本框 165"/>
          <p:cNvSpPr txBox="1"/>
          <p:nvPr/>
        </p:nvSpPr>
        <p:spPr>
          <a:xfrm>
            <a:off x="552600" y="370800"/>
            <a:ext cx="2100240" cy="415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2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国内外研究现状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7" name="图片 166"/>
          <p:cNvPicPr/>
          <p:nvPr/>
        </p:nvPicPr>
        <p:blipFill>
          <a:blip r:embed="rId15"/>
          <a:stretch/>
        </p:blipFill>
        <p:spPr>
          <a:xfrm>
            <a:off x="8001000" y="533520"/>
            <a:ext cx="3809520" cy="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文本框 167"/>
          <p:cNvSpPr txBox="1"/>
          <p:nvPr/>
        </p:nvSpPr>
        <p:spPr>
          <a:xfrm>
            <a:off x="571320" y="826200"/>
            <a:ext cx="3060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关键技术演进脉络与主流算法发展路径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任意形状 16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0" name="图片 169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图片 170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图片 171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" name="任意形状 172"/>
          <p:cNvSpPr/>
          <p:nvPr/>
        </p:nvSpPr>
        <p:spPr>
          <a:xfrm>
            <a:off x="456840" y="456840"/>
            <a:ext cx="76680" cy="381600"/>
          </a:xfrm>
          <a:custGeom>
            <a:avLst/>
            <a:gdLst/>
            <a:ahLst/>
            <a:cxnLst/>
            <a:rect l="0" t="0" r="r" b="b"/>
            <a:pathLst>
              <a:path w="213" h="1060">
                <a:moveTo>
                  <a:pt x="0" y="954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lnTo>
                  <a:pt x="213" y="954"/>
                </a:lnTo>
                <a:cubicBezTo>
                  <a:pt x="213" y="968"/>
                  <a:pt x="210" y="982"/>
                  <a:pt x="205" y="995"/>
                </a:cubicBezTo>
                <a:cubicBezTo>
                  <a:pt x="200" y="1007"/>
                  <a:pt x="192" y="1019"/>
                  <a:pt x="182" y="1029"/>
                </a:cubicBezTo>
                <a:cubicBezTo>
                  <a:pt x="172" y="1039"/>
                  <a:pt x="161" y="1046"/>
                  <a:pt x="148" y="1052"/>
                </a:cubicBezTo>
                <a:cubicBezTo>
                  <a:pt x="135" y="1057"/>
                  <a:pt x="121" y="1060"/>
                  <a:pt x="107" y="1060"/>
                </a:cubicBezTo>
                <a:cubicBezTo>
                  <a:pt x="92" y="1060"/>
                  <a:pt x="79" y="1057"/>
                  <a:pt x="66" y="1052"/>
                </a:cubicBezTo>
                <a:cubicBezTo>
                  <a:pt x="53" y="1046"/>
                  <a:pt x="41" y="1039"/>
                  <a:pt x="31" y="1029"/>
                </a:cubicBezTo>
                <a:cubicBezTo>
                  <a:pt x="22" y="1019"/>
                  <a:pt x="14" y="1007"/>
                  <a:pt x="9" y="995"/>
                </a:cubicBezTo>
                <a:cubicBezTo>
                  <a:pt x="3" y="982"/>
                  <a:pt x="0" y="968"/>
                  <a:pt x="0" y="954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文本框 173"/>
          <p:cNvSpPr txBox="1"/>
          <p:nvPr/>
        </p:nvSpPr>
        <p:spPr>
          <a:xfrm>
            <a:off x="685800" y="395280"/>
            <a:ext cx="1440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研究内容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5" name="图片 174"/>
          <p:cNvPicPr/>
          <p:nvPr/>
        </p:nvPicPr>
        <p:blipFill>
          <a:blip r:embed="rId5"/>
          <a:stretch/>
        </p:blipFill>
        <p:spPr>
          <a:xfrm>
            <a:off x="457200" y="1562040"/>
            <a:ext cx="355248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文本框 175"/>
          <p:cNvSpPr txBox="1"/>
          <p:nvPr/>
        </p:nvSpPr>
        <p:spPr>
          <a:xfrm>
            <a:off x="685800" y="910800"/>
            <a:ext cx="196236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666666"/>
                </a:solidFill>
                <a:effectLst/>
                <a:uFillTx/>
                <a:latin typeface="Roboto"/>
                <a:ea typeface="Roboto"/>
              </a:rPr>
              <a:t>RESEA RCH CO NTENT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77" name="图片 176"/>
          <p:cNvPicPr/>
          <p:nvPr/>
        </p:nvPicPr>
        <p:blipFill>
          <a:blip r:embed="rId6"/>
          <a:stretch/>
        </p:blipFill>
        <p:spPr>
          <a:xfrm>
            <a:off x="457200" y="6362640"/>
            <a:ext cx="353340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" name="图片 177"/>
          <p:cNvPicPr/>
          <p:nvPr/>
        </p:nvPicPr>
        <p:blipFill>
          <a:blip r:embed="rId7"/>
          <a:stretch/>
        </p:blipFill>
        <p:spPr>
          <a:xfrm>
            <a:off x="771480" y="19051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任意形状 178"/>
          <p:cNvSpPr/>
          <p:nvPr/>
        </p:nvSpPr>
        <p:spPr>
          <a:xfrm>
            <a:off x="961920" y="209520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 fill="none">
                <a:moveTo>
                  <a:pt x="0" y="478"/>
                </a:moveTo>
                <a:lnTo>
                  <a:pt x="183" y="296"/>
                </a:lnTo>
                <a:cubicBezTo>
                  <a:pt x="190" y="288"/>
                  <a:pt x="199" y="282"/>
                  <a:pt x="209" y="278"/>
                </a:cubicBezTo>
                <a:cubicBezTo>
                  <a:pt x="218" y="274"/>
                  <a:pt x="228" y="272"/>
                  <a:pt x="239" y="272"/>
                </a:cubicBezTo>
                <a:cubicBezTo>
                  <a:pt x="249" y="272"/>
                  <a:pt x="260" y="274"/>
                  <a:pt x="269" y="278"/>
                </a:cubicBezTo>
                <a:cubicBezTo>
                  <a:pt x="279" y="282"/>
                  <a:pt x="288" y="288"/>
                  <a:pt x="295" y="296"/>
                </a:cubicBezTo>
                <a:lnTo>
                  <a:pt x="477" y="478"/>
                </a:lnTo>
                <a:moveTo>
                  <a:pt x="398" y="398"/>
                </a:moveTo>
                <a:lnTo>
                  <a:pt x="461" y="335"/>
                </a:lnTo>
                <a:cubicBezTo>
                  <a:pt x="468" y="328"/>
                  <a:pt x="477" y="322"/>
                  <a:pt x="486" y="318"/>
                </a:cubicBezTo>
                <a:cubicBezTo>
                  <a:pt x="496" y="314"/>
                  <a:pt x="506" y="312"/>
                  <a:pt x="517" y="312"/>
                </a:cubicBezTo>
                <a:cubicBezTo>
                  <a:pt x="527" y="312"/>
                  <a:pt x="537" y="314"/>
                  <a:pt x="547" y="318"/>
                </a:cubicBezTo>
                <a:cubicBezTo>
                  <a:pt x="557" y="322"/>
                  <a:pt x="565" y="328"/>
                  <a:pt x="573" y="335"/>
                </a:cubicBezTo>
                <a:lnTo>
                  <a:pt x="636" y="398"/>
                </a:lnTo>
                <a:moveTo>
                  <a:pt x="398" y="159"/>
                </a:moveTo>
                <a:moveTo>
                  <a:pt x="79" y="636"/>
                </a:moveTo>
                <a:lnTo>
                  <a:pt x="556" y="636"/>
                </a:lnTo>
                <a:cubicBezTo>
                  <a:pt x="567" y="636"/>
                  <a:pt x="577" y="634"/>
                  <a:pt x="587" y="630"/>
                </a:cubicBezTo>
                <a:cubicBezTo>
                  <a:pt x="597" y="626"/>
                  <a:pt x="605" y="621"/>
                  <a:pt x="613" y="613"/>
                </a:cubicBezTo>
                <a:cubicBezTo>
                  <a:pt x="620" y="606"/>
                  <a:pt x="626" y="597"/>
                  <a:pt x="630" y="587"/>
                </a:cubicBezTo>
                <a:cubicBezTo>
                  <a:pt x="634" y="578"/>
                  <a:pt x="636" y="567"/>
                  <a:pt x="636" y="557"/>
                </a:cubicBezTo>
                <a:lnTo>
                  <a:pt x="636" y="80"/>
                </a:lnTo>
                <a:cubicBezTo>
                  <a:pt x="636" y="69"/>
                  <a:pt x="634" y="59"/>
                  <a:pt x="630" y="49"/>
                </a:cubicBezTo>
                <a:cubicBezTo>
                  <a:pt x="626" y="40"/>
                  <a:pt x="620" y="31"/>
                  <a:pt x="613" y="24"/>
                </a:cubicBezTo>
                <a:cubicBezTo>
                  <a:pt x="605" y="16"/>
                  <a:pt x="597" y="10"/>
                  <a:pt x="587" y="6"/>
                </a:cubicBezTo>
                <a:cubicBezTo>
                  <a:pt x="577" y="2"/>
                  <a:pt x="567" y="0"/>
                  <a:pt x="556" y="0"/>
                </a:cubicBezTo>
                <a:lnTo>
                  <a:pt x="79" y="0"/>
                </a:lnTo>
                <a:cubicBezTo>
                  <a:pt x="69" y="0"/>
                  <a:pt x="59" y="2"/>
                  <a:pt x="49" y="6"/>
                </a:cubicBezTo>
                <a:cubicBezTo>
                  <a:pt x="39" y="10"/>
                  <a:pt x="30" y="16"/>
                  <a:pt x="23" y="24"/>
                </a:cubicBezTo>
                <a:cubicBezTo>
                  <a:pt x="16" y="31"/>
                  <a:pt x="10" y="40"/>
                  <a:pt x="6" y="49"/>
                </a:cubicBezTo>
                <a:cubicBezTo>
                  <a:pt x="2" y="59"/>
                  <a:pt x="0" y="69"/>
                  <a:pt x="0" y="80"/>
                </a:cubicBezTo>
                <a:lnTo>
                  <a:pt x="0" y="557"/>
                </a:lnTo>
                <a:cubicBezTo>
                  <a:pt x="0" y="567"/>
                  <a:pt x="2" y="578"/>
                  <a:pt x="6" y="587"/>
                </a:cubicBezTo>
                <a:cubicBezTo>
                  <a:pt x="10" y="597"/>
                  <a:pt x="16" y="606"/>
                  <a:pt x="23" y="613"/>
                </a:cubicBezTo>
                <a:cubicBezTo>
                  <a:pt x="30" y="621"/>
                  <a:pt x="39" y="626"/>
                  <a:pt x="49" y="630"/>
                </a:cubicBezTo>
                <a:cubicBezTo>
                  <a:pt x="59" y="634"/>
                  <a:pt x="69" y="636"/>
                  <a:pt x="79" y="636"/>
                </a:cubicBezTo>
              </a:path>
            </a:pathLst>
          </a:custGeom>
          <a:ln w="28440" cap="rnd">
            <a:solidFill>
              <a:srgbClr val="1A66C2"/>
            </a:solidFill>
            <a:round/>
          </a:ln>
        </p:spPr>
        <p:txBody>
          <a:bodyPr lIns="14040" tIns="14040" rIns="14040" bIns="140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2774880" y="1435680"/>
            <a:ext cx="1308240" cy="155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0" b="0" u="none" strike="noStrike">
                <a:solidFill>
                  <a:srgbClr val="E6F0FD"/>
                </a:solidFill>
                <a:effectLst/>
                <a:uFillTx/>
                <a:latin typeface="Roboto"/>
                <a:ea typeface="Roboto"/>
              </a:rPr>
              <a:t>01</a:t>
            </a:r>
            <a:endParaRPr lang="en-US" sz="9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文本框 180"/>
          <p:cNvSpPr txBox="1"/>
          <p:nvPr/>
        </p:nvSpPr>
        <p:spPr>
          <a:xfrm>
            <a:off x="771480" y="272736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图像分类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文本框 181"/>
          <p:cNvSpPr txBox="1"/>
          <p:nvPr/>
        </p:nvSpPr>
        <p:spPr>
          <a:xfrm>
            <a:off x="771480" y="3209040"/>
            <a:ext cx="3200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对比 </a:t>
            </a:r>
            <a:r>
              <a:rPr lang="en-US" sz="120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ResNet18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与 </a:t>
            </a:r>
            <a:r>
              <a:rPr lang="en-US" sz="120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Vision Transformer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在医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3" name="图片 182"/>
          <p:cNvPicPr/>
          <p:nvPr/>
        </p:nvPicPr>
        <p:blipFill>
          <a:blip r:embed="rId8"/>
          <a:stretch/>
        </p:blipFill>
        <p:spPr>
          <a:xfrm>
            <a:off x="771480" y="3848040"/>
            <a:ext cx="2923920" cy="5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文本框 183"/>
          <p:cNvSpPr txBox="1"/>
          <p:nvPr/>
        </p:nvSpPr>
        <p:spPr>
          <a:xfrm>
            <a:off x="771480" y="3456720"/>
            <a:ext cx="12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疗影像中的表现。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771480" y="4010400"/>
            <a:ext cx="29404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重点评估不同架构在复杂病理环境下的准确率与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6" name="图片 185"/>
          <p:cNvPicPr/>
          <p:nvPr/>
        </p:nvPicPr>
        <p:blipFill>
          <a:blip r:embed="rId9"/>
          <a:stretch/>
        </p:blipFill>
        <p:spPr>
          <a:xfrm>
            <a:off x="4314960" y="1562040"/>
            <a:ext cx="3561840" cy="483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7" name="文本框 186"/>
          <p:cNvSpPr txBox="1"/>
          <p:nvPr/>
        </p:nvSpPr>
        <p:spPr>
          <a:xfrm>
            <a:off x="771480" y="4200840"/>
            <a:ext cx="7963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鲁棒性差异。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88" name="图片 187"/>
          <p:cNvPicPr/>
          <p:nvPr/>
        </p:nvPicPr>
        <p:blipFill>
          <a:blip r:embed="rId10"/>
          <a:stretch/>
        </p:blipFill>
        <p:spPr>
          <a:xfrm>
            <a:off x="4314960" y="6362640"/>
            <a:ext cx="354276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图片 188"/>
          <p:cNvPicPr/>
          <p:nvPr/>
        </p:nvPicPr>
        <p:blipFill>
          <a:blip r:embed="rId11"/>
          <a:stretch/>
        </p:blipFill>
        <p:spPr>
          <a:xfrm>
            <a:off x="4629240" y="19051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任意形状 189"/>
          <p:cNvSpPr/>
          <p:nvPr/>
        </p:nvSpPr>
        <p:spPr>
          <a:xfrm>
            <a:off x="4819320" y="2081160"/>
            <a:ext cx="228960" cy="257400"/>
          </a:xfrm>
          <a:custGeom>
            <a:avLst/>
            <a:gdLst/>
            <a:ahLst/>
            <a:cxnLst/>
            <a:rect l="0" t="0" r="r" b="b"/>
            <a:pathLst>
              <a:path w="636" h="715" fill="none">
                <a:moveTo>
                  <a:pt x="359" y="277"/>
                </a:moveTo>
                <a:lnTo>
                  <a:pt x="359" y="0"/>
                </a:lnTo>
                <a:lnTo>
                  <a:pt x="0" y="437"/>
                </a:lnTo>
                <a:lnTo>
                  <a:pt x="279" y="437"/>
                </a:lnTo>
                <a:lnTo>
                  <a:pt x="279" y="715"/>
                </a:lnTo>
                <a:lnTo>
                  <a:pt x="636" y="277"/>
                </a:lnTo>
                <a:lnTo>
                  <a:pt x="359" y="277"/>
                </a:lnTo>
              </a:path>
            </a:pathLst>
          </a:custGeom>
          <a:ln w="28440" cap="rnd">
            <a:solidFill>
              <a:srgbClr val="F99600"/>
            </a:solidFill>
            <a:round/>
          </a:ln>
        </p:spPr>
        <p:txBody>
          <a:bodyPr lIns="14040" tIns="14040" rIns="14040" bIns="140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文本框 190"/>
          <p:cNvSpPr txBox="1"/>
          <p:nvPr/>
        </p:nvSpPr>
        <p:spPr>
          <a:xfrm>
            <a:off x="6635520" y="1435680"/>
            <a:ext cx="1308240" cy="155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0" b="0" u="none" strike="noStrike">
                <a:solidFill>
                  <a:srgbClr val="FFF7ED"/>
                </a:solidFill>
                <a:effectLst/>
                <a:uFillTx/>
                <a:latin typeface="Roboto"/>
                <a:ea typeface="Roboto"/>
              </a:rPr>
              <a:t>02</a:t>
            </a:r>
            <a:endParaRPr lang="en-US" sz="9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4632120" y="272736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病灶分割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4632120" y="3209040"/>
            <a:ext cx="30405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利用 </a:t>
            </a:r>
            <a:r>
              <a:rPr lang="en-US" sz="1200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U-Net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架构实现像素级分割，精确定位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4" name="图片 193"/>
          <p:cNvPicPr/>
          <p:nvPr/>
        </p:nvPicPr>
        <p:blipFill>
          <a:blip r:embed="rId12"/>
          <a:stretch/>
        </p:blipFill>
        <p:spPr>
          <a:xfrm>
            <a:off x="4629240" y="3848040"/>
            <a:ext cx="2933280" cy="5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文本框 194"/>
          <p:cNvSpPr txBox="1"/>
          <p:nvPr/>
        </p:nvSpPr>
        <p:spPr>
          <a:xfrm>
            <a:off x="4632120" y="3456720"/>
            <a:ext cx="7628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肿瘤区域。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4632120" y="4010400"/>
            <a:ext cx="28702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辅助医生进行病灶边界划分，提高诊断效率与手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任意形状 196"/>
          <p:cNvSpPr/>
          <p:nvPr/>
        </p:nvSpPr>
        <p:spPr>
          <a:xfrm>
            <a:off x="8186400" y="1581120"/>
            <a:ext cx="3543840" cy="4815000"/>
          </a:xfrm>
          <a:custGeom>
            <a:avLst/>
            <a:gdLst/>
            <a:ahLst/>
            <a:cxnLst/>
            <a:rect l="0" t="0" r="r" b="b"/>
            <a:pathLst>
              <a:path w="9844" h="13375">
                <a:moveTo>
                  <a:pt x="0" y="12965"/>
                </a:moveTo>
                <a:lnTo>
                  <a:pt x="0" y="370"/>
                </a:lnTo>
                <a:cubicBezTo>
                  <a:pt x="0" y="346"/>
                  <a:pt x="3" y="322"/>
                  <a:pt x="8" y="298"/>
                </a:cubicBezTo>
                <a:cubicBezTo>
                  <a:pt x="14" y="274"/>
                  <a:pt x="21" y="251"/>
                  <a:pt x="32" y="228"/>
                </a:cubicBezTo>
                <a:cubicBezTo>
                  <a:pt x="42" y="206"/>
                  <a:pt x="55" y="184"/>
                  <a:pt x="70" y="164"/>
                </a:cubicBezTo>
                <a:cubicBezTo>
                  <a:pt x="85" y="144"/>
                  <a:pt x="102" y="125"/>
                  <a:pt x="121" y="108"/>
                </a:cubicBezTo>
                <a:cubicBezTo>
                  <a:pt x="140" y="91"/>
                  <a:pt x="160" y="76"/>
                  <a:pt x="183" y="62"/>
                </a:cubicBezTo>
                <a:cubicBezTo>
                  <a:pt x="205" y="48"/>
                  <a:pt x="229" y="37"/>
                  <a:pt x="254" y="28"/>
                </a:cubicBezTo>
                <a:cubicBezTo>
                  <a:pt x="278" y="18"/>
                  <a:pt x="304" y="11"/>
                  <a:pt x="331" y="7"/>
                </a:cubicBezTo>
                <a:cubicBezTo>
                  <a:pt x="357" y="2"/>
                  <a:pt x="384" y="0"/>
                  <a:pt x="411" y="0"/>
                </a:cubicBezTo>
                <a:lnTo>
                  <a:pt x="9434" y="0"/>
                </a:lnTo>
                <a:cubicBezTo>
                  <a:pt x="9461" y="0"/>
                  <a:pt x="9487" y="2"/>
                  <a:pt x="9514" y="7"/>
                </a:cubicBezTo>
                <a:cubicBezTo>
                  <a:pt x="9540" y="11"/>
                  <a:pt x="9566" y="18"/>
                  <a:pt x="9591" y="28"/>
                </a:cubicBezTo>
                <a:cubicBezTo>
                  <a:pt x="9616" y="37"/>
                  <a:pt x="9639" y="48"/>
                  <a:pt x="9662" y="62"/>
                </a:cubicBezTo>
                <a:cubicBezTo>
                  <a:pt x="9684" y="76"/>
                  <a:pt x="9705" y="91"/>
                  <a:pt x="9724" y="108"/>
                </a:cubicBezTo>
                <a:cubicBezTo>
                  <a:pt x="9743" y="125"/>
                  <a:pt x="9760" y="144"/>
                  <a:pt x="9775" y="164"/>
                </a:cubicBezTo>
                <a:cubicBezTo>
                  <a:pt x="9790" y="184"/>
                  <a:pt x="9802" y="206"/>
                  <a:pt x="9813" y="228"/>
                </a:cubicBezTo>
                <a:cubicBezTo>
                  <a:pt x="9823" y="251"/>
                  <a:pt x="9831" y="274"/>
                  <a:pt x="9836" y="298"/>
                </a:cubicBezTo>
                <a:cubicBezTo>
                  <a:pt x="9841" y="322"/>
                  <a:pt x="9844" y="346"/>
                  <a:pt x="9844" y="370"/>
                </a:cubicBezTo>
                <a:lnTo>
                  <a:pt x="9844" y="12965"/>
                </a:lnTo>
                <a:cubicBezTo>
                  <a:pt x="9844" y="12992"/>
                  <a:pt x="9841" y="13019"/>
                  <a:pt x="9836" y="13045"/>
                </a:cubicBezTo>
                <a:cubicBezTo>
                  <a:pt x="9831" y="13072"/>
                  <a:pt x="9823" y="13097"/>
                  <a:pt x="9813" y="13122"/>
                </a:cubicBezTo>
                <a:cubicBezTo>
                  <a:pt x="9802" y="13147"/>
                  <a:pt x="9790" y="13171"/>
                  <a:pt x="9775" y="13193"/>
                </a:cubicBezTo>
                <a:cubicBezTo>
                  <a:pt x="9760" y="13215"/>
                  <a:pt x="9743" y="13236"/>
                  <a:pt x="9724" y="13255"/>
                </a:cubicBezTo>
                <a:cubicBezTo>
                  <a:pt x="9705" y="13274"/>
                  <a:pt x="9684" y="13291"/>
                  <a:pt x="9662" y="13306"/>
                </a:cubicBezTo>
                <a:cubicBezTo>
                  <a:pt x="9639" y="13321"/>
                  <a:pt x="9616" y="13334"/>
                  <a:pt x="9591" y="13344"/>
                </a:cubicBezTo>
                <a:cubicBezTo>
                  <a:pt x="9566" y="13354"/>
                  <a:pt x="9540" y="13362"/>
                  <a:pt x="9514" y="13367"/>
                </a:cubicBezTo>
                <a:cubicBezTo>
                  <a:pt x="9487" y="13373"/>
                  <a:pt x="9461" y="13375"/>
                  <a:pt x="9434" y="13375"/>
                </a:cubicBezTo>
                <a:lnTo>
                  <a:pt x="411" y="13375"/>
                </a:lnTo>
                <a:cubicBezTo>
                  <a:pt x="384" y="13375"/>
                  <a:pt x="357" y="13373"/>
                  <a:pt x="331" y="13367"/>
                </a:cubicBezTo>
                <a:cubicBezTo>
                  <a:pt x="304" y="13362"/>
                  <a:pt x="278" y="13354"/>
                  <a:pt x="254" y="13344"/>
                </a:cubicBezTo>
                <a:cubicBezTo>
                  <a:pt x="229" y="13334"/>
                  <a:pt x="205" y="13321"/>
                  <a:pt x="183" y="13306"/>
                </a:cubicBezTo>
                <a:cubicBezTo>
                  <a:pt x="160" y="13291"/>
                  <a:pt x="140" y="13274"/>
                  <a:pt x="121" y="13255"/>
                </a:cubicBezTo>
                <a:cubicBezTo>
                  <a:pt x="102" y="13236"/>
                  <a:pt x="85" y="13215"/>
                  <a:pt x="70" y="13193"/>
                </a:cubicBezTo>
                <a:cubicBezTo>
                  <a:pt x="55" y="13171"/>
                  <a:pt x="42" y="13147"/>
                  <a:pt x="32" y="13122"/>
                </a:cubicBezTo>
                <a:cubicBezTo>
                  <a:pt x="21" y="13097"/>
                  <a:pt x="14" y="13072"/>
                  <a:pt x="8" y="13045"/>
                </a:cubicBezTo>
                <a:cubicBezTo>
                  <a:pt x="3" y="13019"/>
                  <a:pt x="0" y="12992"/>
                  <a:pt x="0" y="12965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任意形状 197"/>
          <p:cNvSpPr/>
          <p:nvPr/>
        </p:nvSpPr>
        <p:spPr>
          <a:xfrm>
            <a:off x="8181720" y="1562040"/>
            <a:ext cx="3553200" cy="4838760"/>
          </a:xfrm>
          <a:custGeom>
            <a:avLst/>
            <a:gdLst/>
            <a:ahLst/>
            <a:cxnLst/>
            <a:rect l="0" t="0" r="r" b="b"/>
            <a:pathLst>
              <a:path w="9870" h="13441">
                <a:moveTo>
                  <a:pt x="0" y="13018"/>
                </a:moveTo>
                <a:lnTo>
                  <a:pt x="0" y="423"/>
                </a:ln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6"/>
                  <a:pt x="188" y="71"/>
                </a:cubicBezTo>
                <a:cubicBezTo>
                  <a:pt x="211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6" y="0"/>
                  <a:pt x="424" y="0"/>
                </a:cubicBezTo>
                <a:lnTo>
                  <a:pt x="9447" y="0"/>
                </a:lnTo>
                <a:cubicBezTo>
                  <a:pt x="9475" y="0"/>
                  <a:pt x="9502" y="2"/>
                  <a:pt x="9529" y="8"/>
                </a:cubicBezTo>
                <a:cubicBezTo>
                  <a:pt x="9557" y="13"/>
                  <a:pt x="9583" y="21"/>
                  <a:pt x="9609" y="32"/>
                </a:cubicBezTo>
                <a:cubicBezTo>
                  <a:pt x="9635" y="43"/>
                  <a:pt x="9659" y="56"/>
                  <a:pt x="9682" y="71"/>
                </a:cubicBezTo>
                <a:cubicBezTo>
                  <a:pt x="9705" y="86"/>
                  <a:pt x="9727" y="104"/>
                  <a:pt x="9746" y="124"/>
                </a:cubicBezTo>
                <a:cubicBezTo>
                  <a:pt x="9766" y="143"/>
                  <a:pt x="9783" y="165"/>
                  <a:pt x="9799" y="188"/>
                </a:cubicBezTo>
                <a:cubicBezTo>
                  <a:pt x="9814" y="211"/>
                  <a:pt x="9827" y="235"/>
                  <a:pt x="9838" y="261"/>
                </a:cubicBezTo>
                <a:cubicBezTo>
                  <a:pt x="9849" y="287"/>
                  <a:pt x="9857" y="313"/>
                  <a:pt x="9862" y="340"/>
                </a:cubicBezTo>
                <a:cubicBezTo>
                  <a:pt x="9867" y="368"/>
                  <a:pt x="9870" y="395"/>
                  <a:pt x="9870" y="423"/>
                </a:cubicBezTo>
                <a:lnTo>
                  <a:pt x="9870" y="13018"/>
                </a:lnTo>
                <a:cubicBezTo>
                  <a:pt x="9870" y="13046"/>
                  <a:pt x="9867" y="13073"/>
                  <a:pt x="9862" y="13101"/>
                </a:cubicBezTo>
                <a:cubicBezTo>
                  <a:pt x="9857" y="13128"/>
                  <a:pt x="9849" y="13154"/>
                  <a:pt x="9838" y="13180"/>
                </a:cubicBezTo>
                <a:cubicBezTo>
                  <a:pt x="9827" y="13206"/>
                  <a:pt x="9814" y="13230"/>
                  <a:pt x="9799" y="13253"/>
                </a:cubicBezTo>
                <a:cubicBezTo>
                  <a:pt x="9783" y="13276"/>
                  <a:pt x="9766" y="13298"/>
                  <a:pt x="9746" y="13318"/>
                </a:cubicBezTo>
                <a:cubicBezTo>
                  <a:pt x="9727" y="13337"/>
                  <a:pt x="9705" y="13355"/>
                  <a:pt x="9682" y="13370"/>
                </a:cubicBezTo>
                <a:cubicBezTo>
                  <a:pt x="9659" y="13386"/>
                  <a:pt x="9635" y="13399"/>
                  <a:pt x="9609" y="13409"/>
                </a:cubicBezTo>
                <a:cubicBezTo>
                  <a:pt x="9583" y="13420"/>
                  <a:pt x="9557" y="13428"/>
                  <a:pt x="9529" y="13433"/>
                </a:cubicBezTo>
                <a:cubicBezTo>
                  <a:pt x="9502" y="13439"/>
                  <a:pt x="9475" y="13441"/>
                  <a:pt x="9447" y="13441"/>
                </a:cubicBezTo>
                <a:lnTo>
                  <a:pt x="424" y="13441"/>
                </a:lnTo>
                <a:cubicBezTo>
                  <a:pt x="396" y="13441"/>
                  <a:pt x="368" y="13439"/>
                  <a:pt x="341" y="13433"/>
                </a:cubicBezTo>
                <a:cubicBezTo>
                  <a:pt x="314" y="13428"/>
                  <a:pt x="287" y="13420"/>
                  <a:pt x="262" y="13409"/>
                </a:cubicBezTo>
                <a:cubicBezTo>
                  <a:pt x="236" y="13399"/>
                  <a:pt x="211" y="13386"/>
                  <a:pt x="188" y="13370"/>
                </a:cubicBezTo>
                <a:cubicBezTo>
                  <a:pt x="165" y="13355"/>
                  <a:pt x="144" y="13337"/>
                  <a:pt x="124" y="13318"/>
                </a:cubicBezTo>
                <a:cubicBezTo>
                  <a:pt x="105" y="13298"/>
                  <a:pt x="87" y="13276"/>
                  <a:pt x="72" y="13253"/>
                </a:cubicBezTo>
                <a:cubicBezTo>
                  <a:pt x="56" y="13230"/>
                  <a:pt x="43" y="13206"/>
                  <a:pt x="32" y="13180"/>
                </a:cubicBezTo>
                <a:cubicBezTo>
                  <a:pt x="22" y="13154"/>
                  <a:pt x="14" y="13128"/>
                  <a:pt x="8" y="13101"/>
                </a:cubicBezTo>
                <a:cubicBezTo>
                  <a:pt x="3" y="13073"/>
                  <a:pt x="0" y="13046"/>
                  <a:pt x="0" y="13018"/>
                </a:cubicBezTo>
                <a:moveTo>
                  <a:pt x="27" y="13018"/>
                </a:moveTo>
                <a:lnTo>
                  <a:pt x="27" y="423"/>
                </a:lnTo>
                <a:cubicBezTo>
                  <a:pt x="27" y="402"/>
                  <a:pt x="29" y="382"/>
                  <a:pt x="34" y="361"/>
                </a:cubicBezTo>
                <a:cubicBezTo>
                  <a:pt x="39" y="341"/>
                  <a:pt x="47" y="321"/>
                  <a:pt x="57" y="301"/>
                </a:cubicBezTo>
                <a:cubicBezTo>
                  <a:pt x="67" y="282"/>
                  <a:pt x="79" y="264"/>
                  <a:pt x="94" y="247"/>
                </a:cubicBezTo>
                <a:cubicBezTo>
                  <a:pt x="108" y="229"/>
                  <a:pt x="124" y="213"/>
                  <a:pt x="143" y="198"/>
                </a:cubicBezTo>
                <a:cubicBezTo>
                  <a:pt x="161" y="184"/>
                  <a:pt x="181" y="171"/>
                  <a:pt x="203" y="159"/>
                </a:cubicBezTo>
                <a:cubicBezTo>
                  <a:pt x="225" y="147"/>
                  <a:pt x="248" y="138"/>
                  <a:pt x="272" y="130"/>
                </a:cubicBezTo>
                <a:cubicBezTo>
                  <a:pt x="296" y="122"/>
                  <a:pt x="321" y="116"/>
                  <a:pt x="346" y="112"/>
                </a:cubicBezTo>
                <a:cubicBezTo>
                  <a:pt x="372" y="108"/>
                  <a:pt x="397" y="105"/>
                  <a:pt x="424" y="105"/>
                </a:cubicBezTo>
                <a:lnTo>
                  <a:pt x="9447" y="105"/>
                </a:lnTo>
                <a:cubicBezTo>
                  <a:pt x="9473" y="105"/>
                  <a:pt x="9499" y="108"/>
                  <a:pt x="9524" y="112"/>
                </a:cubicBezTo>
                <a:cubicBezTo>
                  <a:pt x="9550" y="116"/>
                  <a:pt x="9575" y="122"/>
                  <a:pt x="9599" y="130"/>
                </a:cubicBezTo>
                <a:cubicBezTo>
                  <a:pt x="9623" y="138"/>
                  <a:pt x="9646" y="147"/>
                  <a:pt x="9667" y="159"/>
                </a:cubicBezTo>
                <a:cubicBezTo>
                  <a:pt x="9689" y="171"/>
                  <a:pt x="9709" y="184"/>
                  <a:pt x="9727" y="198"/>
                </a:cubicBezTo>
                <a:cubicBezTo>
                  <a:pt x="9746" y="213"/>
                  <a:pt x="9762" y="229"/>
                  <a:pt x="9777" y="247"/>
                </a:cubicBezTo>
                <a:cubicBezTo>
                  <a:pt x="9791" y="264"/>
                  <a:pt x="9804" y="282"/>
                  <a:pt x="9813" y="301"/>
                </a:cubicBezTo>
                <a:cubicBezTo>
                  <a:pt x="9823" y="321"/>
                  <a:pt x="9831" y="341"/>
                  <a:pt x="9836" y="361"/>
                </a:cubicBezTo>
                <a:cubicBezTo>
                  <a:pt x="9841" y="382"/>
                  <a:pt x="9844" y="402"/>
                  <a:pt x="9844" y="423"/>
                </a:cubicBezTo>
                <a:lnTo>
                  <a:pt x="9844" y="13018"/>
                </a:lnTo>
                <a:cubicBezTo>
                  <a:pt x="9844" y="13044"/>
                  <a:pt x="9841" y="13070"/>
                  <a:pt x="9836" y="13096"/>
                </a:cubicBezTo>
                <a:cubicBezTo>
                  <a:pt x="9831" y="13121"/>
                  <a:pt x="9823" y="13146"/>
                  <a:pt x="9813" y="13170"/>
                </a:cubicBezTo>
                <a:cubicBezTo>
                  <a:pt x="9804" y="13194"/>
                  <a:pt x="9791" y="13217"/>
                  <a:pt x="9777" y="13239"/>
                </a:cubicBezTo>
                <a:cubicBezTo>
                  <a:pt x="9762" y="13260"/>
                  <a:pt x="9746" y="13280"/>
                  <a:pt x="9727" y="13299"/>
                </a:cubicBezTo>
                <a:cubicBezTo>
                  <a:pt x="9709" y="13317"/>
                  <a:pt x="9689" y="13334"/>
                  <a:pt x="9667" y="13348"/>
                </a:cubicBezTo>
                <a:cubicBezTo>
                  <a:pt x="9646" y="13363"/>
                  <a:pt x="9623" y="13375"/>
                  <a:pt x="9599" y="13385"/>
                </a:cubicBezTo>
                <a:cubicBezTo>
                  <a:pt x="9575" y="13395"/>
                  <a:pt x="9550" y="13402"/>
                  <a:pt x="9524" y="13407"/>
                </a:cubicBezTo>
                <a:cubicBezTo>
                  <a:pt x="9499" y="13412"/>
                  <a:pt x="9473" y="13415"/>
                  <a:pt x="9447" y="13415"/>
                </a:cubicBezTo>
                <a:lnTo>
                  <a:pt x="424" y="13415"/>
                </a:lnTo>
                <a:cubicBezTo>
                  <a:pt x="397" y="13415"/>
                  <a:pt x="372" y="13412"/>
                  <a:pt x="346" y="13407"/>
                </a:cubicBezTo>
                <a:cubicBezTo>
                  <a:pt x="321" y="13402"/>
                  <a:pt x="296" y="13395"/>
                  <a:pt x="272" y="13385"/>
                </a:cubicBezTo>
                <a:cubicBezTo>
                  <a:pt x="248" y="13375"/>
                  <a:pt x="225" y="13363"/>
                  <a:pt x="203" y="13348"/>
                </a:cubicBezTo>
                <a:cubicBezTo>
                  <a:pt x="181" y="13334"/>
                  <a:pt x="161" y="13317"/>
                  <a:pt x="143" y="13299"/>
                </a:cubicBezTo>
                <a:cubicBezTo>
                  <a:pt x="124" y="13280"/>
                  <a:pt x="108" y="13260"/>
                  <a:pt x="94" y="13239"/>
                </a:cubicBezTo>
                <a:cubicBezTo>
                  <a:pt x="79" y="13217"/>
                  <a:pt x="67" y="13194"/>
                  <a:pt x="57" y="13170"/>
                </a:cubicBezTo>
                <a:cubicBezTo>
                  <a:pt x="47" y="13146"/>
                  <a:pt x="39" y="13121"/>
                  <a:pt x="34" y="13096"/>
                </a:cubicBezTo>
                <a:cubicBezTo>
                  <a:pt x="29" y="13070"/>
                  <a:pt x="27" y="13044"/>
                  <a:pt x="27" y="13018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文本框 198"/>
          <p:cNvSpPr txBox="1"/>
          <p:nvPr/>
        </p:nvSpPr>
        <p:spPr>
          <a:xfrm>
            <a:off x="4632120" y="4200840"/>
            <a:ext cx="7963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术规划精度。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0" name="图片 199"/>
          <p:cNvPicPr/>
          <p:nvPr/>
        </p:nvPicPr>
        <p:blipFill>
          <a:blip r:embed="rId6"/>
          <a:stretch/>
        </p:blipFill>
        <p:spPr>
          <a:xfrm>
            <a:off x="8191440" y="6353280"/>
            <a:ext cx="3533400" cy="37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图片 200"/>
          <p:cNvPicPr/>
          <p:nvPr/>
        </p:nvPicPr>
        <p:blipFill>
          <a:blip r:embed="rId13"/>
          <a:stretch/>
        </p:blipFill>
        <p:spPr>
          <a:xfrm>
            <a:off x="8496360" y="19051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任意形状 201"/>
          <p:cNvSpPr/>
          <p:nvPr/>
        </p:nvSpPr>
        <p:spPr>
          <a:xfrm>
            <a:off x="8672400" y="2081160"/>
            <a:ext cx="257400" cy="257400"/>
          </a:xfrm>
          <a:custGeom>
            <a:avLst/>
            <a:gdLst/>
            <a:ahLst/>
            <a:cxnLst/>
            <a:rect l="0" t="0" r="r" b="b"/>
            <a:pathLst>
              <a:path w="715" h="715" fill="none">
                <a:moveTo>
                  <a:pt x="264" y="556"/>
                </a:moveTo>
                <a:lnTo>
                  <a:pt x="450" y="556"/>
                </a:lnTo>
                <a:moveTo>
                  <a:pt x="357" y="0"/>
                </a:moveTo>
                <a:lnTo>
                  <a:pt x="357" y="39"/>
                </a:lnTo>
                <a:moveTo>
                  <a:pt x="611" y="104"/>
                </a:moveTo>
                <a:lnTo>
                  <a:pt x="583" y="132"/>
                </a:lnTo>
                <a:moveTo>
                  <a:pt x="715" y="358"/>
                </a:moveTo>
                <a:lnTo>
                  <a:pt x="675" y="358"/>
                </a:lnTo>
                <a:moveTo>
                  <a:pt x="39" y="358"/>
                </a:moveTo>
                <a:lnTo>
                  <a:pt x="0" y="358"/>
                </a:lnTo>
                <a:moveTo>
                  <a:pt x="132" y="132"/>
                </a:moveTo>
                <a:lnTo>
                  <a:pt x="104" y="104"/>
                </a:lnTo>
                <a:moveTo>
                  <a:pt x="217" y="498"/>
                </a:moveTo>
                <a:cubicBezTo>
                  <a:pt x="207" y="489"/>
                  <a:pt x="199" y="479"/>
                  <a:pt x="192" y="468"/>
                </a:cubicBezTo>
                <a:cubicBezTo>
                  <a:pt x="185" y="457"/>
                  <a:pt x="179" y="446"/>
                  <a:pt x="174" y="434"/>
                </a:cubicBezTo>
                <a:cubicBezTo>
                  <a:pt x="169" y="422"/>
                  <a:pt x="165" y="409"/>
                  <a:pt x="162" y="397"/>
                </a:cubicBezTo>
                <a:cubicBezTo>
                  <a:pt x="160" y="384"/>
                  <a:pt x="159" y="371"/>
                  <a:pt x="159" y="358"/>
                </a:cubicBezTo>
                <a:cubicBezTo>
                  <a:pt x="159" y="345"/>
                  <a:pt x="160" y="332"/>
                  <a:pt x="162" y="319"/>
                </a:cubicBezTo>
                <a:cubicBezTo>
                  <a:pt x="165" y="306"/>
                  <a:pt x="169" y="294"/>
                  <a:pt x="174" y="281"/>
                </a:cubicBezTo>
                <a:cubicBezTo>
                  <a:pt x="179" y="269"/>
                  <a:pt x="185" y="257"/>
                  <a:pt x="192" y="247"/>
                </a:cubicBezTo>
                <a:cubicBezTo>
                  <a:pt x="199" y="236"/>
                  <a:pt x="207" y="226"/>
                  <a:pt x="217" y="217"/>
                </a:cubicBezTo>
                <a:cubicBezTo>
                  <a:pt x="226" y="207"/>
                  <a:pt x="236" y="199"/>
                  <a:pt x="247" y="192"/>
                </a:cubicBezTo>
                <a:cubicBezTo>
                  <a:pt x="258" y="185"/>
                  <a:pt x="269" y="179"/>
                  <a:pt x="281" y="174"/>
                </a:cubicBezTo>
                <a:cubicBezTo>
                  <a:pt x="293" y="169"/>
                  <a:pt x="306" y="165"/>
                  <a:pt x="318" y="162"/>
                </a:cubicBezTo>
                <a:cubicBezTo>
                  <a:pt x="331" y="160"/>
                  <a:pt x="344" y="158"/>
                  <a:pt x="357" y="158"/>
                </a:cubicBezTo>
                <a:cubicBezTo>
                  <a:pt x="370" y="158"/>
                  <a:pt x="383" y="160"/>
                  <a:pt x="396" y="162"/>
                </a:cubicBezTo>
                <a:cubicBezTo>
                  <a:pt x="408" y="165"/>
                  <a:pt x="421" y="169"/>
                  <a:pt x="433" y="174"/>
                </a:cubicBezTo>
                <a:cubicBezTo>
                  <a:pt x="445" y="179"/>
                  <a:pt x="456" y="185"/>
                  <a:pt x="467" y="192"/>
                </a:cubicBezTo>
                <a:cubicBezTo>
                  <a:pt x="478" y="199"/>
                  <a:pt x="488" y="207"/>
                  <a:pt x="497" y="217"/>
                </a:cubicBezTo>
                <a:cubicBezTo>
                  <a:pt x="507" y="226"/>
                  <a:pt x="515" y="236"/>
                  <a:pt x="522" y="247"/>
                </a:cubicBezTo>
                <a:cubicBezTo>
                  <a:pt x="529" y="257"/>
                  <a:pt x="535" y="269"/>
                  <a:pt x="540" y="281"/>
                </a:cubicBezTo>
                <a:cubicBezTo>
                  <a:pt x="546" y="294"/>
                  <a:pt x="550" y="306"/>
                  <a:pt x="553" y="319"/>
                </a:cubicBezTo>
                <a:cubicBezTo>
                  <a:pt x="555" y="332"/>
                  <a:pt x="556" y="345"/>
                  <a:pt x="556" y="358"/>
                </a:cubicBezTo>
                <a:cubicBezTo>
                  <a:pt x="556" y="371"/>
                  <a:pt x="555" y="384"/>
                  <a:pt x="553" y="397"/>
                </a:cubicBezTo>
                <a:cubicBezTo>
                  <a:pt x="550" y="409"/>
                  <a:pt x="546" y="422"/>
                  <a:pt x="540" y="434"/>
                </a:cubicBezTo>
                <a:cubicBezTo>
                  <a:pt x="535" y="446"/>
                  <a:pt x="529" y="457"/>
                  <a:pt x="522" y="468"/>
                </a:cubicBezTo>
                <a:cubicBezTo>
                  <a:pt x="515" y="479"/>
                  <a:pt x="507" y="489"/>
                  <a:pt x="497" y="498"/>
                </a:cubicBezTo>
                <a:lnTo>
                  <a:pt x="476" y="520"/>
                </a:lnTo>
                <a:cubicBezTo>
                  <a:pt x="449" y="546"/>
                  <a:pt x="436" y="578"/>
                  <a:pt x="436" y="615"/>
                </a:cubicBezTo>
                <a:lnTo>
                  <a:pt x="436" y="636"/>
                </a:lnTo>
                <a:cubicBezTo>
                  <a:pt x="436" y="646"/>
                  <a:pt x="434" y="656"/>
                  <a:pt x="430" y="666"/>
                </a:cubicBezTo>
                <a:cubicBezTo>
                  <a:pt x="426" y="676"/>
                  <a:pt x="421" y="684"/>
                  <a:pt x="413" y="692"/>
                </a:cubicBezTo>
                <a:cubicBezTo>
                  <a:pt x="406" y="699"/>
                  <a:pt x="397" y="705"/>
                  <a:pt x="387" y="709"/>
                </a:cubicBezTo>
                <a:cubicBezTo>
                  <a:pt x="378" y="713"/>
                  <a:pt x="368" y="715"/>
                  <a:pt x="357" y="715"/>
                </a:cubicBezTo>
                <a:cubicBezTo>
                  <a:pt x="346" y="715"/>
                  <a:pt x="336" y="713"/>
                  <a:pt x="327" y="709"/>
                </a:cubicBezTo>
                <a:cubicBezTo>
                  <a:pt x="317" y="705"/>
                  <a:pt x="308" y="699"/>
                  <a:pt x="301" y="692"/>
                </a:cubicBezTo>
                <a:cubicBezTo>
                  <a:pt x="293" y="684"/>
                  <a:pt x="288" y="676"/>
                  <a:pt x="284" y="666"/>
                </a:cubicBezTo>
                <a:cubicBezTo>
                  <a:pt x="280" y="656"/>
                  <a:pt x="278" y="646"/>
                  <a:pt x="278" y="636"/>
                </a:cubicBezTo>
                <a:lnTo>
                  <a:pt x="278" y="615"/>
                </a:lnTo>
                <a:cubicBezTo>
                  <a:pt x="278" y="579"/>
                  <a:pt x="263" y="545"/>
                  <a:pt x="238" y="520"/>
                </a:cubicBezTo>
                <a:lnTo>
                  <a:pt x="217" y="498"/>
                </a:lnTo>
              </a:path>
            </a:pathLst>
          </a:custGeom>
          <a:ln w="28440" cap="rnd">
            <a:solidFill>
              <a:srgbClr val="1A66C2"/>
            </a:solidFill>
            <a:round/>
          </a:ln>
        </p:spPr>
        <p:txBody>
          <a:bodyPr lIns="14040" tIns="14040" rIns="14040" bIns="1404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10487160" y="1473840"/>
            <a:ext cx="1308240" cy="155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0" b="0" u="none" strike="noStrike">
                <a:solidFill>
                  <a:srgbClr val="E6F0FD"/>
                </a:solidFill>
                <a:effectLst/>
                <a:uFillTx/>
                <a:latin typeface="Roboto"/>
                <a:ea typeface="Roboto"/>
              </a:rPr>
              <a:t>03</a:t>
            </a:r>
            <a:endParaRPr lang="en-US" sz="9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8493120" y="2727360"/>
            <a:ext cx="1440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模型可解释性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文本框 204"/>
          <p:cNvSpPr txBox="1"/>
          <p:nvPr/>
        </p:nvSpPr>
        <p:spPr>
          <a:xfrm>
            <a:off x="8493120" y="3209040"/>
            <a:ext cx="28749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应用 </a:t>
            </a:r>
            <a:r>
              <a:rPr lang="en-US" sz="120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Grad-CAM</a:t>
            </a: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Roboto"/>
                <a:ea typeface="Roboto"/>
              </a:rPr>
              <a:t> </a:t>
            </a:r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技术生成诊断热力图，可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6" name="图片 205"/>
          <p:cNvPicPr/>
          <p:nvPr/>
        </p:nvPicPr>
        <p:blipFill>
          <a:blip r:embed="rId14"/>
          <a:stretch/>
        </p:blipFill>
        <p:spPr>
          <a:xfrm>
            <a:off x="8496360" y="3848040"/>
            <a:ext cx="2923920" cy="54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文本框 206"/>
          <p:cNvSpPr txBox="1"/>
          <p:nvPr/>
        </p:nvSpPr>
        <p:spPr>
          <a:xfrm>
            <a:off x="8493120" y="3456720"/>
            <a:ext cx="1067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A5568"/>
                </a:solidFill>
                <a:effectLst/>
                <a:uFillTx/>
                <a:latin typeface="NotoSansSC"/>
                <a:ea typeface="NotoSansSC"/>
              </a:rPr>
              <a:t>视化关注区域。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文本框 207"/>
          <p:cNvSpPr txBox="1"/>
          <p:nvPr/>
        </p:nvSpPr>
        <p:spPr>
          <a:xfrm>
            <a:off x="8493120" y="4010400"/>
            <a:ext cx="30103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揭示模型决策依据，增强临床医生对</a:t>
            </a: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AI</a:t>
            </a:r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辅助诊断系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文本框 208"/>
          <p:cNvSpPr txBox="1"/>
          <p:nvPr/>
        </p:nvSpPr>
        <p:spPr>
          <a:xfrm>
            <a:off x="8493120" y="4200840"/>
            <a:ext cx="7963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统的信任度。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任意形状 20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2F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1" name="图片 210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图片 211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3" name="图片 212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图片 213"/>
          <p:cNvPicPr/>
          <p:nvPr/>
        </p:nvPicPr>
        <p:blipFill>
          <a:blip r:embed="rId5"/>
          <a:stretch/>
        </p:blipFill>
        <p:spPr>
          <a:xfrm>
            <a:off x="0" y="6781680"/>
            <a:ext cx="12191760" cy="75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任意形状 214"/>
          <p:cNvSpPr/>
          <p:nvPr/>
        </p:nvSpPr>
        <p:spPr>
          <a:xfrm>
            <a:off x="456840" y="419040"/>
            <a:ext cx="76680" cy="304920"/>
          </a:xfrm>
          <a:custGeom>
            <a:avLst/>
            <a:gdLst/>
            <a:ahLst/>
            <a:cxnLst/>
            <a:rect l="0" t="0" r="r" b="b"/>
            <a:pathLst>
              <a:path w="213" h="847">
                <a:moveTo>
                  <a:pt x="0" y="794"/>
                </a:moveTo>
                <a:lnTo>
                  <a:pt x="0" y="53"/>
                </a:lnTo>
                <a:cubicBezTo>
                  <a:pt x="0" y="46"/>
                  <a:pt x="2" y="39"/>
                  <a:pt x="5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40" y="1"/>
                  <a:pt x="46" y="0"/>
                  <a:pt x="53" y="0"/>
                </a:cubicBezTo>
                <a:lnTo>
                  <a:pt x="160" y="0"/>
                </a:lnTo>
                <a:cubicBezTo>
                  <a:pt x="167" y="0"/>
                  <a:pt x="174" y="1"/>
                  <a:pt x="181" y="4"/>
                </a:cubicBezTo>
                <a:cubicBezTo>
                  <a:pt x="187" y="6"/>
                  <a:pt x="193" y="10"/>
                  <a:pt x="198" y="15"/>
                </a:cubicBezTo>
                <a:cubicBezTo>
                  <a:pt x="203" y="20"/>
                  <a:pt x="206" y="26"/>
                  <a:pt x="209" y="32"/>
                </a:cubicBezTo>
                <a:cubicBezTo>
                  <a:pt x="212" y="39"/>
                  <a:pt x="213" y="46"/>
                  <a:pt x="213" y="53"/>
                </a:cubicBezTo>
                <a:lnTo>
                  <a:pt x="213" y="794"/>
                </a:lnTo>
                <a:cubicBezTo>
                  <a:pt x="213" y="801"/>
                  <a:pt x="212" y="808"/>
                  <a:pt x="209" y="815"/>
                </a:cubicBezTo>
                <a:cubicBezTo>
                  <a:pt x="206" y="821"/>
                  <a:pt x="203" y="827"/>
                  <a:pt x="198" y="832"/>
                </a:cubicBezTo>
                <a:cubicBezTo>
                  <a:pt x="193" y="837"/>
                  <a:pt x="187" y="841"/>
                  <a:pt x="181" y="843"/>
                </a:cubicBezTo>
                <a:cubicBezTo>
                  <a:pt x="174" y="846"/>
                  <a:pt x="167" y="847"/>
                  <a:pt x="160" y="847"/>
                </a:cubicBezTo>
                <a:lnTo>
                  <a:pt x="53" y="847"/>
                </a:lnTo>
                <a:cubicBezTo>
                  <a:pt x="46" y="847"/>
                  <a:pt x="40" y="846"/>
                  <a:pt x="33" y="843"/>
                </a:cubicBezTo>
                <a:cubicBezTo>
                  <a:pt x="27" y="841"/>
                  <a:pt x="21" y="837"/>
                  <a:pt x="16" y="832"/>
                </a:cubicBezTo>
                <a:cubicBezTo>
                  <a:pt x="11" y="827"/>
                  <a:pt x="7" y="821"/>
                  <a:pt x="5" y="815"/>
                </a:cubicBezTo>
                <a:cubicBezTo>
                  <a:pt x="2" y="808"/>
                  <a:pt x="0" y="801"/>
                  <a:pt x="0" y="794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685800" y="357480"/>
            <a:ext cx="1440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技术方案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17" name="图片 216"/>
          <p:cNvPicPr/>
          <p:nvPr/>
        </p:nvPicPr>
        <p:blipFill>
          <a:blip r:embed="rId6"/>
          <a:stretch/>
        </p:blipFill>
        <p:spPr>
          <a:xfrm>
            <a:off x="10820520" y="1028520"/>
            <a:ext cx="91404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图片 217"/>
          <p:cNvPicPr/>
          <p:nvPr/>
        </p:nvPicPr>
        <p:blipFill>
          <a:blip r:embed="rId7"/>
          <a:stretch/>
        </p:blipFill>
        <p:spPr>
          <a:xfrm>
            <a:off x="1981080" y="3753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图片 218"/>
          <p:cNvPicPr/>
          <p:nvPr/>
        </p:nvPicPr>
        <p:blipFill>
          <a:blip r:embed="rId8"/>
          <a:stretch/>
        </p:blipFill>
        <p:spPr>
          <a:xfrm>
            <a:off x="3962520" y="3753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图片 219"/>
          <p:cNvPicPr/>
          <p:nvPr/>
        </p:nvPicPr>
        <p:blipFill>
          <a:blip r:embed="rId8"/>
          <a:stretch/>
        </p:blipFill>
        <p:spPr>
          <a:xfrm>
            <a:off x="5943600" y="3753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图片 220"/>
          <p:cNvPicPr/>
          <p:nvPr/>
        </p:nvPicPr>
        <p:blipFill>
          <a:blip r:embed="rId8"/>
          <a:stretch/>
        </p:blipFill>
        <p:spPr>
          <a:xfrm>
            <a:off x="7924680" y="3753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图片 221"/>
          <p:cNvPicPr/>
          <p:nvPr/>
        </p:nvPicPr>
        <p:blipFill>
          <a:blip r:embed="rId8"/>
          <a:stretch/>
        </p:blipFill>
        <p:spPr>
          <a:xfrm>
            <a:off x="9906120" y="3753000"/>
            <a:ext cx="304560" cy="304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图片 222"/>
          <p:cNvPicPr/>
          <p:nvPr/>
        </p:nvPicPr>
        <p:blipFill>
          <a:blip r:embed="rId9"/>
          <a:stretch/>
        </p:blipFill>
        <p:spPr>
          <a:xfrm>
            <a:off x="380880" y="2838600"/>
            <a:ext cx="1523520" cy="21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任意形状 223"/>
          <p:cNvSpPr/>
          <p:nvPr/>
        </p:nvSpPr>
        <p:spPr>
          <a:xfrm>
            <a:off x="914040" y="30668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3"/>
                  <a:pt x="1176" y="971"/>
                  <a:pt x="1164" y="988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3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3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8"/>
                </a:cubicBezTo>
                <a:cubicBezTo>
                  <a:pt x="96" y="971"/>
                  <a:pt x="85" y="953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800"/>
                  <a:pt x="17" y="779"/>
                  <a:pt x="13" y="759"/>
                </a:cubicBezTo>
                <a:cubicBezTo>
                  <a:pt x="9" y="739"/>
                  <a:pt x="6" y="718"/>
                  <a:pt x="4" y="697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4"/>
                  <a:pt x="2" y="594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6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任意形状 224"/>
          <p:cNvSpPr/>
          <p:nvPr/>
        </p:nvSpPr>
        <p:spPr>
          <a:xfrm>
            <a:off x="1066680" y="3209760"/>
            <a:ext cx="152640" cy="171720"/>
          </a:xfrm>
          <a:custGeom>
            <a:avLst/>
            <a:gdLst/>
            <a:ahLst/>
            <a:cxnLst/>
            <a:rect l="0" t="0" r="r" b="b"/>
            <a:pathLst>
              <a:path w="424" h="477" fill="none">
                <a:moveTo>
                  <a:pt x="0" y="106"/>
                </a:moveTo>
                <a:lnTo>
                  <a:pt x="0" y="371"/>
                </a:lnTo>
                <a:cubicBezTo>
                  <a:pt x="0" y="430"/>
                  <a:pt x="95" y="477"/>
                  <a:pt x="212" y="477"/>
                </a:cubicBezTo>
                <a:cubicBezTo>
                  <a:pt x="329" y="477"/>
                  <a:pt x="424" y="430"/>
                  <a:pt x="424" y="371"/>
                </a:cubicBezTo>
                <a:lnTo>
                  <a:pt x="424" y="106"/>
                </a:lnTo>
                <a:moveTo>
                  <a:pt x="0" y="106"/>
                </a:moveTo>
                <a:cubicBezTo>
                  <a:pt x="0" y="164"/>
                  <a:pt x="95" y="212"/>
                  <a:pt x="212" y="212"/>
                </a:cubicBezTo>
                <a:cubicBezTo>
                  <a:pt x="329" y="212"/>
                  <a:pt x="424" y="164"/>
                  <a:pt x="424" y="106"/>
                </a:cubicBezTo>
                <a:moveTo>
                  <a:pt x="0" y="106"/>
                </a:moveTo>
                <a:cubicBezTo>
                  <a:pt x="0" y="47"/>
                  <a:pt x="95" y="0"/>
                  <a:pt x="212" y="0"/>
                </a:cubicBezTo>
                <a:cubicBezTo>
                  <a:pt x="329" y="0"/>
                  <a:pt x="424" y="47"/>
                  <a:pt x="424" y="106"/>
                </a:cubicBezTo>
                <a:moveTo>
                  <a:pt x="424" y="238"/>
                </a:moveTo>
                <a:cubicBezTo>
                  <a:pt x="424" y="297"/>
                  <a:pt x="329" y="344"/>
                  <a:pt x="212" y="344"/>
                </a:cubicBezTo>
                <a:cubicBezTo>
                  <a:pt x="95" y="344"/>
                  <a:pt x="0" y="297"/>
                  <a:pt x="0" y="238"/>
                </a:cubicBez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85800" y="844200"/>
            <a:ext cx="140004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系统架构流程图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7" name="图片 226"/>
          <p:cNvPicPr/>
          <p:nvPr/>
        </p:nvPicPr>
        <p:blipFill>
          <a:blip r:embed="rId10"/>
          <a:stretch/>
        </p:blipFill>
        <p:spPr>
          <a:xfrm>
            <a:off x="581040" y="405756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文本框 227"/>
          <p:cNvSpPr txBox="1"/>
          <p:nvPr/>
        </p:nvSpPr>
        <p:spPr>
          <a:xfrm>
            <a:off x="799920" y="370296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数据输入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9" name="图片 228"/>
          <p:cNvPicPr/>
          <p:nvPr/>
        </p:nvPicPr>
        <p:blipFill>
          <a:blip r:embed="rId11"/>
          <a:stretch/>
        </p:blipFill>
        <p:spPr>
          <a:xfrm>
            <a:off x="581040" y="445752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文本框 229"/>
          <p:cNvSpPr txBox="1"/>
          <p:nvPr/>
        </p:nvSpPr>
        <p:spPr>
          <a:xfrm>
            <a:off x="776160" y="4134240"/>
            <a:ext cx="7700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BUSI </a:t>
            </a:r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数据集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1" name="图片 230"/>
          <p:cNvPicPr/>
          <p:nvPr/>
        </p:nvPicPr>
        <p:blipFill>
          <a:blip r:embed="rId12"/>
          <a:stretch/>
        </p:blipFill>
        <p:spPr>
          <a:xfrm>
            <a:off x="2362320" y="2838600"/>
            <a:ext cx="1523520" cy="21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任意形状 231"/>
          <p:cNvSpPr/>
          <p:nvPr/>
        </p:nvSpPr>
        <p:spPr>
          <a:xfrm>
            <a:off x="2895480" y="30668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3" y="819"/>
                </a:cubicBezTo>
                <a:cubicBezTo>
                  <a:pt x="1237" y="839"/>
                  <a:pt x="1230" y="859"/>
                  <a:pt x="1222" y="878"/>
                </a:cubicBezTo>
                <a:cubicBezTo>
                  <a:pt x="1215" y="897"/>
                  <a:pt x="1206" y="916"/>
                  <a:pt x="1196" y="934"/>
                </a:cubicBezTo>
                <a:cubicBezTo>
                  <a:pt x="1186" y="953"/>
                  <a:pt x="1175" y="971"/>
                  <a:pt x="1164" y="988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4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3"/>
                  <a:pt x="989" y="1164"/>
                </a:cubicBezTo>
                <a:cubicBezTo>
                  <a:pt x="971" y="1176"/>
                  <a:pt x="954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40" y="1238"/>
                  <a:pt x="820" y="1244"/>
                </a:cubicBezTo>
                <a:cubicBezTo>
                  <a:pt x="800" y="1250"/>
                  <a:pt x="780" y="1255"/>
                  <a:pt x="760" y="1259"/>
                </a:cubicBezTo>
                <a:cubicBezTo>
                  <a:pt x="739" y="1263"/>
                  <a:pt x="719" y="1266"/>
                  <a:pt x="698" y="1268"/>
                </a:cubicBezTo>
                <a:cubicBezTo>
                  <a:pt x="677" y="1270"/>
                  <a:pt x="657" y="1271"/>
                  <a:pt x="636" y="1271"/>
                </a:cubicBezTo>
                <a:cubicBezTo>
                  <a:pt x="615" y="1271"/>
                  <a:pt x="594" y="1270"/>
                  <a:pt x="574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2" y="1255"/>
                  <a:pt x="471" y="1250"/>
                  <a:pt x="452" y="1244"/>
                </a:cubicBezTo>
                <a:cubicBezTo>
                  <a:pt x="432" y="1238"/>
                  <a:pt x="412" y="1231"/>
                  <a:pt x="393" y="1223"/>
                </a:cubicBezTo>
                <a:cubicBezTo>
                  <a:pt x="374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6" y="1153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8"/>
                </a:cubicBezTo>
                <a:cubicBezTo>
                  <a:pt x="95" y="971"/>
                  <a:pt x="85" y="953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9"/>
                  <a:pt x="33" y="839"/>
                  <a:pt x="27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5" y="300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6" y="119"/>
                  <a:pt x="283" y="107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5"/>
                  <a:pt x="374" y="56"/>
                  <a:pt x="393" y="48"/>
                </a:cubicBezTo>
                <a:cubicBezTo>
                  <a:pt x="412" y="40"/>
                  <a:pt x="432" y="33"/>
                  <a:pt x="452" y="27"/>
                </a:cubicBezTo>
                <a:cubicBezTo>
                  <a:pt x="471" y="21"/>
                  <a:pt x="492" y="16"/>
                  <a:pt x="512" y="12"/>
                </a:cubicBezTo>
                <a:cubicBezTo>
                  <a:pt x="532" y="8"/>
                  <a:pt x="553" y="5"/>
                  <a:pt x="574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7" y="1"/>
                  <a:pt x="698" y="3"/>
                </a:cubicBezTo>
                <a:cubicBezTo>
                  <a:pt x="719" y="5"/>
                  <a:pt x="739" y="8"/>
                  <a:pt x="760" y="12"/>
                </a:cubicBezTo>
                <a:cubicBezTo>
                  <a:pt x="780" y="16"/>
                  <a:pt x="800" y="21"/>
                  <a:pt x="820" y="27"/>
                </a:cubicBezTo>
                <a:cubicBezTo>
                  <a:pt x="840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4" y="85"/>
                  <a:pt x="971" y="96"/>
                  <a:pt x="989" y="107"/>
                </a:cubicBezTo>
                <a:cubicBezTo>
                  <a:pt x="1006" y="119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300"/>
                  <a:pt x="1186" y="317"/>
                  <a:pt x="1196" y="336"/>
                </a:cubicBezTo>
                <a:cubicBezTo>
                  <a:pt x="1206" y="354"/>
                  <a:pt x="1215" y="373"/>
                  <a:pt x="1222" y="392"/>
                </a:cubicBezTo>
                <a:cubicBezTo>
                  <a:pt x="1230" y="411"/>
                  <a:pt x="1237" y="431"/>
                  <a:pt x="1243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E3F2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任意形状 232"/>
          <p:cNvSpPr/>
          <p:nvPr/>
        </p:nvSpPr>
        <p:spPr>
          <a:xfrm>
            <a:off x="3047760" y="3219120"/>
            <a:ext cx="152640" cy="153000"/>
          </a:xfrm>
          <a:custGeom>
            <a:avLst/>
            <a:gdLst/>
            <a:ahLst/>
            <a:cxnLst/>
            <a:rect l="0" t="0" r="r" b="b"/>
            <a:pathLst>
              <a:path w="424" h="425" fill="none">
                <a:moveTo>
                  <a:pt x="213" y="53"/>
                </a:moveTo>
                <a:lnTo>
                  <a:pt x="213" y="0"/>
                </a:lnTo>
                <a:moveTo>
                  <a:pt x="213" y="53"/>
                </a:moveTo>
                <a:cubicBezTo>
                  <a:pt x="205" y="53"/>
                  <a:pt x="198" y="55"/>
                  <a:pt x="192" y="57"/>
                </a:cubicBezTo>
                <a:cubicBezTo>
                  <a:pt x="185" y="60"/>
                  <a:pt x="179" y="64"/>
                  <a:pt x="174" y="69"/>
                </a:cubicBezTo>
                <a:cubicBezTo>
                  <a:pt x="169" y="74"/>
                  <a:pt x="166" y="80"/>
                  <a:pt x="163" y="86"/>
                </a:cubicBezTo>
                <a:cubicBezTo>
                  <a:pt x="160" y="92"/>
                  <a:pt x="159" y="99"/>
                  <a:pt x="159" y="106"/>
                </a:cubicBezTo>
                <a:cubicBezTo>
                  <a:pt x="159" y="113"/>
                  <a:pt x="160" y="120"/>
                  <a:pt x="163" y="126"/>
                </a:cubicBezTo>
                <a:cubicBezTo>
                  <a:pt x="166" y="133"/>
                  <a:pt x="169" y="139"/>
                  <a:pt x="174" y="144"/>
                </a:cubicBezTo>
                <a:cubicBezTo>
                  <a:pt x="179" y="149"/>
                  <a:pt x="185" y="152"/>
                  <a:pt x="192" y="156"/>
                </a:cubicBezTo>
                <a:cubicBezTo>
                  <a:pt x="198" y="159"/>
                  <a:pt x="205" y="160"/>
                  <a:pt x="213" y="160"/>
                </a:cubicBezTo>
                <a:moveTo>
                  <a:pt x="213" y="53"/>
                </a:moveTo>
                <a:cubicBezTo>
                  <a:pt x="220" y="53"/>
                  <a:pt x="227" y="55"/>
                  <a:pt x="233" y="57"/>
                </a:cubicBezTo>
                <a:cubicBezTo>
                  <a:pt x="240" y="60"/>
                  <a:pt x="245" y="64"/>
                  <a:pt x="250" y="69"/>
                </a:cubicBezTo>
                <a:cubicBezTo>
                  <a:pt x="255" y="74"/>
                  <a:pt x="259" y="80"/>
                  <a:pt x="262" y="86"/>
                </a:cubicBezTo>
                <a:cubicBezTo>
                  <a:pt x="264" y="92"/>
                  <a:pt x="266" y="99"/>
                  <a:pt x="266" y="106"/>
                </a:cubicBezTo>
                <a:cubicBezTo>
                  <a:pt x="266" y="113"/>
                  <a:pt x="264" y="120"/>
                  <a:pt x="262" y="126"/>
                </a:cubicBezTo>
                <a:cubicBezTo>
                  <a:pt x="259" y="133"/>
                  <a:pt x="255" y="139"/>
                  <a:pt x="250" y="144"/>
                </a:cubicBezTo>
                <a:cubicBezTo>
                  <a:pt x="245" y="149"/>
                  <a:pt x="240" y="152"/>
                  <a:pt x="233" y="156"/>
                </a:cubicBezTo>
                <a:cubicBezTo>
                  <a:pt x="227" y="159"/>
                  <a:pt x="220" y="160"/>
                  <a:pt x="213" y="160"/>
                </a:cubicBezTo>
                <a:moveTo>
                  <a:pt x="53" y="372"/>
                </a:moveTo>
                <a:cubicBezTo>
                  <a:pt x="60" y="372"/>
                  <a:pt x="67" y="370"/>
                  <a:pt x="73" y="368"/>
                </a:cubicBezTo>
                <a:cubicBezTo>
                  <a:pt x="80" y="365"/>
                  <a:pt x="86" y="361"/>
                  <a:pt x="91" y="356"/>
                </a:cubicBezTo>
                <a:cubicBezTo>
                  <a:pt x="95" y="351"/>
                  <a:pt x="99" y="346"/>
                  <a:pt x="102" y="339"/>
                </a:cubicBezTo>
                <a:cubicBezTo>
                  <a:pt x="105" y="333"/>
                  <a:pt x="106" y="326"/>
                  <a:pt x="106" y="319"/>
                </a:cubicBezTo>
                <a:cubicBezTo>
                  <a:pt x="106" y="312"/>
                  <a:pt x="105" y="305"/>
                  <a:pt x="102" y="299"/>
                </a:cubicBezTo>
                <a:cubicBezTo>
                  <a:pt x="99" y="292"/>
                  <a:pt x="95" y="286"/>
                  <a:pt x="91" y="281"/>
                </a:cubicBezTo>
                <a:cubicBezTo>
                  <a:pt x="86" y="277"/>
                  <a:pt x="80" y="273"/>
                  <a:pt x="73" y="270"/>
                </a:cubicBezTo>
                <a:cubicBezTo>
                  <a:pt x="67" y="267"/>
                  <a:pt x="60" y="266"/>
                  <a:pt x="53" y="266"/>
                </a:cubicBezTo>
                <a:moveTo>
                  <a:pt x="53" y="372"/>
                </a:moveTo>
                <a:cubicBezTo>
                  <a:pt x="46" y="372"/>
                  <a:pt x="39" y="370"/>
                  <a:pt x="33" y="368"/>
                </a:cubicBezTo>
                <a:cubicBezTo>
                  <a:pt x="26" y="365"/>
                  <a:pt x="21" y="361"/>
                  <a:pt x="16" y="356"/>
                </a:cubicBezTo>
                <a:cubicBezTo>
                  <a:pt x="11" y="351"/>
                  <a:pt x="7" y="346"/>
                  <a:pt x="4" y="339"/>
                </a:cubicBezTo>
                <a:cubicBezTo>
                  <a:pt x="2" y="333"/>
                  <a:pt x="0" y="326"/>
                  <a:pt x="0" y="319"/>
                </a:cubicBezTo>
                <a:cubicBezTo>
                  <a:pt x="0" y="312"/>
                  <a:pt x="2" y="305"/>
                  <a:pt x="4" y="299"/>
                </a:cubicBezTo>
                <a:cubicBezTo>
                  <a:pt x="7" y="292"/>
                  <a:pt x="11" y="286"/>
                  <a:pt x="16" y="281"/>
                </a:cubicBezTo>
                <a:cubicBezTo>
                  <a:pt x="21" y="277"/>
                  <a:pt x="26" y="273"/>
                  <a:pt x="33" y="270"/>
                </a:cubicBezTo>
                <a:cubicBezTo>
                  <a:pt x="39" y="267"/>
                  <a:pt x="46" y="266"/>
                  <a:pt x="53" y="266"/>
                </a:cubicBezTo>
                <a:moveTo>
                  <a:pt x="53" y="372"/>
                </a:moveTo>
                <a:lnTo>
                  <a:pt x="53" y="425"/>
                </a:lnTo>
                <a:moveTo>
                  <a:pt x="53" y="266"/>
                </a:moveTo>
                <a:lnTo>
                  <a:pt x="53" y="0"/>
                </a:lnTo>
                <a:moveTo>
                  <a:pt x="213" y="160"/>
                </a:moveTo>
                <a:lnTo>
                  <a:pt x="213" y="425"/>
                </a:lnTo>
                <a:moveTo>
                  <a:pt x="372" y="372"/>
                </a:moveTo>
                <a:cubicBezTo>
                  <a:pt x="379" y="372"/>
                  <a:pt x="385" y="370"/>
                  <a:pt x="392" y="368"/>
                </a:cubicBezTo>
                <a:cubicBezTo>
                  <a:pt x="398" y="365"/>
                  <a:pt x="404" y="361"/>
                  <a:pt x="409" y="356"/>
                </a:cubicBezTo>
                <a:cubicBezTo>
                  <a:pt x="414" y="351"/>
                  <a:pt x="418" y="346"/>
                  <a:pt x="420" y="339"/>
                </a:cubicBezTo>
                <a:cubicBezTo>
                  <a:pt x="423" y="333"/>
                  <a:pt x="424" y="326"/>
                  <a:pt x="424" y="319"/>
                </a:cubicBezTo>
                <a:cubicBezTo>
                  <a:pt x="424" y="312"/>
                  <a:pt x="423" y="305"/>
                  <a:pt x="420" y="299"/>
                </a:cubicBezTo>
                <a:cubicBezTo>
                  <a:pt x="418" y="292"/>
                  <a:pt x="414" y="286"/>
                  <a:pt x="409" y="281"/>
                </a:cubicBezTo>
                <a:cubicBezTo>
                  <a:pt x="404" y="277"/>
                  <a:pt x="398" y="273"/>
                  <a:pt x="392" y="270"/>
                </a:cubicBezTo>
                <a:cubicBezTo>
                  <a:pt x="385" y="267"/>
                  <a:pt x="379" y="266"/>
                  <a:pt x="372" y="266"/>
                </a:cubicBezTo>
                <a:moveTo>
                  <a:pt x="372" y="372"/>
                </a:moveTo>
                <a:cubicBezTo>
                  <a:pt x="365" y="372"/>
                  <a:pt x="358" y="370"/>
                  <a:pt x="351" y="368"/>
                </a:cubicBezTo>
                <a:cubicBezTo>
                  <a:pt x="345" y="365"/>
                  <a:pt x="339" y="361"/>
                  <a:pt x="334" y="356"/>
                </a:cubicBezTo>
                <a:cubicBezTo>
                  <a:pt x="329" y="351"/>
                  <a:pt x="325" y="346"/>
                  <a:pt x="323" y="339"/>
                </a:cubicBezTo>
                <a:cubicBezTo>
                  <a:pt x="320" y="333"/>
                  <a:pt x="319" y="326"/>
                  <a:pt x="319" y="319"/>
                </a:cubicBezTo>
                <a:cubicBezTo>
                  <a:pt x="319" y="312"/>
                  <a:pt x="320" y="305"/>
                  <a:pt x="323" y="299"/>
                </a:cubicBezTo>
                <a:cubicBezTo>
                  <a:pt x="325" y="292"/>
                  <a:pt x="329" y="286"/>
                  <a:pt x="334" y="281"/>
                </a:cubicBezTo>
                <a:cubicBezTo>
                  <a:pt x="339" y="277"/>
                  <a:pt x="345" y="273"/>
                  <a:pt x="351" y="270"/>
                </a:cubicBezTo>
                <a:cubicBezTo>
                  <a:pt x="358" y="267"/>
                  <a:pt x="365" y="266"/>
                  <a:pt x="372" y="266"/>
                </a:cubicBezTo>
                <a:moveTo>
                  <a:pt x="372" y="372"/>
                </a:moveTo>
                <a:lnTo>
                  <a:pt x="372" y="425"/>
                </a:lnTo>
                <a:moveTo>
                  <a:pt x="372" y="266"/>
                </a:moveTo>
                <a:lnTo>
                  <a:pt x="372" y="0"/>
                </a:lnTo>
              </a:path>
            </a:pathLst>
          </a:custGeom>
          <a:ln w="18720" cap="rnd">
            <a:solidFill>
              <a:srgbClr val="1976D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文本框 233"/>
          <p:cNvSpPr txBox="1"/>
          <p:nvPr/>
        </p:nvSpPr>
        <p:spPr>
          <a:xfrm>
            <a:off x="743040" y="4534200"/>
            <a:ext cx="8398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乳腺超声影像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5" name="图片 234"/>
          <p:cNvPicPr/>
          <p:nvPr/>
        </p:nvPicPr>
        <p:blipFill>
          <a:blip r:embed="rId10"/>
          <a:stretch/>
        </p:blipFill>
        <p:spPr>
          <a:xfrm>
            <a:off x="2562120" y="405756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文本框 235"/>
          <p:cNvSpPr txBox="1"/>
          <p:nvPr/>
        </p:nvSpPr>
        <p:spPr>
          <a:xfrm>
            <a:off x="2867040" y="3702960"/>
            <a:ext cx="54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预处理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7" name="图片 236"/>
          <p:cNvPicPr/>
          <p:nvPr/>
        </p:nvPicPr>
        <p:blipFill>
          <a:blip r:embed="rId11"/>
          <a:stretch/>
        </p:blipFill>
        <p:spPr>
          <a:xfrm>
            <a:off x="2562120" y="445752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文本框 237"/>
          <p:cNvSpPr txBox="1"/>
          <p:nvPr/>
        </p:nvSpPr>
        <p:spPr>
          <a:xfrm>
            <a:off x="2805120" y="4134240"/>
            <a:ext cx="7700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去噪 </a:t>
            </a: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/ </a:t>
            </a:r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增强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39" name="图片 238"/>
          <p:cNvPicPr/>
          <p:nvPr/>
        </p:nvPicPr>
        <p:blipFill>
          <a:blip r:embed="rId9"/>
          <a:stretch/>
        </p:blipFill>
        <p:spPr>
          <a:xfrm>
            <a:off x="4343400" y="2838600"/>
            <a:ext cx="1523520" cy="21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任意形状 239"/>
          <p:cNvSpPr/>
          <p:nvPr/>
        </p:nvSpPr>
        <p:spPr>
          <a:xfrm>
            <a:off x="4876560" y="30668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6" y="934"/>
                </a:cubicBezTo>
                <a:cubicBezTo>
                  <a:pt x="1186" y="953"/>
                  <a:pt x="1176" y="971"/>
                  <a:pt x="1164" y="988"/>
                </a:cubicBezTo>
                <a:cubicBezTo>
                  <a:pt x="1153" y="1006"/>
                  <a:pt x="1140" y="1023"/>
                  <a:pt x="1127" y="1039"/>
                </a:cubicBezTo>
                <a:cubicBezTo>
                  <a:pt x="1114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8" y="1127"/>
                </a:cubicBezTo>
                <a:cubicBezTo>
                  <a:pt x="1022" y="1140"/>
                  <a:pt x="1005" y="1153"/>
                  <a:pt x="988" y="1164"/>
                </a:cubicBezTo>
                <a:cubicBezTo>
                  <a:pt x="971" y="1176"/>
                  <a:pt x="953" y="1186"/>
                  <a:pt x="935" y="1196"/>
                </a:cubicBezTo>
                <a:cubicBezTo>
                  <a:pt x="916" y="1206"/>
                  <a:pt x="897" y="1215"/>
                  <a:pt x="878" y="1223"/>
                </a:cubicBezTo>
                <a:cubicBezTo>
                  <a:pt x="859" y="1231"/>
                  <a:pt x="839" y="1238"/>
                  <a:pt x="819" y="1244"/>
                </a:cubicBezTo>
                <a:cubicBezTo>
                  <a:pt x="800" y="1250"/>
                  <a:pt x="779" y="1255"/>
                  <a:pt x="759" y="1259"/>
                </a:cubicBezTo>
                <a:cubicBezTo>
                  <a:pt x="739" y="1263"/>
                  <a:pt x="718" y="1266"/>
                  <a:pt x="697" y="1268"/>
                </a:cubicBezTo>
                <a:cubicBezTo>
                  <a:pt x="677" y="1270"/>
                  <a:pt x="656" y="1271"/>
                  <a:pt x="635" y="1271"/>
                </a:cubicBezTo>
                <a:cubicBezTo>
                  <a:pt x="614" y="1271"/>
                  <a:pt x="594" y="1270"/>
                  <a:pt x="573" y="1268"/>
                </a:cubicBezTo>
                <a:cubicBezTo>
                  <a:pt x="552" y="1266"/>
                  <a:pt x="532" y="1263"/>
                  <a:pt x="511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6" y="1196"/>
                </a:cubicBezTo>
                <a:cubicBezTo>
                  <a:pt x="317" y="1186"/>
                  <a:pt x="300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1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9" y="1006"/>
                  <a:pt x="107" y="988"/>
                </a:cubicBezTo>
                <a:cubicBezTo>
                  <a:pt x="96" y="971"/>
                  <a:pt x="85" y="953"/>
                  <a:pt x="75" y="934"/>
                </a:cubicBezTo>
                <a:cubicBezTo>
                  <a:pt x="65" y="916"/>
                  <a:pt x="56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6" y="300"/>
                  <a:pt x="107" y="282"/>
                </a:cubicBezTo>
                <a:cubicBezTo>
                  <a:pt x="119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1" y="171"/>
                  <a:pt x="216" y="157"/>
                  <a:pt x="232" y="144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300" y="96"/>
                  <a:pt x="317" y="85"/>
                  <a:pt x="336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1" y="27"/>
                </a:cubicBezTo>
                <a:cubicBezTo>
                  <a:pt x="471" y="21"/>
                  <a:pt x="491" y="16"/>
                  <a:pt x="511" y="12"/>
                </a:cubicBezTo>
                <a:cubicBezTo>
                  <a:pt x="532" y="8"/>
                  <a:pt x="552" y="5"/>
                  <a:pt x="573" y="3"/>
                </a:cubicBezTo>
                <a:cubicBezTo>
                  <a:pt x="594" y="1"/>
                  <a:pt x="614" y="0"/>
                  <a:pt x="635" y="0"/>
                </a:cubicBezTo>
                <a:cubicBezTo>
                  <a:pt x="656" y="0"/>
                  <a:pt x="677" y="1"/>
                  <a:pt x="697" y="3"/>
                </a:cubicBezTo>
                <a:cubicBezTo>
                  <a:pt x="718" y="5"/>
                  <a:pt x="739" y="8"/>
                  <a:pt x="759" y="12"/>
                </a:cubicBezTo>
                <a:cubicBezTo>
                  <a:pt x="779" y="16"/>
                  <a:pt x="800" y="21"/>
                  <a:pt x="819" y="27"/>
                </a:cubicBezTo>
                <a:cubicBezTo>
                  <a:pt x="839" y="33"/>
                  <a:pt x="859" y="40"/>
                  <a:pt x="878" y="48"/>
                </a:cubicBezTo>
                <a:cubicBezTo>
                  <a:pt x="897" y="56"/>
                  <a:pt x="916" y="65"/>
                  <a:pt x="935" y="75"/>
                </a:cubicBezTo>
                <a:cubicBezTo>
                  <a:pt x="953" y="85"/>
                  <a:pt x="971" y="96"/>
                  <a:pt x="988" y="107"/>
                </a:cubicBezTo>
                <a:cubicBezTo>
                  <a:pt x="1005" y="119"/>
                  <a:pt x="1022" y="131"/>
                  <a:pt x="1038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0" y="248"/>
                  <a:pt x="1153" y="265"/>
                  <a:pt x="1164" y="282"/>
                </a:cubicBezTo>
                <a:cubicBezTo>
                  <a:pt x="1176" y="300"/>
                  <a:pt x="1186" y="317"/>
                  <a:pt x="1196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任意形状 240"/>
          <p:cNvSpPr/>
          <p:nvPr/>
        </p:nvSpPr>
        <p:spPr>
          <a:xfrm>
            <a:off x="5017680" y="3219120"/>
            <a:ext cx="175320" cy="153000"/>
          </a:xfrm>
          <a:custGeom>
            <a:avLst/>
            <a:gdLst/>
            <a:ahLst/>
            <a:cxnLst/>
            <a:rect l="0" t="0" r="r" b="b"/>
            <a:pathLst>
              <a:path w="487" h="425" fill="none">
                <a:moveTo>
                  <a:pt x="441" y="304"/>
                </a:moveTo>
                <a:cubicBezTo>
                  <a:pt x="433" y="296"/>
                  <a:pt x="424" y="291"/>
                  <a:pt x="414" y="289"/>
                </a:cubicBezTo>
                <a:lnTo>
                  <a:pt x="350" y="277"/>
                </a:lnTo>
                <a:cubicBezTo>
                  <a:pt x="314" y="270"/>
                  <a:pt x="280" y="274"/>
                  <a:pt x="247" y="290"/>
                </a:cubicBezTo>
                <a:lnTo>
                  <a:pt x="239" y="295"/>
                </a:lnTo>
                <a:cubicBezTo>
                  <a:pt x="207" y="311"/>
                  <a:pt x="173" y="315"/>
                  <a:pt x="137" y="308"/>
                </a:cubicBezTo>
                <a:lnTo>
                  <a:pt x="86" y="298"/>
                </a:lnTo>
                <a:cubicBezTo>
                  <a:pt x="67" y="294"/>
                  <a:pt x="51" y="299"/>
                  <a:pt x="38" y="312"/>
                </a:cubicBezTo>
                <a:moveTo>
                  <a:pt x="137" y="0"/>
                </a:moveTo>
                <a:lnTo>
                  <a:pt x="349" y="0"/>
                </a:lnTo>
                <a:lnTo>
                  <a:pt x="323" y="27"/>
                </a:lnTo>
                <a:lnTo>
                  <a:pt x="323" y="165"/>
                </a:lnTo>
                <a:cubicBezTo>
                  <a:pt x="323" y="179"/>
                  <a:pt x="328" y="192"/>
                  <a:pt x="338" y="202"/>
                </a:cubicBezTo>
                <a:lnTo>
                  <a:pt x="471" y="334"/>
                </a:lnTo>
                <a:cubicBezTo>
                  <a:pt x="505" y="368"/>
                  <a:pt x="481" y="425"/>
                  <a:pt x="434" y="425"/>
                </a:cubicBezTo>
                <a:lnTo>
                  <a:pt x="53" y="425"/>
                </a:lnTo>
                <a:cubicBezTo>
                  <a:pt x="6" y="425"/>
                  <a:pt x="-17" y="368"/>
                  <a:pt x="16" y="334"/>
                </a:cubicBezTo>
                <a:lnTo>
                  <a:pt x="148" y="202"/>
                </a:lnTo>
                <a:cubicBezTo>
                  <a:pt x="159" y="192"/>
                  <a:pt x="164" y="179"/>
                  <a:pt x="164" y="165"/>
                </a:cubicBezTo>
                <a:lnTo>
                  <a:pt x="164" y="27"/>
                </a:lnTo>
                <a:lnTo>
                  <a:pt x="137" y="0"/>
                </a:ln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文本框 241"/>
          <p:cNvSpPr txBox="1"/>
          <p:nvPr/>
        </p:nvSpPr>
        <p:spPr>
          <a:xfrm>
            <a:off x="2924280" y="4534200"/>
            <a:ext cx="4197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归一化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3" name="图片 242"/>
          <p:cNvPicPr/>
          <p:nvPr/>
        </p:nvPicPr>
        <p:blipFill>
          <a:blip r:embed="rId13"/>
          <a:stretch/>
        </p:blipFill>
        <p:spPr>
          <a:xfrm>
            <a:off x="4543560" y="405756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文本框 243"/>
          <p:cNvSpPr txBox="1"/>
          <p:nvPr/>
        </p:nvSpPr>
        <p:spPr>
          <a:xfrm>
            <a:off x="4762440" y="370296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分类模块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5" name="图片 244"/>
          <p:cNvPicPr/>
          <p:nvPr/>
        </p:nvPicPr>
        <p:blipFill>
          <a:blip r:embed="rId11"/>
          <a:stretch/>
        </p:blipFill>
        <p:spPr>
          <a:xfrm>
            <a:off x="4543560" y="445752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文本框 245"/>
          <p:cNvSpPr txBox="1"/>
          <p:nvPr/>
        </p:nvSpPr>
        <p:spPr>
          <a:xfrm>
            <a:off x="4795920" y="4134240"/>
            <a:ext cx="59652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ResNet18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7" name="图片 246"/>
          <p:cNvPicPr/>
          <p:nvPr/>
        </p:nvPicPr>
        <p:blipFill>
          <a:blip r:embed="rId12"/>
          <a:stretch/>
        </p:blipFill>
        <p:spPr>
          <a:xfrm>
            <a:off x="6324480" y="2838600"/>
            <a:ext cx="1523520" cy="21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任意形状 247"/>
          <p:cNvSpPr/>
          <p:nvPr/>
        </p:nvSpPr>
        <p:spPr>
          <a:xfrm>
            <a:off x="6857640" y="30668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3"/>
                  <a:pt x="1176" y="971"/>
                  <a:pt x="1164" y="988"/>
                </a:cubicBezTo>
                <a:cubicBezTo>
                  <a:pt x="1153" y="1006"/>
                  <a:pt x="1141" y="1023"/>
                  <a:pt x="1127" y="1039"/>
                </a:cubicBezTo>
                <a:cubicBezTo>
                  <a:pt x="1114" y="1055"/>
                  <a:pt x="1100" y="1070"/>
                  <a:pt x="1086" y="1085"/>
                </a:cubicBezTo>
                <a:cubicBezTo>
                  <a:pt x="1071" y="1100"/>
                  <a:pt x="1055" y="1114"/>
                  <a:pt x="1039" y="1127"/>
                </a:cubicBezTo>
                <a:cubicBezTo>
                  <a:pt x="1023" y="1140"/>
                  <a:pt x="1007" y="1153"/>
                  <a:pt x="989" y="1164"/>
                </a:cubicBezTo>
                <a:cubicBezTo>
                  <a:pt x="972" y="1176"/>
                  <a:pt x="954" y="1186"/>
                  <a:pt x="936" y="1196"/>
                </a:cubicBezTo>
                <a:cubicBezTo>
                  <a:pt x="917" y="1206"/>
                  <a:pt x="899" y="1215"/>
                  <a:pt x="880" y="1223"/>
                </a:cubicBezTo>
                <a:cubicBezTo>
                  <a:pt x="860" y="1231"/>
                  <a:pt x="841" y="1238"/>
                  <a:pt x="821" y="1244"/>
                </a:cubicBezTo>
                <a:cubicBezTo>
                  <a:pt x="801" y="1250"/>
                  <a:pt x="781" y="1255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2" y="1231"/>
                  <a:pt x="392" y="1223"/>
                </a:cubicBezTo>
                <a:cubicBezTo>
                  <a:pt x="373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5" y="1153"/>
                  <a:pt x="249" y="1140"/>
                  <a:pt x="233" y="1127"/>
                </a:cubicBezTo>
                <a:cubicBezTo>
                  <a:pt x="217" y="1114"/>
                  <a:pt x="201" y="1100"/>
                  <a:pt x="186" y="1085"/>
                </a:cubicBezTo>
                <a:cubicBezTo>
                  <a:pt x="172" y="1070"/>
                  <a:pt x="158" y="1055"/>
                  <a:pt x="145" y="1039"/>
                </a:cubicBezTo>
                <a:cubicBezTo>
                  <a:pt x="131" y="1023"/>
                  <a:pt x="119" y="1006"/>
                  <a:pt x="108" y="988"/>
                </a:cubicBezTo>
                <a:cubicBezTo>
                  <a:pt x="96" y="971"/>
                  <a:pt x="85" y="953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2" y="800"/>
                  <a:pt x="17" y="779"/>
                  <a:pt x="13" y="759"/>
                </a:cubicBezTo>
                <a:cubicBezTo>
                  <a:pt x="9" y="739"/>
                  <a:pt x="6" y="718"/>
                  <a:pt x="4" y="697"/>
                </a:cubicBezTo>
                <a:cubicBezTo>
                  <a:pt x="2" y="677"/>
                  <a:pt x="0" y="656"/>
                  <a:pt x="0" y="635"/>
                </a:cubicBezTo>
                <a:cubicBezTo>
                  <a:pt x="0" y="614"/>
                  <a:pt x="2" y="594"/>
                  <a:pt x="4" y="573"/>
                </a:cubicBezTo>
                <a:cubicBezTo>
                  <a:pt x="6" y="552"/>
                  <a:pt x="9" y="532"/>
                  <a:pt x="13" y="511"/>
                </a:cubicBezTo>
                <a:cubicBezTo>
                  <a:pt x="17" y="491"/>
                  <a:pt x="22" y="471"/>
                  <a:pt x="28" y="451"/>
                </a:cubicBezTo>
                <a:cubicBezTo>
                  <a:pt x="34" y="431"/>
                  <a:pt x="41" y="411"/>
                  <a:pt x="49" y="392"/>
                </a:cubicBezTo>
                <a:cubicBezTo>
                  <a:pt x="57" y="373"/>
                  <a:pt x="66" y="354"/>
                  <a:pt x="75" y="336"/>
                </a:cubicBezTo>
                <a:cubicBezTo>
                  <a:pt x="85" y="317"/>
                  <a:pt x="96" y="300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1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9"/>
                  <a:pt x="283" y="107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5"/>
                  <a:pt x="972" y="96"/>
                  <a:pt x="989" y="107"/>
                </a:cubicBezTo>
                <a:cubicBezTo>
                  <a:pt x="1007" y="119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300"/>
                  <a:pt x="1187" y="317"/>
                  <a:pt x="1197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E3F2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任意形状 248"/>
          <p:cNvSpPr/>
          <p:nvPr/>
        </p:nvSpPr>
        <p:spPr>
          <a:xfrm>
            <a:off x="7010280" y="3219120"/>
            <a:ext cx="152640" cy="153000"/>
          </a:xfrm>
          <a:custGeom>
            <a:avLst/>
            <a:gdLst/>
            <a:ahLst/>
            <a:cxnLst/>
            <a:rect l="0" t="0" r="r" b="b"/>
            <a:pathLst>
              <a:path w="424" h="425" fill="none">
                <a:moveTo>
                  <a:pt x="0" y="27"/>
                </a:move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lnTo>
                  <a:pt x="398" y="0"/>
                </a:lnTo>
                <a:cubicBezTo>
                  <a:pt x="405" y="0"/>
                  <a:pt x="411" y="3"/>
                  <a:pt x="416" y="8"/>
                </a:cubicBezTo>
                <a:cubicBezTo>
                  <a:pt x="422" y="13"/>
                  <a:pt x="424" y="20"/>
                  <a:pt x="424" y="27"/>
                </a:cubicBezTo>
                <a:lnTo>
                  <a:pt x="424" y="80"/>
                </a:lnTo>
                <a:cubicBezTo>
                  <a:pt x="424" y="87"/>
                  <a:pt x="422" y="93"/>
                  <a:pt x="416" y="99"/>
                </a:cubicBezTo>
                <a:cubicBezTo>
                  <a:pt x="411" y="104"/>
                  <a:pt x="405" y="106"/>
                  <a:pt x="398" y="106"/>
                </a:cubicBezTo>
                <a:lnTo>
                  <a:pt x="26" y="106"/>
                </a:lnTo>
                <a:cubicBezTo>
                  <a:pt x="19" y="106"/>
                  <a:pt x="13" y="104"/>
                  <a:pt x="8" y="99"/>
                </a:cubicBezTo>
                <a:cubicBezTo>
                  <a:pt x="2" y="93"/>
                  <a:pt x="0" y="87"/>
                  <a:pt x="0" y="80"/>
                </a:cubicBezTo>
                <a:lnTo>
                  <a:pt x="0" y="27"/>
                </a:lnTo>
                <a:moveTo>
                  <a:pt x="0" y="240"/>
                </a:moveTo>
                <a:cubicBezTo>
                  <a:pt x="0" y="232"/>
                  <a:pt x="2" y="226"/>
                  <a:pt x="8" y="221"/>
                </a:cubicBezTo>
                <a:cubicBezTo>
                  <a:pt x="13" y="216"/>
                  <a:pt x="19" y="213"/>
                  <a:pt x="26" y="213"/>
                </a:cubicBezTo>
                <a:lnTo>
                  <a:pt x="185" y="213"/>
                </a:lnTo>
                <a:cubicBezTo>
                  <a:pt x="192" y="213"/>
                  <a:pt x="200" y="216"/>
                  <a:pt x="205" y="221"/>
                </a:cubicBezTo>
                <a:cubicBezTo>
                  <a:pt x="210" y="226"/>
                  <a:pt x="212" y="232"/>
                  <a:pt x="212" y="240"/>
                </a:cubicBezTo>
                <a:lnTo>
                  <a:pt x="212" y="398"/>
                </a:lnTo>
                <a:cubicBezTo>
                  <a:pt x="212" y="406"/>
                  <a:pt x="210" y="412"/>
                  <a:pt x="205" y="417"/>
                </a:cubicBezTo>
                <a:cubicBezTo>
                  <a:pt x="200" y="422"/>
                  <a:pt x="192" y="425"/>
                  <a:pt x="185" y="425"/>
                </a:cubicBezTo>
                <a:lnTo>
                  <a:pt x="26" y="425"/>
                </a:lnTo>
                <a:cubicBezTo>
                  <a:pt x="19" y="425"/>
                  <a:pt x="13" y="422"/>
                  <a:pt x="8" y="417"/>
                </a:cubicBezTo>
                <a:cubicBezTo>
                  <a:pt x="2" y="412"/>
                  <a:pt x="0" y="406"/>
                  <a:pt x="0" y="398"/>
                </a:cubicBezTo>
                <a:lnTo>
                  <a:pt x="0" y="240"/>
                </a:lnTo>
                <a:moveTo>
                  <a:pt x="318" y="240"/>
                </a:moveTo>
                <a:cubicBezTo>
                  <a:pt x="318" y="232"/>
                  <a:pt x="321" y="226"/>
                  <a:pt x="326" y="221"/>
                </a:cubicBezTo>
                <a:cubicBezTo>
                  <a:pt x="331" y="216"/>
                  <a:pt x="337" y="213"/>
                  <a:pt x="345" y="213"/>
                </a:cubicBezTo>
                <a:lnTo>
                  <a:pt x="398" y="213"/>
                </a:lnTo>
                <a:cubicBezTo>
                  <a:pt x="405" y="213"/>
                  <a:pt x="411" y="216"/>
                  <a:pt x="416" y="221"/>
                </a:cubicBezTo>
                <a:cubicBezTo>
                  <a:pt x="422" y="226"/>
                  <a:pt x="424" y="232"/>
                  <a:pt x="424" y="240"/>
                </a:cubicBezTo>
                <a:lnTo>
                  <a:pt x="424" y="398"/>
                </a:lnTo>
                <a:cubicBezTo>
                  <a:pt x="424" y="406"/>
                  <a:pt x="422" y="412"/>
                  <a:pt x="416" y="417"/>
                </a:cubicBezTo>
                <a:cubicBezTo>
                  <a:pt x="411" y="422"/>
                  <a:pt x="405" y="425"/>
                  <a:pt x="398" y="425"/>
                </a:cubicBezTo>
                <a:lnTo>
                  <a:pt x="345" y="425"/>
                </a:lnTo>
                <a:cubicBezTo>
                  <a:pt x="337" y="425"/>
                  <a:pt x="331" y="422"/>
                  <a:pt x="326" y="417"/>
                </a:cubicBezTo>
                <a:cubicBezTo>
                  <a:pt x="321" y="412"/>
                  <a:pt x="318" y="406"/>
                  <a:pt x="318" y="398"/>
                </a:cubicBezTo>
                <a:lnTo>
                  <a:pt x="318" y="240"/>
                </a:lnTo>
              </a:path>
            </a:pathLst>
          </a:custGeom>
          <a:ln w="18720" cap="rnd">
            <a:solidFill>
              <a:srgbClr val="1976D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4838760" y="453420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特征提取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1" name="图片 250"/>
          <p:cNvPicPr/>
          <p:nvPr/>
        </p:nvPicPr>
        <p:blipFill>
          <a:blip r:embed="rId13"/>
          <a:stretch/>
        </p:blipFill>
        <p:spPr>
          <a:xfrm>
            <a:off x="6524640" y="405756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文本框 251"/>
          <p:cNvSpPr txBox="1"/>
          <p:nvPr/>
        </p:nvSpPr>
        <p:spPr>
          <a:xfrm>
            <a:off x="6743520" y="370296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分割模块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3" name="图片 252"/>
          <p:cNvPicPr/>
          <p:nvPr/>
        </p:nvPicPr>
        <p:blipFill>
          <a:blip r:embed="rId10"/>
          <a:stretch/>
        </p:blipFill>
        <p:spPr>
          <a:xfrm>
            <a:off x="6524640" y="445752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文本框 253"/>
          <p:cNvSpPr txBox="1"/>
          <p:nvPr/>
        </p:nvSpPr>
        <p:spPr>
          <a:xfrm>
            <a:off x="6900840" y="4134240"/>
            <a:ext cx="36360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U-Net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5" name="图片 254"/>
          <p:cNvPicPr/>
          <p:nvPr/>
        </p:nvPicPr>
        <p:blipFill>
          <a:blip r:embed="rId9"/>
          <a:stretch/>
        </p:blipFill>
        <p:spPr>
          <a:xfrm>
            <a:off x="8305920" y="2838600"/>
            <a:ext cx="1523520" cy="21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任意形状 255"/>
          <p:cNvSpPr/>
          <p:nvPr/>
        </p:nvSpPr>
        <p:spPr>
          <a:xfrm>
            <a:off x="8839080" y="30668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3" y="819"/>
                </a:cubicBezTo>
                <a:cubicBezTo>
                  <a:pt x="1237" y="839"/>
                  <a:pt x="1230" y="859"/>
                  <a:pt x="1222" y="878"/>
                </a:cubicBezTo>
                <a:cubicBezTo>
                  <a:pt x="1215" y="897"/>
                  <a:pt x="1206" y="916"/>
                  <a:pt x="1196" y="934"/>
                </a:cubicBezTo>
                <a:cubicBezTo>
                  <a:pt x="1186" y="953"/>
                  <a:pt x="1175" y="971"/>
                  <a:pt x="1164" y="988"/>
                </a:cubicBezTo>
                <a:cubicBezTo>
                  <a:pt x="1152" y="1006"/>
                  <a:pt x="1140" y="1023"/>
                  <a:pt x="1127" y="1039"/>
                </a:cubicBezTo>
                <a:cubicBezTo>
                  <a:pt x="1114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3" y="1140"/>
                  <a:pt x="1006" y="1153"/>
                  <a:pt x="989" y="1164"/>
                </a:cubicBezTo>
                <a:cubicBezTo>
                  <a:pt x="971" y="1176"/>
                  <a:pt x="954" y="1186"/>
                  <a:pt x="935" y="1196"/>
                </a:cubicBezTo>
                <a:cubicBezTo>
                  <a:pt x="917" y="1206"/>
                  <a:pt x="898" y="1215"/>
                  <a:pt x="879" y="1223"/>
                </a:cubicBezTo>
                <a:cubicBezTo>
                  <a:pt x="860" y="1231"/>
                  <a:pt x="840" y="1238"/>
                  <a:pt x="820" y="1244"/>
                </a:cubicBezTo>
                <a:cubicBezTo>
                  <a:pt x="800" y="1250"/>
                  <a:pt x="780" y="1255"/>
                  <a:pt x="760" y="1259"/>
                </a:cubicBezTo>
                <a:cubicBezTo>
                  <a:pt x="739" y="1263"/>
                  <a:pt x="719" y="1266"/>
                  <a:pt x="698" y="1268"/>
                </a:cubicBezTo>
                <a:cubicBezTo>
                  <a:pt x="677" y="1270"/>
                  <a:pt x="657" y="1271"/>
                  <a:pt x="636" y="1271"/>
                </a:cubicBezTo>
                <a:cubicBezTo>
                  <a:pt x="615" y="1271"/>
                  <a:pt x="594" y="1270"/>
                  <a:pt x="574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2" y="1255"/>
                  <a:pt x="471" y="1250"/>
                  <a:pt x="451" y="1244"/>
                </a:cubicBezTo>
                <a:cubicBezTo>
                  <a:pt x="432" y="1238"/>
                  <a:pt x="412" y="1231"/>
                  <a:pt x="393" y="1223"/>
                </a:cubicBezTo>
                <a:cubicBezTo>
                  <a:pt x="374" y="1215"/>
                  <a:pt x="355" y="1206"/>
                  <a:pt x="336" y="1196"/>
                </a:cubicBezTo>
                <a:cubicBezTo>
                  <a:pt x="318" y="1186"/>
                  <a:pt x="300" y="1176"/>
                  <a:pt x="283" y="1164"/>
                </a:cubicBezTo>
                <a:cubicBezTo>
                  <a:pt x="266" y="1153"/>
                  <a:pt x="249" y="1140"/>
                  <a:pt x="233" y="1127"/>
                </a:cubicBezTo>
                <a:cubicBezTo>
                  <a:pt x="217" y="1114"/>
                  <a:pt x="202" y="1100"/>
                  <a:pt x="186" y="1085"/>
                </a:cubicBezTo>
                <a:cubicBezTo>
                  <a:pt x="171" y="1070"/>
                  <a:pt x="157" y="1055"/>
                  <a:pt x="144" y="1039"/>
                </a:cubicBezTo>
                <a:cubicBezTo>
                  <a:pt x="131" y="1023"/>
                  <a:pt x="118" y="1006"/>
                  <a:pt x="107" y="988"/>
                </a:cubicBezTo>
                <a:cubicBezTo>
                  <a:pt x="95" y="971"/>
                  <a:pt x="85" y="953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0" y="859"/>
                  <a:pt x="33" y="839"/>
                  <a:pt x="27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7" y="451"/>
                </a:cubicBezTo>
                <a:cubicBezTo>
                  <a:pt x="33" y="431"/>
                  <a:pt x="40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5" y="300"/>
                  <a:pt x="107" y="282"/>
                </a:cubicBezTo>
                <a:cubicBezTo>
                  <a:pt x="118" y="265"/>
                  <a:pt x="131" y="248"/>
                  <a:pt x="144" y="232"/>
                </a:cubicBezTo>
                <a:cubicBezTo>
                  <a:pt x="157" y="216"/>
                  <a:pt x="171" y="201"/>
                  <a:pt x="186" y="186"/>
                </a:cubicBezTo>
                <a:cubicBezTo>
                  <a:pt x="202" y="171"/>
                  <a:pt x="217" y="157"/>
                  <a:pt x="233" y="144"/>
                </a:cubicBezTo>
                <a:cubicBezTo>
                  <a:pt x="249" y="131"/>
                  <a:pt x="266" y="119"/>
                  <a:pt x="283" y="107"/>
                </a:cubicBezTo>
                <a:cubicBezTo>
                  <a:pt x="300" y="96"/>
                  <a:pt x="318" y="85"/>
                  <a:pt x="336" y="75"/>
                </a:cubicBezTo>
                <a:cubicBezTo>
                  <a:pt x="355" y="65"/>
                  <a:pt x="374" y="56"/>
                  <a:pt x="393" y="48"/>
                </a:cubicBezTo>
                <a:cubicBezTo>
                  <a:pt x="412" y="40"/>
                  <a:pt x="432" y="33"/>
                  <a:pt x="452" y="27"/>
                </a:cubicBezTo>
                <a:cubicBezTo>
                  <a:pt x="471" y="21"/>
                  <a:pt x="492" y="16"/>
                  <a:pt x="512" y="12"/>
                </a:cubicBezTo>
                <a:cubicBezTo>
                  <a:pt x="532" y="8"/>
                  <a:pt x="553" y="5"/>
                  <a:pt x="574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7" y="1"/>
                  <a:pt x="698" y="3"/>
                </a:cubicBezTo>
                <a:cubicBezTo>
                  <a:pt x="719" y="5"/>
                  <a:pt x="739" y="8"/>
                  <a:pt x="760" y="12"/>
                </a:cubicBezTo>
                <a:cubicBezTo>
                  <a:pt x="780" y="16"/>
                  <a:pt x="800" y="21"/>
                  <a:pt x="820" y="27"/>
                </a:cubicBezTo>
                <a:cubicBezTo>
                  <a:pt x="840" y="33"/>
                  <a:pt x="860" y="40"/>
                  <a:pt x="879" y="48"/>
                </a:cubicBezTo>
                <a:cubicBezTo>
                  <a:pt x="898" y="56"/>
                  <a:pt x="917" y="65"/>
                  <a:pt x="935" y="75"/>
                </a:cubicBezTo>
                <a:cubicBezTo>
                  <a:pt x="954" y="85"/>
                  <a:pt x="971" y="96"/>
                  <a:pt x="989" y="107"/>
                </a:cubicBezTo>
                <a:cubicBezTo>
                  <a:pt x="1006" y="119"/>
                  <a:pt x="1023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0" y="248"/>
                  <a:pt x="1152" y="265"/>
                  <a:pt x="1164" y="282"/>
                </a:cubicBezTo>
                <a:cubicBezTo>
                  <a:pt x="1175" y="300"/>
                  <a:pt x="1186" y="317"/>
                  <a:pt x="1196" y="336"/>
                </a:cubicBezTo>
                <a:cubicBezTo>
                  <a:pt x="1206" y="354"/>
                  <a:pt x="1215" y="373"/>
                  <a:pt x="1222" y="392"/>
                </a:cubicBezTo>
                <a:cubicBezTo>
                  <a:pt x="1230" y="411"/>
                  <a:pt x="1237" y="431"/>
                  <a:pt x="1243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任意形状 256"/>
          <p:cNvSpPr/>
          <p:nvPr/>
        </p:nvSpPr>
        <p:spPr>
          <a:xfrm>
            <a:off x="8982000" y="320976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 fill="none">
                <a:moveTo>
                  <a:pt x="159" y="238"/>
                </a:moveTo>
                <a:lnTo>
                  <a:pt x="212" y="291"/>
                </a:lnTo>
                <a:lnTo>
                  <a:pt x="318" y="185"/>
                </a:lnTo>
                <a:moveTo>
                  <a:pt x="477" y="238"/>
                </a:moveTo>
                <a:cubicBezTo>
                  <a:pt x="477" y="254"/>
                  <a:pt x="475" y="269"/>
                  <a:pt x="472" y="285"/>
                </a:cubicBezTo>
                <a:cubicBezTo>
                  <a:pt x="469" y="300"/>
                  <a:pt x="465" y="315"/>
                  <a:pt x="459" y="329"/>
                </a:cubicBezTo>
                <a:cubicBezTo>
                  <a:pt x="453" y="344"/>
                  <a:pt x="446" y="357"/>
                  <a:pt x="437" y="371"/>
                </a:cubicBezTo>
                <a:cubicBezTo>
                  <a:pt x="428" y="384"/>
                  <a:pt x="418" y="396"/>
                  <a:pt x="407" y="408"/>
                </a:cubicBezTo>
                <a:cubicBezTo>
                  <a:pt x="396" y="419"/>
                  <a:pt x="384" y="428"/>
                  <a:pt x="371" y="437"/>
                </a:cubicBezTo>
                <a:cubicBezTo>
                  <a:pt x="358" y="446"/>
                  <a:pt x="344" y="453"/>
                  <a:pt x="330" y="459"/>
                </a:cubicBezTo>
                <a:cubicBezTo>
                  <a:pt x="316" y="465"/>
                  <a:pt x="301" y="470"/>
                  <a:pt x="285" y="473"/>
                </a:cubicBezTo>
                <a:cubicBezTo>
                  <a:pt x="270" y="476"/>
                  <a:pt x="254" y="477"/>
                  <a:pt x="239" y="477"/>
                </a:cubicBezTo>
                <a:cubicBezTo>
                  <a:pt x="223" y="477"/>
                  <a:pt x="208" y="476"/>
                  <a:pt x="192" y="473"/>
                </a:cubicBezTo>
                <a:cubicBezTo>
                  <a:pt x="177" y="470"/>
                  <a:pt x="162" y="465"/>
                  <a:pt x="148" y="459"/>
                </a:cubicBezTo>
                <a:cubicBezTo>
                  <a:pt x="133" y="453"/>
                  <a:pt x="120" y="446"/>
                  <a:pt x="107" y="437"/>
                </a:cubicBezTo>
                <a:cubicBezTo>
                  <a:pt x="94" y="428"/>
                  <a:pt x="81" y="419"/>
                  <a:pt x="70" y="408"/>
                </a:cubicBezTo>
                <a:cubicBezTo>
                  <a:pt x="59" y="396"/>
                  <a:pt x="49" y="384"/>
                  <a:pt x="41" y="371"/>
                </a:cubicBezTo>
                <a:cubicBezTo>
                  <a:pt x="31" y="357"/>
                  <a:pt x="24" y="344"/>
                  <a:pt x="18" y="329"/>
                </a:cubicBezTo>
                <a:cubicBezTo>
                  <a:pt x="12" y="315"/>
                  <a:pt x="7" y="300"/>
                  <a:pt x="4" y="285"/>
                </a:cubicBezTo>
                <a:cubicBezTo>
                  <a:pt x="1" y="269"/>
                  <a:pt x="0" y="254"/>
                  <a:pt x="0" y="238"/>
                </a:cubicBezTo>
                <a:cubicBezTo>
                  <a:pt x="0" y="222"/>
                  <a:pt x="1" y="207"/>
                  <a:pt x="4" y="192"/>
                </a:cubicBezTo>
                <a:cubicBezTo>
                  <a:pt x="7" y="176"/>
                  <a:pt x="12" y="161"/>
                  <a:pt x="18" y="147"/>
                </a:cubicBezTo>
                <a:cubicBezTo>
                  <a:pt x="24" y="133"/>
                  <a:pt x="31" y="119"/>
                  <a:pt x="41" y="106"/>
                </a:cubicBezTo>
                <a:cubicBezTo>
                  <a:pt x="50" y="93"/>
                  <a:pt x="59" y="81"/>
                  <a:pt x="70" y="70"/>
                </a:cubicBezTo>
                <a:cubicBezTo>
                  <a:pt x="82" y="59"/>
                  <a:pt x="94" y="49"/>
                  <a:pt x="107" y="40"/>
                </a:cubicBezTo>
                <a:cubicBezTo>
                  <a:pt x="120" y="31"/>
                  <a:pt x="133" y="24"/>
                  <a:pt x="148" y="18"/>
                </a:cubicBezTo>
                <a:cubicBezTo>
                  <a:pt x="162" y="12"/>
                  <a:pt x="177" y="8"/>
                  <a:pt x="192" y="5"/>
                </a:cubicBezTo>
                <a:cubicBezTo>
                  <a:pt x="208" y="2"/>
                  <a:pt x="223" y="0"/>
                  <a:pt x="239" y="0"/>
                </a:cubicBezTo>
                <a:cubicBezTo>
                  <a:pt x="254" y="0"/>
                  <a:pt x="270" y="2"/>
                  <a:pt x="285" y="5"/>
                </a:cubicBezTo>
                <a:cubicBezTo>
                  <a:pt x="301" y="8"/>
                  <a:pt x="315" y="12"/>
                  <a:pt x="330" y="18"/>
                </a:cubicBezTo>
                <a:cubicBezTo>
                  <a:pt x="344" y="24"/>
                  <a:pt x="358" y="31"/>
                  <a:pt x="371" y="40"/>
                </a:cubicBezTo>
                <a:cubicBezTo>
                  <a:pt x="384" y="49"/>
                  <a:pt x="396" y="59"/>
                  <a:pt x="407" y="70"/>
                </a:cubicBezTo>
                <a:cubicBezTo>
                  <a:pt x="418" y="81"/>
                  <a:pt x="428" y="93"/>
                  <a:pt x="437" y="106"/>
                </a:cubicBezTo>
                <a:cubicBezTo>
                  <a:pt x="445" y="119"/>
                  <a:pt x="453" y="133"/>
                  <a:pt x="459" y="147"/>
                </a:cubicBezTo>
                <a:cubicBezTo>
                  <a:pt x="465" y="161"/>
                  <a:pt x="469" y="176"/>
                  <a:pt x="472" y="192"/>
                </a:cubicBezTo>
                <a:cubicBezTo>
                  <a:pt x="475" y="207"/>
                  <a:pt x="477" y="222"/>
                  <a:pt x="477" y="238"/>
                </a:cubicBez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文本框 257"/>
          <p:cNvSpPr txBox="1"/>
          <p:nvPr/>
        </p:nvSpPr>
        <p:spPr>
          <a:xfrm>
            <a:off x="6686640" y="4534200"/>
            <a:ext cx="8398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病灶区域定位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9" name="图片 258"/>
          <p:cNvPicPr/>
          <p:nvPr/>
        </p:nvPicPr>
        <p:blipFill>
          <a:blip r:embed="rId14"/>
          <a:stretch/>
        </p:blipFill>
        <p:spPr>
          <a:xfrm>
            <a:off x="8505720" y="405756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0" name="文本框 259"/>
          <p:cNvSpPr txBox="1"/>
          <p:nvPr/>
        </p:nvSpPr>
        <p:spPr>
          <a:xfrm>
            <a:off x="8724960" y="370296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可解释性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1" name="图片 260"/>
          <p:cNvPicPr/>
          <p:nvPr/>
        </p:nvPicPr>
        <p:blipFill>
          <a:blip r:embed="rId11"/>
          <a:stretch/>
        </p:blipFill>
        <p:spPr>
          <a:xfrm>
            <a:off x="8505720" y="445752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2" name="文本框 261"/>
          <p:cNvSpPr txBox="1"/>
          <p:nvPr/>
        </p:nvSpPr>
        <p:spPr>
          <a:xfrm>
            <a:off x="8748720" y="4134240"/>
            <a:ext cx="63936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F99600"/>
                </a:solidFill>
                <a:effectLst/>
                <a:uFillTx/>
                <a:latin typeface="NotoSansSC"/>
                <a:ea typeface="NotoSansSC"/>
              </a:rPr>
              <a:t>Grad-CAM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任意形状 262"/>
          <p:cNvSpPr/>
          <p:nvPr/>
        </p:nvSpPr>
        <p:spPr>
          <a:xfrm>
            <a:off x="10291680" y="2857320"/>
            <a:ext cx="1514880" cy="2119680"/>
          </a:xfrm>
          <a:custGeom>
            <a:avLst/>
            <a:gdLst/>
            <a:ahLst/>
            <a:cxnLst/>
            <a:rect l="0" t="0" r="r" b="b"/>
            <a:pathLst>
              <a:path w="4208" h="5888">
                <a:moveTo>
                  <a:pt x="0" y="5584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1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903" y="0"/>
                </a:lnTo>
                <a:cubicBezTo>
                  <a:pt x="3923" y="0"/>
                  <a:pt x="3943" y="2"/>
                  <a:pt x="3963" y="5"/>
                </a:cubicBezTo>
                <a:cubicBezTo>
                  <a:pt x="3982" y="8"/>
                  <a:pt x="4001" y="13"/>
                  <a:pt x="4020" y="20"/>
                </a:cubicBezTo>
                <a:cubicBezTo>
                  <a:pt x="4038" y="27"/>
                  <a:pt x="4056" y="35"/>
                  <a:pt x="4072" y="45"/>
                </a:cubicBezTo>
                <a:cubicBezTo>
                  <a:pt x="4089" y="54"/>
                  <a:pt x="4104" y="65"/>
                  <a:pt x="4118" y="77"/>
                </a:cubicBezTo>
                <a:cubicBezTo>
                  <a:pt x="4133" y="90"/>
                  <a:pt x="4145" y="103"/>
                  <a:pt x="4156" y="118"/>
                </a:cubicBezTo>
                <a:cubicBezTo>
                  <a:pt x="4167" y="132"/>
                  <a:pt x="4177" y="147"/>
                  <a:pt x="4184" y="163"/>
                </a:cubicBezTo>
                <a:cubicBezTo>
                  <a:pt x="4192" y="179"/>
                  <a:pt x="4198" y="196"/>
                  <a:pt x="4202" y="213"/>
                </a:cubicBezTo>
                <a:cubicBezTo>
                  <a:pt x="4206" y="230"/>
                  <a:pt x="4208" y="247"/>
                  <a:pt x="4208" y="265"/>
                </a:cubicBezTo>
                <a:lnTo>
                  <a:pt x="4208" y="5584"/>
                </a:lnTo>
                <a:cubicBezTo>
                  <a:pt x="4208" y="5604"/>
                  <a:pt x="4206" y="5623"/>
                  <a:pt x="4202" y="5643"/>
                </a:cubicBezTo>
                <a:cubicBezTo>
                  <a:pt x="4198" y="5663"/>
                  <a:pt x="4192" y="5682"/>
                  <a:pt x="4184" y="5700"/>
                </a:cubicBezTo>
                <a:cubicBezTo>
                  <a:pt x="4177" y="5719"/>
                  <a:pt x="4167" y="5736"/>
                  <a:pt x="4156" y="5753"/>
                </a:cubicBezTo>
                <a:cubicBezTo>
                  <a:pt x="4145" y="5769"/>
                  <a:pt x="4133" y="5785"/>
                  <a:pt x="4118" y="5799"/>
                </a:cubicBezTo>
                <a:cubicBezTo>
                  <a:pt x="4104" y="5813"/>
                  <a:pt x="4089" y="5826"/>
                  <a:pt x="4072" y="5837"/>
                </a:cubicBezTo>
                <a:cubicBezTo>
                  <a:pt x="4056" y="5848"/>
                  <a:pt x="4038" y="5857"/>
                  <a:pt x="4020" y="5865"/>
                </a:cubicBezTo>
                <a:cubicBezTo>
                  <a:pt x="4001" y="5872"/>
                  <a:pt x="3982" y="5878"/>
                  <a:pt x="3963" y="5882"/>
                </a:cubicBezTo>
                <a:cubicBezTo>
                  <a:pt x="3943" y="5886"/>
                  <a:pt x="3923" y="5888"/>
                  <a:pt x="3903" y="5888"/>
                </a:cubicBezTo>
                <a:lnTo>
                  <a:pt x="304" y="5888"/>
                </a:lnTo>
                <a:cubicBezTo>
                  <a:pt x="284" y="5888"/>
                  <a:pt x="264" y="5886"/>
                  <a:pt x="245" y="5882"/>
                </a:cubicBezTo>
                <a:cubicBezTo>
                  <a:pt x="225" y="5878"/>
                  <a:pt x="206" y="5872"/>
                  <a:pt x="188" y="5865"/>
                </a:cubicBezTo>
                <a:cubicBezTo>
                  <a:pt x="169" y="5857"/>
                  <a:pt x="152" y="5848"/>
                  <a:pt x="135" y="5837"/>
                </a:cubicBezTo>
                <a:cubicBezTo>
                  <a:pt x="118" y="5826"/>
                  <a:pt x="103" y="5813"/>
                  <a:pt x="89" y="5799"/>
                </a:cubicBezTo>
                <a:cubicBezTo>
                  <a:pt x="75" y="5785"/>
                  <a:pt x="62" y="5769"/>
                  <a:pt x="51" y="5753"/>
                </a:cubicBezTo>
                <a:cubicBezTo>
                  <a:pt x="40" y="5736"/>
                  <a:pt x="31" y="5719"/>
                  <a:pt x="23" y="5700"/>
                </a:cubicBezTo>
                <a:cubicBezTo>
                  <a:pt x="15" y="5682"/>
                  <a:pt x="9" y="5663"/>
                  <a:pt x="6" y="5643"/>
                </a:cubicBezTo>
                <a:cubicBezTo>
                  <a:pt x="2" y="5623"/>
                  <a:pt x="0" y="5604"/>
                  <a:pt x="0" y="5584"/>
                </a:cubicBezTo>
                <a:close/>
              </a:path>
            </a:pathLst>
          </a:custGeom>
          <a:solidFill>
            <a:srgbClr val="FFFFFF">
              <a:alpha val="9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任意形状 263"/>
          <p:cNvSpPr/>
          <p:nvPr/>
        </p:nvSpPr>
        <p:spPr>
          <a:xfrm>
            <a:off x="10286640" y="2838240"/>
            <a:ext cx="1524600" cy="2143440"/>
          </a:xfrm>
          <a:custGeom>
            <a:avLst/>
            <a:gdLst/>
            <a:ahLst/>
            <a:cxnLst/>
            <a:rect l="0" t="0" r="r" b="b"/>
            <a:pathLst>
              <a:path w="4235" h="5954">
                <a:moveTo>
                  <a:pt x="0" y="5637"/>
                </a:moveTo>
                <a:lnTo>
                  <a:pt x="0" y="318"/>
                </a:lnTo>
                <a:cubicBezTo>
                  <a:pt x="0" y="297"/>
                  <a:pt x="3" y="276"/>
                  <a:pt x="7" y="256"/>
                </a:cubicBezTo>
                <a:cubicBezTo>
                  <a:pt x="11" y="235"/>
                  <a:pt x="17" y="215"/>
                  <a:pt x="25" y="196"/>
                </a:cubicBezTo>
                <a:cubicBezTo>
                  <a:pt x="33" y="177"/>
                  <a:pt x="42" y="159"/>
                  <a:pt x="54" y="141"/>
                </a:cubicBezTo>
                <a:cubicBezTo>
                  <a:pt x="66" y="124"/>
                  <a:pt x="79" y="108"/>
                  <a:pt x="93" y="93"/>
                </a:cubicBezTo>
                <a:cubicBezTo>
                  <a:pt x="108" y="78"/>
                  <a:pt x="124" y="65"/>
                  <a:pt x="142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6" y="10"/>
                  <a:pt x="256" y="6"/>
                </a:cubicBezTo>
                <a:cubicBezTo>
                  <a:pt x="277" y="2"/>
                  <a:pt x="297" y="0"/>
                  <a:pt x="318" y="0"/>
                </a:cubicBezTo>
                <a:lnTo>
                  <a:pt x="3917" y="0"/>
                </a:lnTo>
                <a:cubicBezTo>
                  <a:pt x="3938" y="0"/>
                  <a:pt x="3959" y="2"/>
                  <a:pt x="3979" y="6"/>
                </a:cubicBezTo>
                <a:cubicBezTo>
                  <a:pt x="4000" y="10"/>
                  <a:pt x="4020" y="16"/>
                  <a:pt x="4039" y="24"/>
                </a:cubicBezTo>
                <a:cubicBezTo>
                  <a:pt x="4058" y="32"/>
                  <a:pt x="4076" y="42"/>
                  <a:pt x="4094" y="54"/>
                </a:cubicBezTo>
                <a:cubicBezTo>
                  <a:pt x="4111" y="65"/>
                  <a:pt x="4127" y="78"/>
                  <a:pt x="4142" y="93"/>
                </a:cubicBezTo>
                <a:cubicBezTo>
                  <a:pt x="4157" y="108"/>
                  <a:pt x="4170" y="124"/>
                  <a:pt x="4181" y="141"/>
                </a:cubicBezTo>
                <a:cubicBezTo>
                  <a:pt x="4193" y="159"/>
                  <a:pt x="4203" y="177"/>
                  <a:pt x="4211" y="196"/>
                </a:cubicBezTo>
                <a:cubicBezTo>
                  <a:pt x="4219" y="215"/>
                  <a:pt x="4225" y="235"/>
                  <a:pt x="4229" y="256"/>
                </a:cubicBezTo>
                <a:cubicBezTo>
                  <a:pt x="4233" y="276"/>
                  <a:pt x="4235" y="297"/>
                  <a:pt x="4235" y="318"/>
                </a:cubicBezTo>
                <a:lnTo>
                  <a:pt x="4235" y="5637"/>
                </a:lnTo>
                <a:cubicBezTo>
                  <a:pt x="4235" y="5658"/>
                  <a:pt x="4233" y="5678"/>
                  <a:pt x="4229" y="5699"/>
                </a:cubicBezTo>
                <a:cubicBezTo>
                  <a:pt x="4225" y="5719"/>
                  <a:pt x="4219" y="5739"/>
                  <a:pt x="4211" y="5758"/>
                </a:cubicBezTo>
                <a:cubicBezTo>
                  <a:pt x="4203" y="5777"/>
                  <a:pt x="4193" y="5796"/>
                  <a:pt x="4181" y="5813"/>
                </a:cubicBezTo>
                <a:cubicBezTo>
                  <a:pt x="4170" y="5830"/>
                  <a:pt x="4157" y="5846"/>
                  <a:pt x="4142" y="5861"/>
                </a:cubicBezTo>
                <a:cubicBezTo>
                  <a:pt x="4127" y="5876"/>
                  <a:pt x="4111" y="5889"/>
                  <a:pt x="4094" y="5901"/>
                </a:cubicBezTo>
                <a:cubicBezTo>
                  <a:pt x="4076" y="5912"/>
                  <a:pt x="4058" y="5922"/>
                  <a:pt x="4039" y="5930"/>
                </a:cubicBezTo>
                <a:cubicBezTo>
                  <a:pt x="4020" y="5938"/>
                  <a:pt x="4000" y="5944"/>
                  <a:pt x="3979" y="5948"/>
                </a:cubicBezTo>
                <a:cubicBezTo>
                  <a:pt x="3959" y="5952"/>
                  <a:pt x="3938" y="5954"/>
                  <a:pt x="3917" y="5954"/>
                </a:cubicBezTo>
                <a:lnTo>
                  <a:pt x="318" y="5954"/>
                </a:lnTo>
                <a:cubicBezTo>
                  <a:pt x="297" y="5954"/>
                  <a:pt x="277" y="5952"/>
                  <a:pt x="256" y="5948"/>
                </a:cubicBezTo>
                <a:cubicBezTo>
                  <a:pt x="236" y="5944"/>
                  <a:pt x="216" y="5938"/>
                  <a:pt x="196" y="5930"/>
                </a:cubicBezTo>
                <a:cubicBezTo>
                  <a:pt x="177" y="5922"/>
                  <a:pt x="159" y="5912"/>
                  <a:pt x="142" y="5901"/>
                </a:cubicBezTo>
                <a:cubicBezTo>
                  <a:pt x="124" y="5889"/>
                  <a:pt x="108" y="5876"/>
                  <a:pt x="93" y="5861"/>
                </a:cubicBezTo>
                <a:cubicBezTo>
                  <a:pt x="79" y="5846"/>
                  <a:pt x="66" y="5830"/>
                  <a:pt x="54" y="5813"/>
                </a:cubicBezTo>
                <a:cubicBezTo>
                  <a:pt x="42" y="5796"/>
                  <a:pt x="33" y="5777"/>
                  <a:pt x="25" y="5758"/>
                </a:cubicBezTo>
                <a:cubicBezTo>
                  <a:pt x="17" y="5739"/>
                  <a:pt x="11" y="5719"/>
                  <a:pt x="7" y="5699"/>
                </a:cubicBezTo>
                <a:cubicBezTo>
                  <a:pt x="3" y="5678"/>
                  <a:pt x="0" y="5658"/>
                  <a:pt x="0" y="5637"/>
                </a:cubicBezTo>
                <a:moveTo>
                  <a:pt x="27" y="5637"/>
                </a:moveTo>
                <a:lnTo>
                  <a:pt x="27" y="318"/>
                </a:lnTo>
                <a:cubicBezTo>
                  <a:pt x="27" y="304"/>
                  <a:pt x="29" y="290"/>
                  <a:pt x="33" y="276"/>
                </a:cubicBezTo>
                <a:cubicBezTo>
                  <a:pt x="36" y="263"/>
                  <a:pt x="42" y="249"/>
                  <a:pt x="49" y="237"/>
                </a:cubicBezTo>
                <a:cubicBezTo>
                  <a:pt x="56" y="224"/>
                  <a:pt x="65" y="212"/>
                  <a:pt x="76" y="200"/>
                </a:cubicBezTo>
                <a:cubicBezTo>
                  <a:pt x="87" y="188"/>
                  <a:pt x="99" y="178"/>
                  <a:pt x="112" y="168"/>
                </a:cubicBezTo>
                <a:cubicBezTo>
                  <a:pt x="126" y="158"/>
                  <a:pt x="140" y="149"/>
                  <a:pt x="156" y="142"/>
                </a:cubicBezTo>
                <a:cubicBezTo>
                  <a:pt x="172" y="134"/>
                  <a:pt x="189" y="127"/>
                  <a:pt x="207" y="122"/>
                </a:cubicBezTo>
                <a:cubicBezTo>
                  <a:pt x="224" y="117"/>
                  <a:pt x="242" y="113"/>
                  <a:pt x="261" y="110"/>
                </a:cubicBezTo>
                <a:cubicBezTo>
                  <a:pt x="280" y="107"/>
                  <a:pt x="299" y="106"/>
                  <a:pt x="318" y="106"/>
                </a:cubicBezTo>
                <a:lnTo>
                  <a:pt x="3917" y="106"/>
                </a:lnTo>
                <a:cubicBezTo>
                  <a:pt x="3936" y="106"/>
                  <a:pt x="3955" y="107"/>
                  <a:pt x="3974" y="110"/>
                </a:cubicBezTo>
                <a:cubicBezTo>
                  <a:pt x="3993" y="113"/>
                  <a:pt x="4011" y="117"/>
                  <a:pt x="4029" y="122"/>
                </a:cubicBezTo>
                <a:cubicBezTo>
                  <a:pt x="4046" y="127"/>
                  <a:pt x="4063" y="134"/>
                  <a:pt x="4079" y="142"/>
                </a:cubicBezTo>
                <a:cubicBezTo>
                  <a:pt x="4095" y="149"/>
                  <a:pt x="4110" y="158"/>
                  <a:pt x="4123" y="168"/>
                </a:cubicBezTo>
                <a:cubicBezTo>
                  <a:pt x="4137" y="178"/>
                  <a:pt x="4149" y="188"/>
                  <a:pt x="4159" y="200"/>
                </a:cubicBezTo>
                <a:cubicBezTo>
                  <a:pt x="4170" y="212"/>
                  <a:pt x="4179" y="224"/>
                  <a:pt x="4186" y="237"/>
                </a:cubicBezTo>
                <a:cubicBezTo>
                  <a:pt x="4194" y="249"/>
                  <a:pt x="4199" y="263"/>
                  <a:pt x="4203" y="276"/>
                </a:cubicBezTo>
                <a:cubicBezTo>
                  <a:pt x="4207" y="290"/>
                  <a:pt x="4208" y="304"/>
                  <a:pt x="4208" y="318"/>
                </a:cubicBezTo>
                <a:lnTo>
                  <a:pt x="4208" y="5637"/>
                </a:lnTo>
                <a:cubicBezTo>
                  <a:pt x="4208" y="5656"/>
                  <a:pt x="4207" y="5675"/>
                  <a:pt x="4203" y="5693"/>
                </a:cubicBezTo>
                <a:cubicBezTo>
                  <a:pt x="4199" y="5712"/>
                  <a:pt x="4194" y="5730"/>
                  <a:pt x="4186" y="5748"/>
                </a:cubicBezTo>
                <a:cubicBezTo>
                  <a:pt x="4179" y="5766"/>
                  <a:pt x="4170" y="5783"/>
                  <a:pt x="4159" y="5798"/>
                </a:cubicBezTo>
                <a:cubicBezTo>
                  <a:pt x="4149" y="5814"/>
                  <a:pt x="4137" y="5829"/>
                  <a:pt x="4123" y="5843"/>
                </a:cubicBezTo>
                <a:cubicBezTo>
                  <a:pt x="4110" y="5856"/>
                  <a:pt x="4095" y="5868"/>
                  <a:pt x="4079" y="5879"/>
                </a:cubicBezTo>
                <a:cubicBezTo>
                  <a:pt x="4063" y="5889"/>
                  <a:pt x="4046" y="5898"/>
                  <a:pt x="4029" y="5906"/>
                </a:cubicBezTo>
                <a:cubicBezTo>
                  <a:pt x="4011" y="5913"/>
                  <a:pt x="3993" y="5918"/>
                  <a:pt x="3974" y="5922"/>
                </a:cubicBezTo>
                <a:cubicBezTo>
                  <a:pt x="3955" y="5926"/>
                  <a:pt x="3936" y="5928"/>
                  <a:pt x="3917" y="5928"/>
                </a:cubicBezTo>
                <a:lnTo>
                  <a:pt x="318" y="5928"/>
                </a:lnTo>
                <a:cubicBezTo>
                  <a:pt x="299" y="5928"/>
                  <a:pt x="280" y="5926"/>
                  <a:pt x="261" y="5922"/>
                </a:cubicBezTo>
                <a:cubicBezTo>
                  <a:pt x="242" y="5918"/>
                  <a:pt x="224" y="5913"/>
                  <a:pt x="207" y="5906"/>
                </a:cubicBezTo>
                <a:cubicBezTo>
                  <a:pt x="189" y="5898"/>
                  <a:pt x="172" y="5889"/>
                  <a:pt x="156" y="5879"/>
                </a:cubicBezTo>
                <a:cubicBezTo>
                  <a:pt x="140" y="5868"/>
                  <a:pt x="126" y="5856"/>
                  <a:pt x="112" y="5843"/>
                </a:cubicBezTo>
                <a:cubicBezTo>
                  <a:pt x="99" y="5829"/>
                  <a:pt x="87" y="5814"/>
                  <a:pt x="76" y="5798"/>
                </a:cubicBezTo>
                <a:cubicBezTo>
                  <a:pt x="65" y="5783"/>
                  <a:pt x="56" y="5766"/>
                  <a:pt x="49" y="5748"/>
                </a:cubicBezTo>
                <a:cubicBezTo>
                  <a:pt x="42" y="5730"/>
                  <a:pt x="36" y="5712"/>
                  <a:pt x="33" y="5693"/>
                </a:cubicBezTo>
                <a:cubicBezTo>
                  <a:pt x="29" y="5675"/>
                  <a:pt x="27" y="5656"/>
                  <a:pt x="27" y="5637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任意形状 264"/>
          <p:cNvSpPr/>
          <p:nvPr/>
        </p:nvSpPr>
        <p:spPr>
          <a:xfrm>
            <a:off x="10820160" y="306684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7"/>
                  <a:pt x="1268" y="697"/>
                </a:cubicBezTo>
                <a:cubicBezTo>
                  <a:pt x="1266" y="718"/>
                  <a:pt x="1263" y="739"/>
                  <a:pt x="1259" y="759"/>
                </a:cubicBezTo>
                <a:cubicBezTo>
                  <a:pt x="1255" y="779"/>
                  <a:pt x="1250" y="800"/>
                  <a:pt x="1244" y="819"/>
                </a:cubicBezTo>
                <a:cubicBezTo>
                  <a:pt x="1238" y="839"/>
                  <a:pt x="1231" y="859"/>
                  <a:pt x="1223" y="878"/>
                </a:cubicBezTo>
                <a:cubicBezTo>
                  <a:pt x="1215" y="897"/>
                  <a:pt x="1206" y="916"/>
                  <a:pt x="1196" y="934"/>
                </a:cubicBezTo>
                <a:cubicBezTo>
                  <a:pt x="1186" y="953"/>
                  <a:pt x="1176" y="971"/>
                  <a:pt x="1164" y="988"/>
                </a:cubicBezTo>
                <a:cubicBezTo>
                  <a:pt x="1153" y="1006"/>
                  <a:pt x="1140" y="1023"/>
                  <a:pt x="1127" y="1039"/>
                </a:cubicBezTo>
                <a:cubicBezTo>
                  <a:pt x="1114" y="1055"/>
                  <a:pt x="1100" y="1070"/>
                  <a:pt x="1085" y="1085"/>
                </a:cubicBezTo>
                <a:cubicBezTo>
                  <a:pt x="1070" y="1100"/>
                  <a:pt x="1055" y="1114"/>
                  <a:pt x="1039" y="1127"/>
                </a:cubicBezTo>
                <a:cubicBezTo>
                  <a:pt x="1022" y="1140"/>
                  <a:pt x="1005" y="1153"/>
                  <a:pt x="988" y="1164"/>
                </a:cubicBezTo>
                <a:cubicBezTo>
                  <a:pt x="971" y="1176"/>
                  <a:pt x="953" y="1186"/>
                  <a:pt x="935" y="1196"/>
                </a:cubicBezTo>
                <a:cubicBezTo>
                  <a:pt x="916" y="1206"/>
                  <a:pt x="897" y="1215"/>
                  <a:pt x="878" y="1223"/>
                </a:cubicBezTo>
                <a:cubicBezTo>
                  <a:pt x="859" y="1231"/>
                  <a:pt x="839" y="1238"/>
                  <a:pt x="819" y="1244"/>
                </a:cubicBezTo>
                <a:cubicBezTo>
                  <a:pt x="800" y="1250"/>
                  <a:pt x="779" y="1255"/>
                  <a:pt x="759" y="1259"/>
                </a:cubicBezTo>
                <a:cubicBezTo>
                  <a:pt x="739" y="1263"/>
                  <a:pt x="718" y="1266"/>
                  <a:pt x="697" y="1268"/>
                </a:cubicBezTo>
                <a:cubicBezTo>
                  <a:pt x="677" y="1270"/>
                  <a:pt x="656" y="1271"/>
                  <a:pt x="635" y="1271"/>
                </a:cubicBezTo>
                <a:cubicBezTo>
                  <a:pt x="614" y="1271"/>
                  <a:pt x="594" y="1270"/>
                  <a:pt x="573" y="1268"/>
                </a:cubicBezTo>
                <a:cubicBezTo>
                  <a:pt x="552" y="1266"/>
                  <a:pt x="532" y="1263"/>
                  <a:pt x="511" y="1259"/>
                </a:cubicBezTo>
                <a:cubicBezTo>
                  <a:pt x="491" y="1255"/>
                  <a:pt x="471" y="1250"/>
                  <a:pt x="451" y="1244"/>
                </a:cubicBezTo>
                <a:cubicBezTo>
                  <a:pt x="431" y="1238"/>
                  <a:pt x="411" y="1231"/>
                  <a:pt x="392" y="1223"/>
                </a:cubicBezTo>
                <a:cubicBezTo>
                  <a:pt x="373" y="1215"/>
                  <a:pt x="354" y="1206"/>
                  <a:pt x="336" y="1196"/>
                </a:cubicBezTo>
                <a:cubicBezTo>
                  <a:pt x="317" y="1186"/>
                  <a:pt x="300" y="1176"/>
                  <a:pt x="282" y="1164"/>
                </a:cubicBezTo>
                <a:cubicBezTo>
                  <a:pt x="265" y="1153"/>
                  <a:pt x="248" y="1140"/>
                  <a:pt x="232" y="1127"/>
                </a:cubicBezTo>
                <a:cubicBezTo>
                  <a:pt x="216" y="1114"/>
                  <a:pt x="201" y="1100"/>
                  <a:pt x="186" y="1085"/>
                </a:cubicBezTo>
                <a:cubicBezTo>
                  <a:pt x="171" y="1070"/>
                  <a:pt x="158" y="1055"/>
                  <a:pt x="144" y="1039"/>
                </a:cubicBezTo>
                <a:cubicBezTo>
                  <a:pt x="131" y="1023"/>
                  <a:pt x="119" y="1006"/>
                  <a:pt x="107" y="988"/>
                </a:cubicBezTo>
                <a:cubicBezTo>
                  <a:pt x="96" y="971"/>
                  <a:pt x="85" y="953"/>
                  <a:pt x="75" y="934"/>
                </a:cubicBezTo>
                <a:cubicBezTo>
                  <a:pt x="65" y="916"/>
                  <a:pt x="56" y="897"/>
                  <a:pt x="48" y="878"/>
                </a:cubicBezTo>
                <a:cubicBezTo>
                  <a:pt x="41" y="859"/>
                  <a:pt x="34" y="839"/>
                  <a:pt x="28" y="819"/>
                </a:cubicBezTo>
                <a:cubicBezTo>
                  <a:pt x="21" y="800"/>
                  <a:pt x="16" y="779"/>
                  <a:pt x="12" y="759"/>
                </a:cubicBezTo>
                <a:cubicBezTo>
                  <a:pt x="8" y="739"/>
                  <a:pt x="5" y="718"/>
                  <a:pt x="3" y="697"/>
                </a:cubicBezTo>
                <a:cubicBezTo>
                  <a:pt x="1" y="677"/>
                  <a:pt x="0" y="656"/>
                  <a:pt x="0" y="635"/>
                </a:cubicBezTo>
                <a:cubicBezTo>
                  <a:pt x="0" y="614"/>
                  <a:pt x="1" y="594"/>
                  <a:pt x="3" y="573"/>
                </a:cubicBezTo>
                <a:cubicBezTo>
                  <a:pt x="5" y="552"/>
                  <a:pt x="8" y="532"/>
                  <a:pt x="12" y="511"/>
                </a:cubicBezTo>
                <a:cubicBezTo>
                  <a:pt x="16" y="491"/>
                  <a:pt x="21" y="471"/>
                  <a:pt x="28" y="451"/>
                </a:cubicBezTo>
                <a:cubicBezTo>
                  <a:pt x="34" y="431"/>
                  <a:pt x="41" y="411"/>
                  <a:pt x="48" y="392"/>
                </a:cubicBezTo>
                <a:cubicBezTo>
                  <a:pt x="56" y="373"/>
                  <a:pt x="65" y="354"/>
                  <a:pt x="75" y="336"/>
                </a:cubicBezTo>
                <a:cubicBezTo>
                  <a:pt x="85" y="317"/>
                  <a:pt x="96" y="300"/>
                  <a:pt x="107" y="282"/>
                </a:cubicBezTo>
                <a:cubicBezTo>
                  <a:pt x="119" y="265"/>
                  <a:pt x="131" y="248"/>
                  <a:pt x="144" y="232"/>
                </a:cubicBezTo>
                <a:cubicBezTo>
                  <a:pt x="158" y="216"/>
                  <a:pt x="171" y="201"/>
                  <a:pt x="186" y="186"/>
                </a:cubicBezTo>
                <a:cubicBezTo>
                  <a:pt x="201" y="171"/>
                  <a:pt x="216" y="157"/>
                  <a:pt x="232" y="144"/>
                </a:cubicBezTo>
                <a:cubicBezTo>
                  <a:pt x="248" y="131"/>
                  <a:pt x="265" y="119"/>
                  <a:pt x="282" y="107"/>
                </a:cubicBezTo>
                <a:cubicBezTo>
                  <a:pt x="300" y="96"/>
                  <a:pt x="317" y="85"/>
                  <a:pt x="336" y="75"/>
                </a:cubicBezTo>
                <a:cubicBezTo>
                  <a:pt x="354" y="65"/>
                  <a:pt x="373" y="56"/>
                  <a:pt x="392" y="48"/>
                </a:cubicBezTo>
                <a:cubicBezTo>
                  <a:pt x="411" y="40"/>
                  <a:pt x="431" y="33"/>
                  <a:pt x="451" y="27"/>
                </a:cubicBezTo>
                <a:cubicBezTo>
                  <a:pt x="471" y="21"/>
                  <a:pt x="491" y="16"/>
                  <a:pt x="511" y="12"/>
                </a:cubicBezTo>
                <a:cubicBezTo>
                  <a:pt x="532" y="8"/>
                  <a:pt x="552" y="5"/>
                  <a:pt x="573" y="3"/>
                </a:cubicBezTo>
                <a:cubicBezTo>
                  <a:pt x="594" y="1"/>
                  <a:pt x="614" y="0"/>
                  <a:pt x="635" y="0"/>
                </a:cubicBezTo>
                <a:cubicBezTo>
                  <a:pt x="656" y="0"/>
                  <a:pt x="677" y="1"/>
                  <a:pt x="697" y="3"/>
                </a:cubicBezTo>
                <a:cubicBezTo>
                  <a:pt x="718" y="5"/>
                  <a:pt x="739" y="8"/>
                  <a:pt x="759" y="12"/>
                </a:cubicBezTo>
                <a:cubicBezTo>
                  <a:pt x="779" y="16"/>
                  <a:pt x="800" y="21"/>
                  <a:pt x="819" y="27"/>
                </a:cubicBezTo>
                <a:cubicBezTo>
                  <a:pt x="839" y="33"/>
                  <a:pt x="859" y="40"/>
                  <a:pt x="878" y="48"/>
                </a:cubicBezTo>
                <a:cubicBezTo>
                  <a:pt x="897" y="56"/>
                  <a:pt x="916" y="65"/>
                  <a:pt x="935" y="75"/>
                </a:cubicBezTo>
                <a:cubicBezTo>
                  <a:pt x="953" y="85"/>
                  <a:pt x="971" y="96"/>
                  <a:pt x="988" y="107"/>
                </a:cubicBezTo>
                <a:cubicBezTo>
                  <a:pt x="1005" y="119"/>
                  <a:pt x="1022" y="131"/>
                  <a:pt x="1039" y="144"/>
                </a:cubicBezTo>
                <a:cubicBezTo>
                  <a:pt x="1055" y="157"/>
                  <a:pt x="1070" y="171"/>
                  <a:pt x="1085" y="186"/>
                </a:cubicBezTo>
                <a:cubicBezTo>
                  <a:pt x="1100" y="201"/>
                  <a:pt x="1114" y="216"/>
                  <a:pt x="1127" y="232"/>
                </a:cubicBezTo>
                <a:cubicBezTo>
                  <a:pt x="1140" y="248"/>
                  <a:pt x="1153" y="265"/>
                  <a:pt x="1164" y="282"/>
                </a:cubicBezTo>
                <a:cubicBezTo>
                  <a:pt x="1176" y="300"/>
                  <a:pt x="1186" y="317"/>
                  <a:pt x="1196" y="336"/>
                </a:cubicBezTo>
                <a:cubicBezTo>
                  <a:pt x="1206" y="354"/>
                  <a:pt x="1215" y="373"/>
                  <a:pt x="1223" y="392"/>
                </a:cubicBezTo>
                <a:cubicBezTo>
                  <a:pt x="1231" y="411"/>
                  <a:pt x="1238" y="431"/>
                  <a:pt x="1244" y="451"/>
                </a:cubicBezTo>
                <a:cubicBezTo>
                  <a:pt x="1250" y="471"/>
                  <a:pt x="1255" y="491"/>
                  <a:pt x="1259" y="511"/>
                </a:cubicBezTo>
                <a:cubicBezTo>
                  <a:pt x="1263" y="532"/>
                  <a:pt x="1266" y="552"/>
                  <a:pt x="1268" y="573"/>
                </a:cubicBezTo>
                <a:cubicBezTo>
                  <a:pt x="1270" y="594"/>
                  <a:pt x="1271" y="614"/>
                  <a:pt x="1271" y="635"/>
                </a:cubicBezTo>
                <a:close/>
              </a:path>
            </a:pathLst>
          </a:custGeom>
          <a:solidFill>
            <a:srgbClr val="FFF3E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任意形状 265"/>
          <p:cNvSpPr/>
          <p:nvPr/>
        </p:nvSpPr>
        <p:spPr>
          <a:xfrm>
            <a:off x="10982160" y="3209760"/>
            <a:ext cx="133560" cy="171720"/>
          </a:xfrm>
          <a:custGeom>
            <a:avLst/>
            <a:gdLst/>
            <a:ahLst/>
            <a:cxnLst/>
            <a:rect l="0" t="0" r="r" b="b"/>
            <a:pathLst>
              <a:path w="371" h="477" fill="none">
                <a:moveTo>
                  <a:pt x="107" y="371"/>
                </a:moveTo>
                <a:lnTo>
                  <a:pt x="107" y="317"/>
                </a:lnTo>
                <a:moveTo>
                  <a:pt x="186" y="371"/>
                </a:moveTo>
                <a:lnTo>
                  <a:pt x="186" y="265"/>
                </a:lnTo>
                <a:moveTo>
                  <a:pt x="266" y="371"/>
                </a:moveTo>
                <a:lnTo>
                  <a:pt x="266" y="212"/>
                </a:lnTo>
                <a:moveTo>
                  <a:pt x="318" y="477"/>
                </a:moveTo>
                <a:lnTo>
                  <a:pt x="54" y="477"/>
                </a:lnTo>
                <a:cubicBezTo>
                  <a:pt x="47" y="477"/>
                  <a:pt x="40" y="476"/>
                  <a:pt x="34" y="473"/>
                </a:cubicBezTo>
                <a:cubicBezTo>
                  <a:pt x="27" y="470"/>
                  <a:pt x="21" y="467"/>
                  <a:pt x="15" y="462"/>
                </a:cubicBezTo>
                <a:cubicBezTo>
                  <a:pt x="10" y="457"/>
                  <a:pt x="7" y="451"/>
                  <a:pt x="4" y="445"/>
                </a:cubicBezTo>
                <a:cubicBezTo>
                  <a:pt x="1" y="438"/>
                  <a:pt x="0" y="431"/>
                  <a:pt x="0" y="424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7" y="26"/>
                  <a:pt x="10" y="20"/>
                  <a:pt x="15" y="15"/>
                </a:cubicBezTo>
                <a:cubicBezTo>
                  <a:pt x="21" y="10"/>
                  <a:pt x="27" y="7"/>
                  <a:pt x="34" y="4"/>
                </a:cubicBezTo>
                <a:cubicBezTo>
                  <a:pt x="40" y="1"/>
                  <a:pt x="47" y="0"/>
                  <a:pt x="54" y="0"/>
                </a:cubicBezTo>
                <a:lnTo>
                  <a:pt x="202" y="0"/>
                </a:lnTo>
                <a:cubicBezTo>
                  <a:pt x="209" y="0"/>
                  <a:pt x="215" y="3"/>
                  <a:pt x="220" y="8"/>
                </a:cubicBezTo>
                <a:lnTo>
                  <a:pt x="364" y="151"/>
                </a:lnTo>
                <a:cubicBezTo>
                  <a:pt x="369" y="156"/>
                  <a:pt x="371" y="162"/>
                  <a:pt x="371" y="170"/>
                </a:cubicBezTo>
                <a:lnTo>
                  <a:pt x="371" y="424"/>
                </a:lnTo>
                <a:cubicBezTo>
                  <a:pt x="371" y="431"/>
                  <a:pt x="370" y="438"/>
                  <a:pt x="367" y="445"/>
                </a:cubicBezTo>
                <a:cubicBezTo>
                  <a:pt x="365" y="451"/>
                  <a:pt x="361" y="457"/>
                  <a:pt x="356" y="462"/>
                </a:cubicBezTo>
                <a:cubicBezTo>
                  <a:pt x="351" y="467"/>
                  <a:pt x="345" y="470"/>
                  <a:pt x="339" y="473"/>
                </a:cubicBezTo>
                <a:cubicBezTo>
                  <a:pt x="332" y="476"/>
                  <a:pt x="325" y="477"/>
                  <a:pt x="318" y="477"/>
                </a:cubicBezTo>
              </a:path>
            </a:pathLst>
          </a:custGeom>
          <a:ln w="18720" cap="rnd">
            <a:solidFill>
              <a:srgbClr val="F99600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文本框 266"/>
          <p:cNvSpPr txBox="1"/>
          <p:nvPr/>
        </p:nvSpPr>
        <p:spPr>
          <a:xfrm>
            <a:off x="8734320" y="4534200"/>
            <a:ext cx="6998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热力图分析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8" name="图片 267"/>
          <p:cNvPicPr/>
          <p:nvPr/>
        </p:nvPicPr>
        <p:blipFill>
          <a:blip r:embed="rId11"/>
          <a:stretch/>
        </p:blipFill>
        <p:spPr>
          <a:xfrm>
            <a:off x="10487160" y="405756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9" name="文本框 268"/>
          <p:cNvSpPr txBox="1"/>
          <p:nvPr/>
        </p:nvSpPr>
        <p:spPr>
          <a:xfrm>
            <a:off x="10706040" y="370296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输出结果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0" name="图片 269"/>
          <p:cNvPicPr/>
          <p:nvPr/>
        </p:nvPicPr>
        <p:blipFill>
          <a:blip r:embed="rId11"/>
          <a:stretch/>
        </p:blipFill>
        <p:spPr>
          <a:xfrm>
            <a:off x="10487160" y="4457520"/>
            <a:ext cx="112356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1" name="文本框 270"/>
          <p:cNvSpPr txBox="1"/>
          <p:nvPr/>
        </p:nvSpPr>
        <p:spPr>
          <a:xfrm>
            <a:off x="10782360" y="413424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诊断结论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10715760" y="4534200"/>
            <a:ext cx="6998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可视化报告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任意形状 2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73" name="图片 272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图片 273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图片 274"/>
          <p:cNvPicPr/>
          <p:nvPr/>
        </p:nvPicPr>
        <p:blipFill>
          <a:blip r:embed="rId4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图片 275"/>
          <p:cNvPicPr/>
          <p:nvPr/>
        </p:nvPicPr>
        <p:blipFill>
          <a:blip r:embed="rId5"/>
          <a:stretch/>
        </p:blipFill>
        <p:spPr>
          <a:xfrm>
            <a:off x="8124840" y="0"/>
            <a:ext cx="40669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7" name="任意形状 276"/>
          <p:cNvSpPr/>
          <p:nvPr/>
        </p:nvSpPr>
        <p:spPr>
          <a:xfrm>
            <a:off x="456840" y="495000"/>
            <a:ext cx="76680" cy="457560"/>
          </a:xfrm>
          <a:custGeom>
            <a:avLst/>
            <a:gdLst/>
            <a:ahLst/>
            <a:cxnLst/>
            <a:rect l="0" t="0" r="r" b="b"/>
            <a:pathLst>
              <a:path w="213" h="1271">
                <a:moveTo>
                  <a:pt x="0" y="1165"/>
                </a:moveTo>
                <a:lnTo>
                  <a:pt x="0" y="106"/>
                </a:lnTo>
                <a:cubicBezTo>
                  <a:pt x="0" y="92"/>
                  <a:pt x="3" y="79"/>
                  <a:pt x="9" y="66"/>
                </a:cubicBezTo>
                <a:cubicBezTo>
                  <a:pt x="14" y="53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lnTo>
                  <a:pt x="213" y="1165"/>
                </a:lnTo>
                <a:cubicBezTo>
                  <a:pt x="213" y="1180"/>
                  <a:pt x="210" y="1193"/>
                  <a:pt x="205" y="1206"/>
                </a:cubicBezTo>
                <a:cubicBezTo>
                  <a:pt x="200" y="1219"/>
                  <a:pt x="192" y="1230"/>
                  <a:pt x="182" y="1240"/>
                </a:cubicBezTo>
                <a:cubicBezTo>
                  <a:pt x="172" y="1250"/>
                  <a:pt x="161" y="1258"/>
                  <a:pt x="148" y="1263"/>
                </a:cubicBezTo>
                <a:cubicBezTo>
                  <a:pt x="135" y="1269"/>
                  <a:pt x="121" y="1271"/>
                  <a:pt x="107" y="1271"/>
                </a:cubicBezTo>
                <a:cubicBezTo>
                  <a:pt x="92" y="1271"/>
                  <a:pt x="79" y="1269"/>
                  <a:pt x="66" y="1263"/>
                </a:cubicBezTo>
                <a:cubicBezTo>
                  <a:pt x="53" y="1258"/>
                  <a:pt x="41" y="1250"/>
                  <a:pt x="31" y="1240"/>
                </a:cubicBezTo>
                <a:cubicBezTo>
                  <a:pt x="22" y="1230"/>
                  <a:pt x="14" y="1219"/>
                  <a:pt x="9" y="1206"/>
                </a:cubicBezTo>
                <a:cubicBezTo>
                  <a:pt x="3" y="1193"/>
                  <a:pt x="0" y="1180"/>
                  <a:pt x="0" y="1165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685800" y="319320"/>
            <a:ext cx="4140720" cy="49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数据集介绍 </a:t>
            </a:r>
            <a:r>
              <a:rPr lang="en-US" sz="270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- BUSI</a:t>
            </a:r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数据集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9" name="图片 278"/>
          <p:cNvPicPr/>
          <p:nvPr/>
        </p:nvPicPr>
        <p:blipFill>
          <a:blip r:embed="rId6"/>
          <a:stretch/>
        </p:blipFill>
        <p:spPr>
          <a:xfrm>
            <a:off x="457200" y="1295280"/>
            <a:ext cx="11277360" cy="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图片 279"/>
          <p:cNvPicPr/>
          <p:nvPr/>
        </p:nvPicPr>
        <p:blipFill>
          <a:blip r:embed="rId7"/>
          <a:stretch/>
        </p:blipFill>
        <p:spPr>
          <a:xfrm>
            <a:off x="457200" y="1609560"/>
            <a:ext cx="4933440" cy="219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1" name="任意形状 280"/>
          <p:cNvSpPr/>
          <p:nvPr/>
        </p:nvSpPr>
        <p:spPr>
          <a:xfrm>
            <a:off x="742680" y="2047680"/>
            <a:ext cx="133920" cy="171720"/>
          </a:xfrm>
          <a:custGeom>
            <a:avLst/>
            <a:gdLst/>
            <a:ahLst/>
            <a:cxnLst/>
            <a:rect l="0" t="0" r="r" b="b"/>
            <a:pathLst>
              <a:path w="372" h="477" fill="none">
                <a:moveTo>
                  <a:pt x="106" y="238"/>
                </a:moveTo>
                <a:lnTo>
                  <a:pt x="265" y="238"/>
                </a:lnTo>
                <a:moveTo>
                  <a:pt x="106" y="345"/>
                </a:moveTo>
                <a:lnTo>
                  <a:pt x="265" y="345"/>
                </a:lnTo>
                <a:moveTo>
                  <a:pt x="318" y="477"/>
                </a:moveTo>
                <a:lnTo>
                  <a:pt x="53" y="477"/>
                </a:lnTo>
                <a:cubicBezTo>
                  <a:pt x="46" y="477"/>
                  <a:pt x="39" y="476"/>
                  <a:pt x="33" y="473"/>
                </a:cubicBezTo>
                <a:cubicBezTo>
                  <a:pt x="26" y="471"/>
                  <a:pt x="21" y="467"/>
                  <a:pt x="16" y="462"/>
                </a:cubicBezTo>
                <a:cubicBezTo>
                  <a:pt x="11" y="457"/>
                  <a:pt x="7" y="451"/>
                  <a:pt x="4" y="445"/>
                </a:cubicBezTo>
                <a:cubicBezTo>
                  <a:pt x="2" y="438"/>
                  <a:pt x="0" y="431"/>
                  <a:pt x="0" y="424"/>
                </a:cubicBezTo>
                <a:lnTo>
                  <a:pt x="0" y="53"/>
                </a:ln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201" y="0"/>
                </a:lnTo>
                <a:cubicBezTo>
                  <a:pt x="208" y="0"/>
                  <a:pt x="215" y="3"/>
                  <a:pt x="220" y="8"/>
                </a:cubicBezTo>
                <a:lnTo>
                  <a:pt x="364" y="151"/>
                </a:lnTo>
                <a:cubicBezTo>
                  <a:pt x="369" y="156"/>
                  <a:pt x="372" y="162"/>
                  <a:pt x="372" y="170"/>
                </a:cubicBezTo>
                <a:lnTo>
                  <a:pt x="372" y="424"/>
                </a:lnTo>
                <a:cubicBezTo>
                  <a:pt x="372" y="431"/>
                  <a:pt x="370" y="438"/>
                  <a:pt x="368" y="445"/>
                </a:cubicBezTo>
                <a:cubicBezTo>
                  <a:pt x="365" y="451"/>
                  <a:pt x="361" y="457"/>
                  <a:pt x="356" y="462"/>
                </a:cubicBezTo>
                <a:cubicBezTo>
                  <a:pt x="351" y="467"/>
                  <a:pt x="345" y="471"/>
                  <a:pt x="338" y="473"/>
                </a:cubicBezTo>
                <a:cubicBezTo>
                  <a:pt x="332" y="476"/>
                  <a:pt x="325" y="477"/>
                  <a:pt x="318" y="477"/>
                </a:cubicBez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685800" y="807480"/>
            <a:ext cx="531072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Roboto"/>
                <a:ea typeface="Roboto"/>
              </a:rPr>
              <a:t>Breast Ultrasound Images Dataset (Al-Dhabyani et al., 2020)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任意形状 282"/>
          <p:cNvSpPr/>
          <p:nvPr/>
        </p:nvSpPr>
        <p:spPr>
          <a:xfrm>
            <a:off x="734760" y="2493720"/>
            <a:ext cx="111600" cy="79920"/>
          </a:xfrm>
          <a:custGeom>
            <a:avLst/>
            <a:gdLst/>
            <a:ahLst/>
            <a:cxnLst/>
            <a:rect l="0" t="0" r="r" b="b"/>
            <a:pathLst>
              <a:path w="310" h="222" fill="none">
                <a:moveTo>
                  <a:pt x="0" y="133"/>
                </a:moveTo>
                <a:lnTo>
                  <a:pt x="88" y="222"/>
                </a:lnTo>
                <a:lnTo>
                  <a:pt x="310" y="0"/>
                </a:lnTo>
              </a:path>
            </a:pathLst>
          </a:custGeom>
          <a:ln w="15840" cap="rnd">
            <a:solidFill>
              <a:srgbClr val="F99600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文本框 283"/>
          <p:cNvSpPr txBox="1"/>
          <p:nvPr/>
        </p:nvSpPr>
        <p:spPr>
          <a:xfrm>
            <a:off x="1000080" y="1996560"/>
            <a:ext cx="100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数据集特点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961920" y="2418480"/>
            <a:ext cx="4160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完整标注：</a:t>
            </a:r>
            <a:r>
              <a:rPr lang="zh-CN" sz="12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包含原始超声图像及专家标注的分割掩码</a:t>
            </a:r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Roboto"/>
                <a:ea typeface="Roboto"/>
              </a:rPr>
              <a:t>(Ground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任意形状 285"/>
          <p:cNvSpPr/>
          <p:nvPr/>
        </p:nvSpPr>
        <p:spPr>
          <a:xfrm>
            <a:off x="719640" y="3033360"/>
            <a:ext cx="141840" cy="127440"/>
          </a:xfrm>
          <a:custGeom>
            <a:avLst/>
            <a:gdLst/>
            <a:ahLst/>
            <a:cxnLst/>
            <a:rect l="0" t="0" r="r" b="b"/>
            <a:pathLst>
              <a:path w="394" h="354" fill="none">
                <a:moveTo>
                  <a:pt x="198" y="133"/>
                </a:moveTo>
                <a:lnTo>
                  <a:pt x="198" y="177"/>
                </a:lnTo>
                <a:moveTo>
                  <a:pt x="198" y="266"/>
                </a:moveTo>
                <a:moveTo>
                  <a:pt x="44" y="354"/>
                </a:moveTo>
                <a:lnTo>
                  <a:pt x="350" y="354"/>
                </a:lnTo>
                <a:cubicBezTo>
                  <a:pt x="384" y="354"/>
                  <a:pt x="405" y="318"/>
                  <a:pt x="388" y="288"/>
                </a:cubicBezTo>
                <a:lnTo>
                  <a:pt x="236" y="23"/>
                </a:lnTo>
                <a:cubicBezTo>
                  <a:pt x="219" y="-7"/>
                  <a:pt x="176" y="-7"/>
                  <a:pt x="158" y="23"/>
                </a:cubicBezTo>
                <a:lnTo>
                  <a:pt x="6" y="288"/>
                </a:lnTo>
                <a:cubicBezTo>
                  <a:pt x="-11" y="318"/>
                  <a:pt x="10" y="354"/>
                  <a:pt x="44" y="354"/>
                </a:cubicBezTo>
              </a:path>
            </a:pathLst>
          </a:custGeom>
          <a:ln w="15840" cap="rnd">
            <a:solidFill>
              <a:srgbClr val="F99600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961920" y="2647080"/>
            <a:ext cx="631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666666"/>
                </a:solidFill>
                <a:effectLst/>
                <a:uFillTx/>
                <a:latin typeface="Roboto"/>
                <a:ea typeface="Roboto"/>
              </a:rPr>
              <a:t>Truth)</a:t>
            </a:r>
            <a:r>
              <a:rPr lang="zh-CN" sz="12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任意形状 287"/>
          <p:cNvSpPr/>
          <p:nvPr/>
        </p:nvSpPr>
        <p:spPr>
          <a:xfrm>
            <a:off x="718920" y="3392280"/>
            <a:ext cx="143280" cy="95760"/>
          </a:xfrm>
          <a:custGeom>
            <a:avLst/>
            <a:gdLst/>
            <a:ahLst/>
            <a:cxnLst/>
            <a:rect l="0" t="0" r="r" b="b"/>
            <a:pathLst>
              <a:path w="398" h="266" fill="none">
                <a:moveTo>
                  <a:pt x="0" y="22"/>
                </a:moveTo>
                <a:lnTo>
                  <a:pt x="66" y="44"/>
                </a:lnTo>
                <a:moveTo>
                  <a:pt x="66" y="44"/>
                </a:moveTo>
                <a:lnTo>
                  <a:pt x="0" y="244"/>
                </a:lnTo>
                <a:cubicBezTo>
                  <a:pt x="10" y="251"/>
                  <a:pt x="20" y="256"/>
                  <a:pt x="31" y="260"/>
                </a:cubicBezTo>
                <a:cubicBezTo>
                  <a:pt x="43" y="264"/>
                  <a:pt x="54" y="266"/>
                  <a:pt x="66" y="266"/>
                </a:cubicBezTo>
                <a:cubicBezTo>
                  <a:pt x="78" y="266"/>
                  <a:pt x="90" y="264"/>
                  <a:pt x="101" y="260"/>
                </a:cubicBezTo>
                <a:cubicBezTo>
                  <a:pt x="112" y="256"/>
                  <a:pt x="123" y="251"/>
                  <a:pt x="132" y="244"/>
                </a:cubicBezTo>
                <a:moveTo>
                  <a:pt x="66" y="44"/>
                </a:moveTo>
                <a:lnTo>
                  <a:pt x="132" y="244"/>
                </a:lnTo>
                <a:moveTo>
                  <a:pt x="66" y="44"/>
                </a:moveTo>
                <a:lnTo>
                  <a:pt x="200" y="0"/>
                </a:lnTo>
                <a:moveTo>
                  <a:pt x="332" y="44"/>
                </a:moveTo>
                <a:lnTo>
                  <a:pt x="398" y="22"/>
                </a:lnTo>
                <a:moveTo>
                  <a:pt x="332" y="44"/>
                </a:moveTo>
                <a:lnTo>
                  <a:pt x="266" y="244"/>
                </a:lnTo>
                <a:cubicBezTo>
                  <a:pt x="275" y="251"/>
                  <a:pt x="286" y="256"/>
                  <a:pt x="297" y="260"/>
                </a:cubicBezTo>
                <a:cubicBezTo>
                  <a:pt x="308" y="264"/>
                  <a:pt x="320" y="266"/>
                  <a:pt x="332" y="266"/>
                </a:cubicBezTo>
                <a:cubicBezTo>
                  <a:pt x="344" y="266"/>
                  <a:pt x="355" y="264"/>
                  <a:pt x="367" y="260"/>
                </a:cubicBezTo>
                <a:cubicBezTo>
                  <a:pt x="378" y="256"/>
                  <a:pt x="388" y="251"/>
                  <a:pt x="398" y="244"/>
                </a:cubicBezTo>
                <a:moveTo>
                  <a:pt x="332" y="44"/>
                </a:moveTo>
                <a:lnTo>
                  <a:pt x="398" y="244"/>
                </a:lnTo>
                <a:moveTo>
                  <a:pt x="332" y="44"/>
                </a:moveTo>
                <a:lnTo>
                  <a:pt x="200" y="0"/>
                </a:lnTo>
              </a:path>
            </a:pathLst>
          </a:custGeom>
          <a:ln w="15840" cap="rnd">
            <a:solidFill>
              <a:srgbClr val="F99600"/>
            </a:solidFill>
            <a:round/>
          </a:ln>
        </p:spPr>
        <p:txBody>
          <a:bodyPr lIns="7920" tIns="7920" rIns="7920" bIns="79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961920" y="2989800"/>
            <a:ext cx="39632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预处理需求：</a:t>
            </a:r>
            <a:r>
              <a:rPr lang="zh-CN" sz="12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图像分辨率不统一，需进行尺寸标准化处理。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0" name="图片 289"/>
          <p:cNvPicPr/>
          <p:nvPr/>
        </p:nvPicPr>
        <p:blipFill>
          <a:blip r:embed="rId8"/>
          <a:stretch/>
        </p:blipFill>
        <p:spPr>
          <a:xfrm>
            <a:off x="457200" y="4029120"/>
            <a:ext cx="4933440" cy="142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任意形状 290"/>
          <p:cNvSpPr/>
          <p:nvPr/>
        </p:nvSpPr>
        <p:spPr>
          <a:xfrm>
            <a:off x="695160" y="4686120"/>
            <a:ext cx="4457880" cy="305280"/>
          </a:xfrm>
          <a:custGeom>
            <a:avLst/>
            <a:gdLst/>
            <a:ahLst/>
            <a:cxnLst/>
            <a:rect l="0" t="0" r="r" b="b"/>
            <a:pathLst>
              <a:path w="12383" h="848">
                <a:moveTo>
                  <a:pt x="0" y="424"/>
                </a:moveTo>
                <a:cubicBezTo>
                  <a:pt x="0" y="397"/>
                  <a:pt x="3" y="369"/>
                  <a:pt x="8" y="342"/>
                </a:cubicBezTo>
                <a:cubicBezTo>
                  <a:pt x="14" y="314"/>
                  <a:pt x="22" y="288"/>
                  <a:pt x="32" y="262"/>
                </a:cubicBezTo>
                <a:cubicBezTo>
                  <a:pt x="43" y="237"/>
                  <a:pt x="56" y="212"/>
                  <a:pt x="71" y="189"/>
                </a:cubicBezTo>
                <a:cubicBezTo>
                  <a:pt x="87" y="166"/>
                  <a:pt x="104" y="145"/>
                  <a:pt x="124" y="125"/>
                </a:cubicBezTo>
                <a:cubicBezTo>
                  <a:pt x="144" y="105"/>
                  <a:pt x="165" y="87"/>
                  <a:pt x="188" y="71"/>
                </a:cubicBezTo>
                <a:cubicBezTo>
                  <a:pt x="211" y="56"/>
                  <a:pt x="236" y="43"/>
                  <a:pt x="261" y="32"/>
                </a:cubicBezTo>
                <a:cubicBezTo>
                  <a:pt x="287" y="22"/>
                  <a:pt x="313" y="14"/>
                  <a:pt x="341" y="8"/>
                </a:cubicBezTo>
                <a:cubicBezTo>
                  <a:pt x="368" y="3"/>
                  <a:pt x="395" y="0"/>
                  <a:pt x="423" y="0"/>
                </a:cubicBezTo>
                <a:lnTo>
                  <a:pt x="11960" y="0"/>
                </a:lnTo>
                <a:cubicBezTo>
                  <a:pt x="11988" y="0"/>
                  <a:pt x="12015" y="3"/>
                  <a:pt x="12043" y="8"/>
                </a:cubicBezTo>
                <a:cubicBezTo>
                  <a:pt x="12070" y="14"/>
                  <a:pt x="12096" y="22"/>
                  <a:pt x="12122" y="32"/>
                </a:cubicBezTo>
                <a:cubicBezTo>
                  <a:pt x="12148" y="43"/>
                  <a:pt x="12172" y="56"/>
                  <a:pt x="12195" y="71"/>
                </a:cubicBezTo>
                <a:cubicBezTo>
                  <a:pt x="12218" y="87"/>
                  <a:pt x="12240" y="105"/>
                  <a:pt x="12259" y="125"/>
                </a:cubicBezTo>
                <a:cubicBezTo>
                  <a:pt x="12279" y="145"/>
                  <a:pt x="12297" y="166"/>
                  <a:pt x="12312" y="189"/>
                </a:cubicBezTo>
                <a:cubicBezTo>
                  <a:pt x="12328" y="212"/>
                  <a:pt x="12341" y="237"/>
                  <a:pt x="12351" y="262"/>
                </a:cubicBezTo>
                <a:cubicBezTo>
                  <a:pt x="12362" y="288"/>
                  <a:pt x="12370" y="314"/>
                  <a:pt x="12375" y="342"/>
                </a:cubicBezTo>
                <a:cubicBezTo>
                  <a:pt x="12381" y="369"/>
                  <a:pt x="12383" y="397"/>
                  <a:pt x="12383" y="424"/>
                </a:cubicBezTo>
                <a:cubicBezTo>
                  <a:pt x="12383" y="452"/>
                  <a:pt x="12381" y="480"/>
                  <a:pt x="12375" y="507"/>
                </a:cubicBezTo>
                <a:cubicBezTo>
                  <a:pt x="12370" y="534"/>
                  <a:pt x="12362" y="561"/>
                  <a:pt x="12351" y="586"/>
                </a:cubicBezTo>
                <a:cubicBezTo>
                  <a:pt x="12341" y="612"/>
                  <a:pt x="12328" y="636"/>
                  <a:pt x="12312" y="660"/>
                </a:cubicBezTo>
                <a:cubicBezTo>
                  <a:pt x="12297" y="683"/>
                  <a:pt x="12279" y="704"/>
                  <a:pt x="12259" y="724"/>
                </a:cubicBezTo>
                <a:cubicBezTo>
                  <a:pt x="12240" y="743"/>
                  <a:pt x="12218" y="761"/>
                  <a:pt x="12195" y="776"/>
                </a:cubicBezTo>
                <a:cubicBezTo>
                  <a:pt x="12172" y="792"/>
                  <a:pt x="12148" y="805"/>
                  <a:pt x="12122" y="815"/>
                </a:cubicBezTo>
                <a:cubicBezTo>
                  <a:pt x="12096" y="826"/>
                  <a:pt x="12070" y="834"/>
                  <a:pt x="12043" y="840"/>
                </a:cubicBezTo>
                <a:cubicBezTo>
                  <a:pt x="12015" y="845"/>
                  <a:pt x="11988" y="848"/>
                  <a:pt x="11960" y="848"/>
                </a:cubicBezTo>
                <a:lnTo>
                  <a:pt x="423" y="848"/>
                </a:lnTo>
                <a:cubicBezTo>
                  <a:pt x="395" y="848"/>
                  <a:pt x="368" y="845"/>
                  <a:pt x="341" y="840"/>
                </a:cubicBezTo>
                <a:cubicBezTo>
                  <a:pt x="313" y="834"/>
                  <a:pt x="287" y="826"/>
                  <a:pt x="261" y="815"/>
                </a:cubicBezTo>
                <a:cubicBezTo>
                  <a:pt x="236" y="805"/>
                  <a:pt x="211" y="792"/>
                  <a:pt x="188" y="776"/>
                </a:cubicBezTo>
                <a:cubicBezTo>
                  <a:pt x="165" y="761"/>
                  <a:pt x="144" y="743"/>
                  <a:pt x="124" y="724"/>
                </a:cubicBezTo>
                <a:cubicBezTo>
                  <a:pt x="104" y="704"/>
                  <a:pt x="87" y="683"/>
                  <a:pt x="71" y="660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1"/>
                  <a:pt x="14" y="534"/>
                  <a:pt x="8" y="507"/>
                </a:cubicBezTo>
                <a:cubicBezTo>
                  <a:pt x="3" y="480"/>
                  <a:pt x="0" y="452"/>
                  <a:pt x="0" y="424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任意形状 291"/>
          <p:cNvSpPr/>
          <p:nvPr/>
        </p:nvSpPr>
        <p:spPr>
          <a:xfrm>
            <a:off x="722160" y="4324320"/>
            <a:ext cx="175320" cy="152640"/>
          </a:xfrm>
          <a:custGeom>
            <a:avLst/>
            <a:gdLst/>
            <a:ahLst/>
            <a:cxnLst/>
            <a:rect l="0" t="0" r="r" b="b"/>
            <a:pathLst>
              <a:path w="487" h="424" fill="none">
                <a:moveTo>
                  <a:pt x="440" y="303"/>
                </a:moveTo>
                <a:cubicBezTo>
                  <a:pt x="432" y="295"/>
                  <a:pt x="423" y="291"/>
                  <a:pt x="413" y="288"/>
                </a:cubicBezTo>
                <a:lnTo>
                  <a:pt x="350" y="276"/>
                </a:lnTo>
                <a:cubicBezTo>
                  <a:pt x="314" y="269"/>
                  <a:pt x="280" y="273"/>
                  <a:pt x="248" y="290"/>
                </a:cubicBezTo>
                <a:lnTo>
                  <a:pt x="239" y="294"/>
                </a:lnTo>
                <a:cubicBezTo>
                  <a:pt x="207" y="310"/>
                  <a:pt x="172" y="315"/>
                  <a:pt x="136" y="307"/>
                </a:cubicBezTo>
                <a:lnTo>
                  <a:pt x="85" y="297"/>
                </a:lnTo>
                <a:cubicBezTo>
                  <a:pt x="67" y="293"/>
                  <a:pt x="51" y="298"/>
                  <a:pt x="37" y="312"/>
                </a:cubicBezTo>
                <a:moveTo>
                  <a:pt x="137" y="0"/>
                </a:moveTo>
                <a:lnTo>
                  <a:pt x="349" y="0"/>
                </a:lnTo>
                <a:lnTo>
                  <a:pt x="323" y="26"/>
                </a:lnTo>
                <a:lnTo>
                  <a:pt x="323" y="164"/>
                </a:lnTo>
                <a:cubicBezTo>
                  <a:pt x="323" y="178"/>
                  <a:pt x="328" y="191"/>
                  <a:pt x="338" y="201"/>
                </a:cubicBezTo>
                <a:lnTo>
                  <a:pt x="471" y="334"/>
                </a:lnTo>
                <a:cubicBezTo>
                  <a:pt x="504" y="367"/>
                  <a:pt x="480" y="424"/>
                  <a:pt x="433" y="424"/>
                </a:cubicBezTo>
                <a:lnTo>
                  <a:pt x="53" y="424"/>
                </a:lnTo>
                <a:cubicBezTo>
                  <a:pt x="6" y="424"/>
                  <a:pt x="-18" y="367"/>
                  <a:pt x="15" y="334"/>
                </a:cubicBezTo>
                <a:lnTo>
                  <a:pt x="148" y="201"/>
                </a:lnTo>
                <a:cubicBezTo>
                  <a:pt x="158" y="191"/>
                  <a:pt x="163" y="178"/>
                  <a:pt x="163" y="164"/>
                </a:cubicBezTo>
                <a:lnTo>
                  <a:pt x="163" y="26"/>
                </a:lnTo>
                <a:lnTo>
                  <a:pt x="137" y="0"/>
                </a:ln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961920" y="3332880"/>
            <a:ext cx="3360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类别不平衡：</a:t>
            </a:r>
            <a:r>
              <a:rPr lang="zh-CN" sz="12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良性样本显著多于恶性和正常样本。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任意形状 293"/>
          <p:cNvSpPr/>
          <p:nvPr/>
        </p:nvSpPr>
        <p:spPr>
          <a:xfrm>
            <a:off x="695160" y="4686120"/>
            <a:ext cx="3124440" cy="305280"/>
          </a:xfrm>
          <a:custGeom>
            <a:avLst/>
            <a:gdLst/>
            <a:ahLst/>
            <a:cxnLst/>
            <a:rect l="0" t="0" r="r" b="b"/>
            <a:pathLst>
              <a:path w="8679" h="848">
                <a:moveTo>
                  <a:pt x="32" y="262"/>
                </a:moveTo>
                <a:cubicBezTo>
                  <a:pt x="54" y="210"/>
                  <a:pt x="84" y="165"/>
                  <a:pt x="124" y="125"/>
                </a:cubicBezTo>
                <a:cubicBezTo>
                  <a:pt x="164" y="84"/>
                  <a:pt x="209" y="54"/>
                  <a:pt x="261" y="32"/>
                </a:cubicBezTo>
                <a:cubicBezTo>
                  <a:pt x="313" y="11"/>
                  <a:pt x="367" y="0"/>
                  <a:pt x="423" y="0"/>
                </a:cubicBezTo>
                <a:lnTo>
                  <a:pt x="8679" y="0"/>
                </a:lnTo>
                <a:lnTo>
                  <a:pt x="8679" y="848"/>
                </a:lnTo>
                <a:lnTo>
                  <a:pt x="423" y="848"/>
                </a:lnTo>
                <a:cubicBezTo>
                  <a:pt x="367" y="848"/>
                  <a:pt x="313" y="837"/>
                  <a:pt x="261" y="815"/>
                </a:cubicBezTo>
                <a:cubicBezTo>
                  <a:pt x="209" y="794"/>
                  <a:pt x="164" y="763"/>
                  <a:pt x="124" y="724"/>
                </a:cubicBezTo>
                <a:cubicBezTo>
                  <a:pt x="84" y="684"/>
                  <a:pt x="54" y="638"/>
                  <a:pt x="32" y="586"/>
                </a:cubicBezTo>
                <a:cubicBezTo>
                  <a:pt x="11" y="534"/>
                  <a:pt x="0" y="480"/>
                  <a:pt x="0" y="424"/>
                </a:cubicBezTo>
                <a:cubicBezTo>
                  <a:pt x="0" y="368"/>
                  <a:pt x="11" y="314"/>
                  <a:pt x="32" y="262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1000080" y="4263480"/>
            <a:ext cx="10000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数据集划分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任意形状 295"/>
          <p:cNvSpPr/>
          <p:nvPr/>
        </p:nvSpPr>
        <p:spPr>
          <a:xfrm>
            <a:off x="3819240" y="4686120"/>
            <a:ext cx="667080" cy="305280"/>
          </a:xfrm>
          <a:custGeom>
            <a:avLst/>
            <a:gdLst/>
            <a:ahLst/>
            <a:cxnLst/>
            <a:rect l="0" t="0" r="r" b="b"/>
            <a:pathLst>
              <a:path w="1853" h="848">
                <a:moveTo>
                  <a:pt x="0" y="848"/>
                </a:moveTo>
                <a:lnTo>
                  <a:pt x="0" y="0"/>
                </a:lnTo>
                <a:lnTo>
                  <a:pt x="1853" y="0"/>
                </a:lnTo>
                <a:lnTo>
                  <a:pt x="1853" y="848"/>
                </a:lnTo>
                <a:lnTo>
                  <a:pt x="0" y="848"/>
                </a:ln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1961640" y="4754520"/>
            <a:ext cx="6282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训练集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70%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任意形状 297"/>
          <p:cNvSpPr/>
          <p:nvPr/>
        </p:nvSpPr>
        <p:spPr>
          <a:xfrm>
            <a:off x="4485960" y="4686120"/>
            <a:ext cx="667080" cy="305280"/>
          </a:xfrm>
          <a:custGeom>
            <a:avLst/>
            <a:gdLst/>
            <a:ahLst/>
            <a:cxnLst/>
            <a:rect l="0" t="0" r="r" b="b"/>
            <a:pathLst>
              <a:path w="1853" h="848">
                <a:moveTo>
                  <a:pt x="1592" y="32"/>
                </a:moveTo>
                <a:cubicBezTo>
                  <a:pt x="1644" y="54"/>
                  <a:pt x="1690" y="84"/>
                  <a:pt x="1729" y="125"/>
                </a:cubicBezTo>
                <a:cubicBezTo>
                  <a:pt x="1769" y="165"/>
                  <a:pt x="1800" y="210"/>
                  <a:pt x="1821" y="262"/>
                </a:cubicBezTo>
                <a:cubicBezTo>
                  <a:pt x="1843" y="314"/>
                  <a:pt x="1853" y="368"/>
                  <a:pt x="1853" y="424"/>
                </a:cubicBezTo>
                <a:cubicBezTo>
                  <a:pt x="1853" y="480"/>
                  <a:pt x="1843" y="534"/>
                  <a:pt x="1821" y="586"/>
                </a:cubicBezTo>
                <a:cubicBezTo>
                  <a:pt x="1800" y="638"/>
                  <a:pt x="1769" y="684"/>
                  <a:pt x="1729" y="724"/>
                </a:cubicBezTo>
                <a:cubicBezTo>
                  <a:pt x="1690" y="763"/>
                  <a:pt x="1644" y="794"/>
                  <a:pt x="1592" y="815"/>
                </a:cubicBezTo>
                <a:cubicBezTo>
                  <a:pt x="1540" y="837"/>
                  <a:pt x="1486" y="848"/>
                  <a:pt x="1429" y="848"/>
                </a:cubicBezTo>
                <a:lnTo>
                  <a:pt x="0" y="848"/>
                </a:lnTo>
                <a:lnTo>
                  <a:pt x="0" y="0"/>
                </a:lnTo>
                <a:lnTo>
                  <a:pt x="1429" y="0"/>
                </a:lnTo>
                <a:cubicBezTo>
                  <a:pt x="1486" y="0"/>
                  <a:pt x="1540" y="11"/>
                  <a:pt x="1592" y="32"/>
                </a:cubicBezTo>
                <a:close/>
              </a:path>
            </a:pathLst>
          </a:custGeom>
          <a:solidFill>
            <a:srgbClr val="66666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3914640" y="4754520"/>
            <a:ext cx="5137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验证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15%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4583880" y="4754520"/>
            <a:ext cx="5137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测试 </a:t>
            </a:r>
            <a:r>
              <a:rPr lang="en-US" sz="900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15%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1" name="图片 300"/>
          <p:cNvPicPr/>
          <p:nvPr/>
        </p:nvPicPr>
        <p:blipFill>
          <a:blip r:embed="rId9"/>
          <a:stretch/>
        </p:blipFill>
        <p:spPr>
          <a:xfrm>
            <a:off x="5695920" y="1609560"/>
            <a:ext cx="6038640" cy="262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文本框 301"/>
          <p:cNvSpPr txBox="1"/>
          <p:nvPr/>
        </p:nvSpPr>
        <p:spPr>
          <a:xfrm>
            <a:off x="2068920" y="5059440"/>
            <a:ext cx="174024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随机划分策略，保持类别分布一致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任意形状 302"/>
          <p:cNvSpPr/>
          <p:nvPr/>
        </p:nvSpPr>
        <p:spPr>
          <a:xfrm>
            <a:off x="10544040" y="1847520"/>
            <a:ext cx="952920" cy="267120"/>
          </a:xfrm>
          <a:custGeom>
            <a:avLst/>
            <a:gdLst/>
            <a:ahLst/>
            <a:cxnLst/>
            <a:rect l="0" t="0" r="r" b="b"/>
            <a:pathLst>
              <a:path w="2647" h="742">
                <a:moveTo>
                  <a:pt x="0" y="371"/>
                </a:moveTo>
                <a:cubicBezTo>
                  <a:pt x="0" y="347"/>
                  <a:pt x="2" y="322"/>
                  <a:pt x="7" y="299"/>
                </a:cubicBezTo>
                <a:cubicBezTo>
                  <a:pt x="12" y="275"/>
                  <a:pt x="19" y="252"/>
                  <a:pt x="28" y="229"/>
                </a:cubicBezTo>
                <a:cubicBezTo>
                  <a:pt x="37" y="207"/>
                  <a:pt x="49" y="185"/>
                  <a:pt x="62" y="165"/>
                </a:cubicBezTo>
                <a:cubicBezTo>
                  <a:pt x="76" y="145"/>
                  <a:pt x="91" y="126"/>
                  <a:pt x="108" y="109"/>
                </a:cubicBezTo>
                <a:cubicBezTo>
                  <a:pt x="126" y="92"/>
                  <a:pt x="144" y="76"/>
                  <a:pt x="164" y="63"/>
                </a:cubicBezTo>
                <a:cubicBezTo>
                  <a:pt x="185" y="49"/>
                  <a:pt x="206" y="38"/>
                  <a:pt x="229" y="29"/>
                </a:cubicBezTo>
                <a:cubicBezTo>
                  <a:pt x="251" y="19"/>
                  <a:pt x="274" y="12"/>
                  <a:pt x="298" y="8"/>
                </a:cubicBezTo>
                <a:cubicBezTo>
                  <a:pt x="322" y="3"/>
                  <a:pt x="346" y="0"/>
                  <a:pt x="370" y="0"/>
                </a:cubicBezTo>
                <a:lnTo>
                  <a:pt x="2276" y="0"/>
                </a:lnTo>
                <a:cubicBezTo>
                  <a:pt x="2301" y="0"/>
                  <a:pt x="2325" y="3"/>
                  <a:pt x="2349" y="8"/>
                </a:cubicBezTo>
                <a:cubicBezTo>
                  <a:pt x="2372" y="12"/>
                  <a:pt x="2396" y="19"/>
                  <a:pt x="2418" y="29"/>
                </a:cubicBezTo>
                <a:cubicBezTo>
                  <a:pt x="2441" y="38"/>
                  <a:pt x="2462" y="49"/>
                  <a:pt x="2482" y="63"/>
                </a:cubicBezTo>
                <a:cubicBezTo>
                  <a:pt x="2502" y="76"/>
                  <a:pt x="2521" y="92"/>
                  <a:pt x="2538" y="109"/>
                </a:cubicBezTo>
                <a:cubicBezTo>
                  <a:pt x="2555" y="126"/>
                  <a:pt x="2571" y="145"/>
                  <a:pt x="2584" y="165"/>
                </a:cubicBezTo>
                <a:cubicBezTo>
                  <a:pt x="2598" y="185"/>
                  <a:pt x="2609" y="207"/>
                  <a:pt x="2619" y="229"/>
                </a:cubicBezTo>
                <a:cubicBezTo>
                  <a:pt x="2628" y="252"/>
                  <a:pt x="2635" y="275"/>
                  <a:pt x="2640" y="299"/>
                </a:cubicBezTo>
                <a:cubicBezTo>
                  <a:pt x="2644" y="322"/>
                  <a:pt x="2647" y="347"/>
                  <a:pt x="2647" y="371"/>
                </a:cubicBezTo>
                <a:cubicBezTo>
                  <a:pt x="2647" y="395"/>
                  <a:pt x="2644" y="420"/>
                  <a:pt x="2640" y="444"/>
                </a:cubicBezTo>
                <a:cubicBezTo>
                  <a:pt x="2635" y="468"/>
                  <a:pt x="2628" y="491"/>
                  <a:pt x="2619" y="514"/>
                </a:cubicBezTo>
                <a:cubicBezTo>
                  <a:pt x="2609" y="536"/>
                  <a:pt x="2598" y="557"/>
                  <a:pt x="2584" y="578"/>
                </a:cubicBezTo>
                <a:cubicBezTo>
                  <a:pt x="2571" y="598"/>
                  <a:pt x="2555" y="617"/>
                  <a:pt x="2538" y="634"/>
                </a:cubicBezTo>
                <a:cubicBezTo>
                  <a:pt x="2521" y="651"/>
                  <a:pt x="2502" y="666"/>
                  <a:pt x="2482" y="680"/>
                </a:cubicBezTo>
                <a:cubicBezTo>
                  <a:pt x="2462" y="693"/>
                  <a:pt x="2441" y="705"/>
                  <a:pt x="2418" y="714"/>
                </a:cubicBezTo>
                <a:cubicBezTo>
                  <a:pt x="2396" y="723"/>
                  <a:pt x="2372" y="730"/>
                  <a:pt x="2349" y="735"/>
                </a:cubicBezTo>
                <a:cubicBezTo>
                  <a:pt x="2325" y="740"/>
                  <a:pt x="2301" y="742"/>
                  <a:pt x="2276" y="742"/>
                </a:cubicBezTo>
                <a:lnTo>
                  <a:pt x="370" y="742"/>
                </a:lnTo>
                <a:cubicBezTo>
                  <a:pt x="346" y="742"/>
                  <a:pt x="322" y="740"/>
                  <a:pt x="298" y="735"/>
                </a:cubicBezTo>
                <a:cubicBezTo>
                  <a:pt x="274" y="730"/>
                  <a:pt x="251" y="723"/>
                  <a:pt x="229" y="714"/>
                </a:cubicBezTo>
                <a:cubicBezTo>
                  <a:pt x="206" y="705"/>
                  <a:pt x="185" y="693"/>
                  <a:pt x="164" y="680"/>
                </a:cubicBezTo>
                <a:cubicBezTo>
                  <a:pt x="144" y="666"/>
                  <a:pt x="126" y="651"/>
                  <a:pt x="108" y="634"/>
                </a:cubicBezTo>
                <a:cubicBezTo>
                  <a:pt x="91" y="617"/>
                  <a:pt x="76" y="598"/>
                  <a:pt x="62" y="578"/>
                </a:cubicBezTo>
                <a:cubicBezTo>
                  <a:pt x="49" y="557"/>
                  <a:pt x="37" y="536"/>
                  <a:pt x="28" y="514"/>
                </a:cubicBezTo>
                <a:cubicBezTo>
                  <a:pt x="19" y="491"/>
                  <a:pt x="12" y="468"/>
                  <a:pt x="7" y="444"/>
                </a:cubicBezTo>
                <a:cubicBezTo>
                  <a:pt x="2" y="420"/>
                  <a:pt x="0" y="395"/>
                  <a:pt x="0" y="371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5937840" y="1844280"/>
            <a:ext cx="180000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数据规模与类别分布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任意形状 304"/>
          <p:cNvSpPr/>
          <p:nvPr/>
        </p:nvSpPr>
        <p:spPr>
          <a:xfrm>
            <a:off x="5933880" y="2342880"/>
            <a:ext cx="1467360" cy="390960"/>
          </a:xfrm>
          <a:custGeom>
            <a:avLst/>
            <a:gdLst/>
            <a:ahLst/>
            <a:cxnLst/>
            <a:rect l="0" t="0" r="r" b="b"/>
            <a:pathLst>
              <a:path w="4076" h="1086">
                <a:moveTo>
                  <a:pt x="16" y="131"/>
                </a:moveTo>
                <a:cubicBezTo>
                  <a:pt x="27" y="105"/>
                  <a:pt x="42" y="82"/>
                  <a:pt x="62" y="62"/>
                </a:cubicBezTo>
                <a:cubicBezTo>
                  <a:pt x="82" y="42"/>
                  <a:pt x="105" y="27"/>
                  <a:pt x="131" y="16"/>
                </a:cubicBezTo>
                <a:cubicBezTo>
                  <a:pt x="157" y="6"/>
                  <a:pt x="184" y="0"/>
                  <a:pt x="212" y="0"/>
                </a:cubicBezTo>
                <a:lnTo>
                  <a:pt x="4076" y="0"/>
                </a:lnTo>
                <a:lnTo>
                  <a:pt x="4076" y="1086"/>
                </a:lnTo>
                <a:lnTo>
                  <a:pt x="0" y="1086"/>
                </a:lnTo>
                <a:lnTo>
                  <a:pt x="0" y="212"/>
                </a:lnTo>
                <a:cubicBezTo>
                  <a:pt x="0" y="184"/>
                  <a:pt x="5" y="157"/>
                  <a:pt x="16" y="131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任意形状 305"/>
          <p:cNvSpPr/>
          <p:nvPr/>
        </p:nvSpPr>
        <p:spPr>
          <a:xfrm>
            <a:off x="7400880" y="2342880"/>
            <a:ext cx="533520" cy="390960"/>
          </a:xfrm>
          <a:custGeom>
            <a:avLst/>
            <a:gdLst/>
            <a:ahLst/>
            <a:cxnLst/>
            <a:rect l="0" t="0" r="r" b="b"/>
            <a:pathLst>
              <a:path w="1482" h="1086">
                <a:moveTo>
                  <a:pt x="0" y="0"/>
                </a:moveTo>
                <a:lnTo>
                  <a:pt x="1482" y="0"/>
                </a:lnTo>
                <a:lnTo>
                  <a:pt x="1482" y="1086"/>
                </a:lnTo>
                <a:lnTo>
                  <a:pt x="0" y="1086"/>
                </a:lnTo>
                <a:lnTo>
                  <a:pt x="0" y="0"/>
                </a:ln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任意形状 306"/>
          <p:cNvSpPr/>
          <p:nvPr/>
        </p:nvSpPr>
        <p:spPr>
          <a:xfrm>
            <a:off x="7934040" y="2342880"/>
            <a:ext cx="667080" cy="390960"/>
          </a:xfrm>
          <a:custGeom>
            <a:avLst/>
            <a:gdLst/>
            <a:ahLst/>
            <a:cxnLst/>
            <a:rect l="0" t="0" r="r" b="b"/>
            <a:pathLst>
              <a:path w="1853" h="1086">
                <a:moveTo>
                  <a:pt x="1723" y="16"/>
                </a:moveTo>
                <a:cubicBezTo>
                  <a:pt x="1749" y="27"/>
                  <a:pt x="1772" y="42"/>
                  <a:pt x="1791" y="62"/>
                </a:cubicBezTo>
                <a:cubicBezTo>
                  <a:pt x="1811" y="82"/>
                  <a:pt x="1827" y="105"/>
                  <a:pt x="1837" y="131"/>
                </a:cubicBezTo>
                <a:cubicBezTo>
                  <a:pt x="1848" y="157"/>
                  <a:pt x="1853" y="184"/>
                  <a:pt x="1853" y="212"/>
                </a:cubicBezTo>
                <a:lnTo>
                  <a:pt x="1853" y="1086"/>
                </a:lnTo>
                <a:lnTo>
                  <a:pt x="0" y="1086"/>
                </a:lnTo>
                <a:lnTo>
                  <a:pt x="0" y="0"/>
                </a:lnTo>
                <a:lnTo>
                  <a:pt x="1642" y="0"/>
                </a:lnTo>
                <a:cubicBezTo>
                  <a:pt x="1670" y="0"/>
                  <a:pt x="1697" y="6"/>
                  <a:pt x="1723" y="16"/>
                </a:cubicBezTo>
                <a:close/>
              </a:path>
            </a:pathLst>
          </a:custGeom>
          <a:solidFill>
            <a:srgbClr val="F9FAF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任意形状 307"/>
          <p:cNvSpPr/>
          <p:nvPr/>
        </p:nvSpPr>
        <p:spPr>
          <a:xfrm>
            <a:off x="5933880" y="2724120"/>
            <a:ext cx="1467360" cy="9720"/>
          </a:xfrm>
          <a:custGeom>
            <a:avLst/>
            <a:gdLst/>
            <a:ahLst/>
            <a:cxn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任意形状 308"/>
          <p:cNvSpPr/>
          <p:nvPr/>
        </p:nvSpPr>
        <p:spPr>
          <a:xfrm>
            <a:off x="7400880" y="2724120"/>
            <a:ext cx="533520" cy="9720"/>
          </a:xfrm>
          <a:custGeom>
            <a:avLst/>
            <a:gdLst/>
            <a:ahLst/>
            <a:cxnLst/>
            <a:rect l="0" t="0" r="r" b="b"/>
            <a:pathLst>
              <a:path w="1482" h="27">
                <a:moveTo>
                  <a:pt x="0" y="0"/>
                </a:moveTo>
                <a:lnTo>
                  <a:pt x="1482" y="0"/>
                </a:lnTo>
                <a:lnTo>
                  <a:pt x="14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任意形状 309"/>
          <p:cNvSpPr/>
          <p:nvPr/>
        </p:nvSpPr>
        <p:spPr>
          <a:xfrm>
            <a:off x="7934040" y="2724120"/>
            <a:ext cx="667080" cy="9720"/>
          </a:xfrm>
          <a:custGeom>
            <a:avLst/>
            <a:gdLst/>
            <a:ahLst/>
            <a:cxn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任意形状 310"/>
          <p:cNvSpPr/>
          <p:nvPr/>
        </p:nvSpPr>
        <p:spPr>
          <a:xfrm>
            <a:off x="5933880" y="3152520"/>
            <a:ext cx="1467360" cy="10080"/>
          </a:xfrm>
          <a:custGeom>
            <a:avLst/>
            <a:gdLst/>
            <a:ahLst/>
            <a:cxnLst/>
            <a:rect l="0" t="0" r="r" b="b"/>
            <a:pathLst>
              <a:path w="4076" h="28">
                <a:moveTo>
                  <a:pt x="0" y="0"/>
                </a:moveTo>
                <a:lnTo>
                  <a:pt x="4076" y="0"/>
                </a:lnTo>
                <a:lnTo>
                  <a:pt x="407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任意形状 311"/>
          <p:cNvSpPr/>
          <p:nvPr/>
        </p:nvSpPr>
        <p:spPr>
          <a:xfrm>
            <a:off x="7400880" y="3152520"/>
            <a:ext cx="533520" cy="10080"/>
          </a:xfrm>
          <a:custGeom>
            <a:avLst/>
            <a:gdLst/>
            <a:ahLst/>
            <a:cxnLst/>
            <a:rect l="0" t="0" r="r" b="b"/>
            <a:pathLst>
              <a:path w="1482" h="28">
                <a:moveTo>
                  <a:pt x="0" y="0"/>
                </a:moveTo>
                <a:lnTo>
                  <a:pt x="1482" y="0"/>
                </a:lnTo>
                <a:lnTo>
                  <a:pt x="148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任意形状 312"/>
          <p:cNvSpPr/>
          <p:nvPr/>
        </p:nvSpPr>
        <p:spPr>
          <a:xfrm>
            <a:off x="7934040" y="3152520"/>
            <a:ext cx="667080" cy="10080"/>
          </a:xfrm>
          <a:custGeom>
            <a:avLst/>
            <a:gdLst/>
            <a:ahLst/>
            <a:cxnLst/>
            <a:rect l="0" t="0" r="r" b="b"/>
            <a:pathLst>
              <a:path w="1853" h="28">
                <a:moveTo>
                  <a:pt x="0" y="0"/>
                </a:moveTo>
                <a:lnTo>
                  <a:pt x="1853" y="0"/>
                </a:lnTo>
                <a:lnTo>
                  <a:pt x="18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任意形状 313"/>
          <p:cNvSpPr/>
          <p:nvPr/>
        </p:nvSpPr>
        <p:spPr>
          <a:xfrm>
            <a:off x="5933880" y="3771720"/>
            <a:ext cx="1467360" cy="9720"/>
          </a:xfrm>
          <a:custGeom>
            <a:avLst/>
            <a:gdLst/>
            <a:ahLst/>
            <a:cxnLst/>
            <a:rect l="0" t="0" r="r" b="b"/>
            <a:pathLst>
              <a:path w="4076" h="27">
                <a:moveTo>
                  <a:pt x="0" y="0"/>
                </a:moveTo>
                <a:lnTo>
                  <a:pt x="4076" y="0"/>
                </a:lnTo>
                <a:lnTo>
                  <a:pt x="407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任意形状 314"/>
          <p:cNvSpPr/>
          <p:nvPr/>
        </p:nvSpPr>
        <p:spPr>
          <a:xfrm>
            <a:off x="7400880" y="3771720"/>
            <a:ext cx="533520" cy="9720"/>
          </a:xfrm>
          <a:custGeom>
            <a:avLst/>
            <a:gdLst/>
            <a:ahLst/>
            <a:cxnLst/>
            <a:rect l="0" t="0" r="r" b="b"/>
            <a:pathLst>
              <a:path w="1482" h="27">
                <a:moveTo>
                  <a:pt x="0" y="0"/>
                </a:moveTo>
                <a:lnTo>
                  <a:pt x="1482" y="0"/>
                </a:lnTo>
                <a:lnTo>
                  <a:pt x="148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任意形状 315"/>
          <p:cNvSpPr/>
          <p:nvPr/>
        </p:nvSpPr>
        <p:spPr>
          <a:xfrm>
            <a:off x="7934040" y="3771720"/>
            <a:ext cx="667080" cy="9720"/>
          </a:xfrm>
          <a:custGeom>
            <a:avLst/>
            <a:gdLst/>
            <a:ahLst/>
            <a:cxnLst/>
            <a:rect l="0" t="0" r="r" b="b"/>
            <a:pathLst>
              <a:path w="1853" h="27">
                <a:moveTo>
                  <a:pt x="0" y="0"/>
                </a:moveTo>
                <a:lnTo>
                  <a:pt x="1853" y="0"/>
                </a:lnTo>
                <a:lnTo>
                  <a:pt x="18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10658520" y="1886400"/>
            <a:ext cx="8398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总计</a:t>
            </a:r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: 780 </a:t>
            </a:r>
            <a:r>
              <a:rPr lang="zh-CN" sz="10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6090480" y="244944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类别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文本框 318"/>
          <p:cNvSpPr txBox="1"/>
          <p:nvPr/>
        </p:nvSpPr>
        <p:spPr>
          <a:xfrm>
            <a:off x="7550280" y="244944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数量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任意形状 319"/>
          <p:cNvSpPr/>
          <p:nvPr/>
        </p:nvSpPr>
        <p:spPr>
          <a:xfrm>
            <a:off x="6086160" y="29048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8083440" y="244944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占比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6242760" y="2848320"/>
            <a:ext cx="9100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良性 </a:t>
            </a:r>
            <a:r>
              <a:rPr lang="en-US" sz="10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(Benign)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文本框 322"/>
          <p:cNvSpPr txBox="1"/>
          <p:nvPr/>
        </p:nvSpPr>
        <p:spPr>
          <a:xfrm>
            <a:off x="7550280" y="2848320"/>
            <a:ext cx="228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437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任意形状 323"/>
          <p:cNvSpPr/>
          <p:nvPr/>
        </p:nvSpPr>
        <p:spPr>
          <a:xfrm>
            <a:off x="6086160" y="3428640"/>
            <a:ext cx="76680" cy="76680"/>
          </a:xfrm>
          <a:custGeom>
            <a:avLst/>
            <a:gdLst/>
            <a:ahLst/>
            <a:cxn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5" y="3"/>
                  <a:pt x="148" y="9"/>
                </a:cubicBezTo>
                <a:cubicBezTo>
                  <a:pt x="161" y="14"/>
                  <a:pt x="172" y="22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8083440" y="2848320"/>
            <a:ext cx="374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56.0%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6242400" y="3277080"/>
            <a:ext cx="2797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恶性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文本框 326"/>
          <p:cNvSpPr txBox="1"/>
          <p:nvPr/>
        </p:nvSpPr>
        <p:spPr>
          <a:xfrm>
            <a:off x="6242400" y="3467520"/>
            <a:ext cx="770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(Malignant)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文本框 327"/>
          <p:cNvSpPr txBox="1"/>
          <p:nvPr/>
        </p:nvSpPr>
        <p:spPr>
          <a:xfrm>
            <a:off x="7550280" y="3372120"/>
            <a:ext cx="228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210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任意形状 328"/>
          <p:cNvSpPr/>
          <p:nvPr/>
        </p:nvSpPr>
        <p:spPr>
          <a:xfrm>
            <a:off x="6086160" y="3952800"/>
            <a:ext cx="76680" cy="76320"/>
          </a:xfrm>
          <a:custGeom>
            <a:avLst/>
            <a:gdLst/>
            <a:ahLst/>
            <a:cxnLst/>
            <a:rect l="0" t="0" r="r" b="b"/>
            <a:pathLst>
              <a:path w="213" h="212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8083440" y="3372120"/>
            <a:ext cx="374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26.9%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文本框 330"/>
          <p:cNvSpPr txBox="1"/>
          <p:nvPr/>
        </p:nvSpPr>
        <p:spPr>
          <a:xfrm>
            <a:off x="6242760" y="3895920"/>
            <a:ext cx="91008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正常 </a:t>
            </a:r>
            <a:r>
              <a:rPr lang="en-US" sz="10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(Normal)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7550280" y="3895920"/>
            <a:ext cx="2282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133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图片 332"/>
          <p:cNvPicPr/>
          <p:nvPr/>
        </p:nvPicPr>
        <p:blipFill>
          <a:blip r:embed="rId10"/>
          <a:stretch/>
        </p:blipFill>
        <p:spPr>
          <a:xfrm>
            <a:off x="8829720" y="2343240"/>
            <a:ext cx="2666520" cy="1856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任意形状 333"/>
          <p:cNvSpPr/>
          <p:nvPr/>
        </p:nvSpPr>
        <p:spPr>
          <a:xfrm>
            <a:off x="9067680" y="2933640"/>
            <a:ext cx="2429280" cy="114480"/>
          </a:xfrm>
          <a:custGeom>
            <a:avLst/>
            <a:gdLst/>
            <a:ahLst/>
            <a:cxnLst/>
            <a:rect l="0" t="0" r="r" b="b"/>
            <a:pathLst>
              <a:path w="6748" h="318">
                <a:moveTo>
                  <a:pt x="0" y="158"/>
                </a:move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589" y="0"/>
                </a:lnTo>
                <a:cubicBezTo>
                  <a:pt x="6599" y="0"/>
                  <a:pt x="6610" y="1"/>
                  <a:pt x="6620" y="3"/>
                </a:cubicBezTo>
                <a:cubicBezTo>
                  <a:pt x="6630" y="5"/>
                  <a:pt x="6640" y="8"/>
                  <a:pt x="6650" y="12"/>
                </a:cubicBezTo>
                <a:cubicBezTo>
                  <a:pt x="6659" y="16"/>
                  <a:pt x="6668" y="21"/>
                  <a:pt x="6677" y="26"/>
                </a:cubicBezTo>
                <a:cubicBezTo>
                  <a:pt x="6686" y="32"/>
                  <a:pt x="6694" y="39"/>
                  <a:pt x="6701" y="46"/>
                </a:cubicBezTo>
                <a:cubicBezTo>
                  <a:pt x="6709" y="54"/>
                  <a:pt x="6715" y="62"/>
                  <a:pt x="6721" y="70"/>
                </a:cubicBezTo>
                <a:cubicBezTo>
                  <a:pt x="6727" y="79"/>
                  <a:pt x="6732" y="88"/>
                  <a:pt x="6736" y="98"/>
                </a:cubicBezTo>
                <a:cubicBezTo>
                  <a:pt x="6740" y="107"/>
                  <a:pt x="6743" y="117"/>
                  <a:pt x="6745" y="127"/>
                </a:cubicBezTo>
                <a:cubicBezTo>
                  <a:pt x="6747" y="138"/>
                  <a:pt x="6748" y="148"/>
                  <a:pt x="6748" y="158"/>
                </a:cubicBezTo>
                <a:cubicBezTo>
                  <a:pt x="6748" y="169"/>
                  <a:pt x="6747" y="179"/>
                  <a:pt x="6745" y="189"/>
                </a:cubicBezTo>
                <a:cubicBezTo>
                  <a:pt x="6743" y="200"/>
                  <a:pt x="6740" y="210"/>
                  <a:pt x="6736" y="219"/>
                </a:cubicBezTo>
                <a:cubicBezTo>
                  <a:pt x="6732" y="229"/>
                  <a:pt x="6727" y="238"/>
                  <a:pt x="6721" y="247"/>
                </a:cubicBezTo>
                <a:cubicBezTo>
                  <a:pt x="6715" y="256"/>
                  <a:pt x="6709" y="264"/>
                  <a:pt x="6701" y="272"/>
                </a:cubicBezTo>
                <a:cubicBezTo>
                  <a:pt x="6694" y="279"/>
                  <a:pt x="6686" y="286"/>
                  <a:pt x="6677" y="291"/>
                </a:cubicBezTo>
                <a:cubicBezTo>
                  <a:pt x="6668" y="297"/>
                  <a:pt x="6659" y="302"/>
                  <a:pt x="6650" y="306"/>
                </a:cubicBezTo>
                <a:cubicBezTo>
                  <a:pt x="6640" y="310"/>
                  <a:pt x="6630" y="313"/>
                  <a:pt x="6620" y="315"/>
                </a:cubicBezTo>
                <a:cubicBezTo>
                  <a:pt x="6610" y="317"/>
                  <a:pt x="6599" y="318"/>
                  <a:pt x="6589" y="318"/>
                </a:cubicBezTo>
                <a:lnTo>
                  <a:pt x="159" y="318"/>
                </a:lnTo>
                <a:cubicBezTo>
                  <a:pt x="148" y="318"/>
                  <a:pt x="138" y="317"/>
                  <a:pt x="128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4"/>
                  <a:pt x="32" y="256"/>
                  <a:pt x="27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任意形状 334"/>
          <p:cNvSpPr/>
          <p:nvPr/>
        </p:nvSpPr>
        <p:spPr>
          <a:xfrm>
            <a:off x="9067680" y="2933640"/>
            <a:ext cx="1362240" cy="114480"/>
          </a:xfrm>
          <a:custGeom>
            <a:avLst/>
            <a:gdLst/>
            <a:ahLst/>
            <a:cxnLst/>
            <a:rect l="0" t="0" r="r" b="b"/>
            <a:pathLst>
              <a:path w="3784" h="318">
                <a:moveTo>
                  <a:pt x="0" y="158"/>
                </a:move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626" y="0"/>
                </a:lnTo>
                <a:cubicBezTo>
                  <a:pt x="3636" y="0"/>
                  <a:pt x="3646" y="1"/>
                  <a:pt x="3657" y="3"/>
                </a:cubicBezTo>
                <a:cubicBezTo>
                  <a:pt x="3667" y="5"/>
                  <a:pt x="3677" y="8"/>
                  <a:pt x="3686" y="12"/>
                </a:cubicBezTo>
                <a:cubicBezTo>
                  <a:pt x="3696" y="16"/>
                  <a:pt x="3705" y="21"/>
                  <a:pt x="3714" y="26"/>
                </a:cubicBezTo>
                <a:cubicBezTo>
                  <a:pt x="3722" y="32"/>
                  <a:pt x="3731" y="39"/>
                  <a:pt x="3738" y="46"/>
                </a:cubicBezTo>
                <a:cubicBezTo>
                  <a:pt x="3745" y="54"/>
                  <a:pt x="3752" y="62"/>
                  <a:pt x="3758" y="70"/>
                </a:cubicBezTo>
                <a:cubicBezTo>
                  <a:pt x="3763" y="79"/>
                  <a:pt x="3768" y="88"/>
                  <a:pt x="3772" y="98"/>
                </a:cubicBezTo>
                <a:cubicBezTo>
                  <a:pt x="3776" y="107"/>
                  <a:pt x="3779" y="117"/>
                  <a:pt x="3781" y="127"/>
                </a:cubicBezTo>
                <a:cubicBezTo>
                  <a:pt x="3783" y="138"/>
                  <a:pt x="3784" y="148"/>
                  <a:pt x="3784" y="158"/>
                </a:cubicBezTo>
                <a:cubicBezTo>
                  <a:pt x="3784" y="169"/>
                  <a:pt x="3783" y="179"/>
                  <a:pt x="3781" y="189"/>
                </a:cubicBezTo>
                <a:cubicBezTo>
                  <a:pt x="3779" y="200"/>
                  <a:pt x="3776" y="210"/>
                  <a:pt x="3772" y="219"/>
                </a:cubicBezTo>
                <a:cubicBezTo>
                  <a:pt x="3768" y="229"/>
                  <a:pt x="3763" y="238"/>
                  <a:pt x="3758" y="247"/>
                </a:cubicBezTo>
                <a:cubicBezTo>
                  <a:pt x="3752" y="256"/>
                  <a:pt x="3745" y="264"/>
                  <a:pt x="3738" y="272"/>
                </a:cubicBezTo>
                <a:cubicBezTo>
                  <a:pt x="3731" y="279"/>
                  <a:pt x="3722" y="286"/>
                  <a:pt x="3714" y="291"/>
                </a:cubicBezTo>
                <a:cubicBezTo>
                  <a:pt x="3705" y="297"/>
                  <a:pt x="3696" y="302"/>
                  <a:pt x="3686" y="306"/>
                </a:cubicBezTo>
                <a:cubicBezTo>
                  <a:pt x="3677" y="310"/>
                  <a:pt x="3667" y="313"/>
                  <a:pt x="3657" y="315"/>
                </a:cubicBezTo>
                <a:cubicBezTo>
                  <a:pt x="3646" y="317"/>
                  <a:pt x="3636" y="318"/>
                  <a:pt x="3626" y="318"/>
                </a:cubicBezTo>
                <a:lnTo>
                  <a:pt x="159" y="318"/>
                </a:lnTo>
                <a:cubicBezTo>
                  <a:pt x="148" y="318"/>
                  <a:pt x="138" y="317"/>
                  <a:pt x="128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4"/>
                  <a:pt x="32" y="256"/>
                  <a:pt x="27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8083440" y="3895920"/>
            <a:ext cx="3740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17.1%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9064800" y="273528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良性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任意形状 337"/>
          <p:cNvSpPr/>
          <p:nvPr/>
        </p:nvSpPr>
        <p:spPr>
          <a:xfrm>
            <a:off x="9067680" y="3390840"/>
            <a:ext cx="2429280" cy="114480"/>
          </a:xfrm>
          <a:custGeom>
            <a:avLst/>
            <a:gdLst/>
            <a:ahLst/>
            <a:cxnLst/>
            <a:rect l="0" t="0" r="r" b="b"/>
            <a:pathLst>
              <a:path w="6748" h="318">
                <a:moveTo>
                  <a:pt x="0" y="158"/>
                </a:move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589" y="0"/>
                </a:lnTo>
                <a:cubicBezTo>
                  <a:pt x="6599" y="0"/>
                  <a:pt x="6610" y="1"/>
                  <a:pt x="6620" y="3"/>
                </a:cubicBezTo>
                <a:cubicBezTo>
                  <a:pt x="6630" y="5"/>
                  <a:pt x="6640" y="8"/>
                  <a:pt x="6650" y="12"/>
                </a:cubicBezTo>
                <a:cubicBezTo>
                  <a:pt x="6659" y="16"/>
                  <a:pt x="6668" y="21"/>
                  <a:pt x="6677" y="26"/>
                </a:cubicBezTo>
                <a:cubicBezTo>
                  <a:pt x="6686" y="32"/>
                  <a:pt x="6694" y="39"/>
                  <a:pt x="6701" y="46"/>
                </a:cubicBezTo>
                <a:cubicBezTo>
                  <a:pt x="6709" y="54"/>
                  <a:pt x="6715" y="62"/>
                  <a:pt x="6721" y="70"/>
                </a:cubicBezTo>
                <a:cubicBezTo>
                  <a:pt x="6727" y="79"/>
                  <a:pt x="6732" y="88"/>
                  <a:pt x="6736" y="98"/>
                </a:cubicBezTo>
                <a:cubicBezTo>
                  <a:pt x="6740" y="107"/>
                  <a:pt x="6743" y="117"/>
                  <a:pt x="6745" y="127"/>
                </a:cubicBezTo>
                <a:cubicBezTo>
                  <a:pt x="6747" y="138"/>
                  <a:pt x="6748" y="148"/>
                  <a:pt x="6748" y="158"/>
                </a:cubicBezTo>
                <a:cubicBezTo>
                  <a:pt x="6748" y="169"/>
                  <a:pt x="6747" y="179"/>
                  <a:pt x="6745" y="189"/>
                </a:cubicBezTo>
                <a:cubicBezTo>
                  <a:pt x="6743" y="200"/>
                  <a:pt x="6740" y="210"/>
                  <a:pt x="6736" y="219"/>
                </a:cubicBezTo>
                <a:cubicBezTo>
                  <a:pt x="6732" y="229"/>
                  <a:pt x="6727" y="238"/>
                  <a:pt x="6721" y="247"/>
                </a:cubicBezTo>
                <a:cubicBezTo>
                  <a:pt x="6715" y="256"/>
                  <a:pt x="6709" y="264"/>
                  <a:pt x="6701" y="272"/>
                </a:cubicBezTo>
                <a:cubicBezTo>
                  <a:pt x="6694" y="279"/>
                  <a:pt x="6686" y="286"/>
                  <a:pt x="6677" y="291"/>
                </a:cubicBezTo>
                <a:cubicBezTo>
                  <a:pt x="6668" y="297"/>
                  <a:pt x="6659" y="302"/>
                  <a:pt x="6650" y="306"/>
                </a:cubicBezTo>
                <a:cubicBezTo>
                  <a:pt x="6640" y="310"/>
                  <a:pt x="6630" y="313"/>
                  <a:pt x="6620" y="315"/>
                </a:cubicBezTo>
                <a:cubicBezTo>
                  <a:pt x="6610" y="317"/>
                  <a:pt x="6599" y="318"/>
                  <a:pt x="6589" y="318"/>
                </a:cubicBezTo>
                <a:lnTo>
                  <a:pt x="159" y="318"/>
                </a:lnTo>
                <a:cubicBezTo>
                  <a:pt x="148" y="318"/>
                  <a:pt x="138" y="317"/>
                  <a:pt x="128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4"/>
                  <a:pt x="32" y="256"/>
                  <a:pt x="27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任意形状 338"/>
          <p:cNvSpPr/>
          <p:nvPr/>
        </p:nvSpPr>
        <p:spPr>
          <a:xfrm>
            <a:off x="9067680" y="3390840"/>
            <a:ext cx="657360" cy="114480"/>
          </a:xfrm>
          <a:custGeom>
            <a:avLst/>
            <a:gdLst/>
            <a:ahLst/>
            <a:cxnLst/>
            <a:rect l="0" t="0" r="r" b="b"/>
            <a:pathLst>
              <a:path w="1826" h="318">
                <a:moveTo>
                  <a:pt x="0" y="158"/>
                </a:move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668" y="0"/>
                </a:lnTo>
                <a:cubicBezTo>
                  <a:pt x="1678" y="0"/>
                  <a:pt x="1688" y="1"/>
                  <a:pt x="1699" y="3"/>
                </a:cubicBezTo>
                <a:cubicBezTo>
                  <a:pt x="1709" y="5"/>
                  <a:pt x="1719" y="8"/>
                  <a:pt x="1728" y="12"/>
                </a:cubicBezTo>
                <a:cubicBezTo>
                  <a:pt x="1738" y="16"/>
                  <a:pt x="1747" y="21"/>
                  <a:pt x="1756" y="26"/>
                </a:cubicBezTo>
                <a:cubicBezTo>
                  <a:pt x="1765" y="32"/>
                  <a:pt x="1773" y="39"/>
                  <a:pt x="1780" y="46"/>
                </a:cubicBezTo>
                <a:cubicBezTo>
                  <a:pt x="1787" y="54"/>
                  <a:pt x="1794" y="62"/>
                  <a:pt x="1800" y="70"/>
                </a:cubicBezTo>
                <a:cubicBezTo>
                  <a:pt x="1805" y="79"/>
                  <a:pt x="1810" y="88"/>
                  <a:pt x="1814" y="98"/>
                </a:cubicBezTo>
                <a:cubicBezTo>
                  <a:pt x="1818" y="107"/>
                  <a:pt x="1821" y="117"/>
                  <a:pt x="1823" y="127"/>
                </a:cubicBezTo>
                <a:cubicBezTo>
                  <a:pt x="1825" y="138"/>
                  <a:pt x="1826" y="148"/>
                  <a:pt x="1826" y="158"/>
                </a:cubicBezTo>
                <a:cubicBezTo>
                  <a:pt x="1826" y="169"/>
                  <a:pt x="1825" y="179"/>
                  <a:pt x="1823" y="189"/>
                </a:cubicBezTo>
                <a:cubicBezTo>
                  <a:pt x="1821" y="200"/>
                  <a:pt x="1818" y="210"/>
                  <a:pt x="1814" y="219"/>
                </a:cubicBezTo>
                <a:cubicBezTo>
                  <a:pt x="1810" y="229"/>
                  <a:pt x="1805" y="238"/>
                  <a:pt x="1800" y="247"/>
                </a:cubicBezTo>
                <a:cubicBezTo>
                  <a:pt x="1794" y="256"/>
                  <a:pt x="1787" y="264"/>
                  <a:pt x="1780" y="272"/>
                </a:cubicBezTo>
                <a:cubicBezTo>
                  <a:pt x="1773" y="279"/>
                  <a:pt x="1765" y="286"/>
                  <a:pt x="1756" y="291"/>
                </a:cubicBezTo>
                <a:cubicBezTo>
                  <a:pt x="1747" y="297"/>
                  <a:pt x="1738" y="302"/>
                  <a:pt x="1728" y="306"/>
                </a:cubicBezTo>
                <a:cubicBezTo>
                  <a:pt x="1719" y="310"/>
                  <a:pt x="1709" y="313"/>
                  <a:pt x="1699" y="315"/>
                </a:cubicBezTo>
                <a:cubicBezTo>
                  <a:pt x="1688" y="317"/>
                  <a:pt x="1678" y="318"/>
                  <a:pt x="1668" y="318"/>
                </a:cubicBezTo>
                <a:lnTo>
                  <a:pt x="159" y="318"/>
                </a:lnTo>
                <a:cubicBezTo>
                  <a:pt x="148" y="318"/>
                  <a:pt x="138" y="317"/>
                  <a:pt x="128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4"/>
                  <a:pt x="32" y="256"/>
                  <a:pt x="27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11296800" y="2735280"/>
            <a:ext cx="1969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437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9064800" y="319248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F99600"/>
                </a:solidFill>
                <a:effectLst/>
                <a:uFillTx/>
                <a:latin typeface="NotoSansSC"/>
                <a:ea typeface="NotoSansSC"/>
              </a:rPr>
              <a:t>恶性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任意形状 341"/>
          <p:cNvSpPr/>
          <p:nvPr/>
        </p:nvSpPr>
        <p:spPr>
          <a:xfrm>
            <a:off x="9067680" y="3848040"/>
            <a:ext cx="2429280" cy="114480"/>
          </a:xfrm>
          <a:custGeom>
            <a:avLst/>
            <a:gdLst/>
            <a:ahLst/>
            <a:cxnLst/>
            <a:rect l="0" t="0" r="r" b="b"/>
            <a:pathLst>
              <a:path w="6748" h="318">
                <a:moveTo>
                  <a:pt x="0" y="158"/>
                </a:move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589" y="0"/>
                </a:lnTo>
                <a:cubicBezTo>
                  <a:pt x="6599" y="0"/>
                  <a:pt x="6610" y="1"/>
                  <a:pt x="6620" y="3"/>
                </a:cubicBezTo>
                <a:cubicBezTo>
                  <a:pt x="6630" y="5"/>
                  <a:pt x="6640" y="8"/>
                  <a:pt x="6650" y="12"/>
                </a:cubicBezTo>
                <a:cubicBezTo>
                  <a:pt x="6659" y="16"/>
                  <a:pt x="6668" y="21"/>
                  <a:pt x="6677" y="26"/>
                </a:cubicBezTo>
                <a:cubicBezTo>
                  <a:pt x="6686" y="32"/>
                  <a:pt x="6694" y="39"/>
                  <a:pt x="6701" y="46"/>
                </a:cubicBezTo>
                <a:cubicBezTo>
                  <a:pt x="6709" y="54"/>
                  <a:pt x="6715" y="62"/>
                  <a:pt x="6721" y="70"/>
                </a:cubicBezTo>
                <a:cubicBezTo>
                  <a:pt x="6727" y="79"/>
                  <a:pt x="6732" y="88"/>
                  <a:pt x="6736" y="98"/>
                </a:cubicBezTo>
                <a:cubicBezTo>
                  <a:pt x="6740" y="107"/>
                  <a:pt x="6743" y="117"/>
                  <a:pt x="6745" y="127"/>
                </a:cubicBezTo>
                <a:cubicBezTo>
                  <a:pt x="6747" y="138"/>
                  <a:pt x="6748" y="148"/>
                  <a:pt x="6748" y="158"/>
                </a:cubicBezTo>
                <a:cubicBezTo>
                  <a:pt x="6748" y="169"/>
                  <a:pt x="6747" y="179"/>
                  <a:pt x="6745" y="189"/>
                </a:cubicBezTo>
                <a:cubicBezTo>
                  <a:pt x="6743" y="200"/>
                  <a:pt x="6740" y="210"/>
                  <a:pt x="6736" y="219"/>
                </a:cubicBezTo>
                <a:cubicBezTo>
                  <a:pt x="6732" y="229"/>
                  <a:pt x="6727" y="238"/>
                  <a:pt x="6721" y="247"/>
                </a:cubicBezTo>
                <a:cubicBezTo>
                  <a:pt x="6715" y="256"/>
                  <a:pt x="6709" y="264"/>
                  <a:pt x="6701" y="272"/>
                </a:cubicBezTo>
                <a:cubicBezTo>
                  <a:pt x="6694" y="279"/>
                  <a:pt x="6686" y="286"/>
                  <a:pt x="6677" y="291"/>
                </a:cubicBezTo>
                <a:cubicBezTo>
                  <a:pt x="6668" y="297"/>
                  <a:pt x="6659" y="302"/>
                  <a:pt x="6650" y="306"/>
                </a:cubicBezTo>
                <a:cubicBezTo>
                  <a:pt x="6640" y="310"/>
                  <a:pt x="6630" y="313"/>
                  <a:pt x="6620" y="315"/>
                </a:cubicBezTo>
                <a:cubicBezTo>
                  <a:pt x="6610" y="317"/>
                  <a:pt x="6599" y="318"/>
                  <a:pt x="6589" y="318"/>
                </a:cubicBezTo>
                <a:lnTo>
                  <a:pt x="159" y="318"/>
                </a:lnTo>
                <a:cubicBezTo>
                  <a:pt x="148" y="318"/>
                  <a:pt x="138" y="317"/>
                  <a:pt x="128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4"/>
                  <a:pt x="32" y="256"/>
                  <a:pt x="27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任意形状 342"/>
          <p:cNvSpPr/>
          <p:nvPr/>
        </p:nvSpPr>
        <p:spPr>
          <a:xfrm>
            <a:off x="9067680" y="3848040"/>
            <a:ext cx="410040" cy="114480"/>
          </a:xfrm>
          <a:custGeom>
            <a:avLst/>
            <a:gdLst/>
            <a:ahLst/>
            <a:cxnLst/>
            <a:rect l="0" t="0" r="r" b="b"/>
            <a:pathLst>
              <a:path w="1139" h="318">
                <a:moveTo>
                  <a:pt x="0" y="158"/>
                </a:move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80" y="0"/>
                </a:lnTo>
                <a:cubicBezTo>
                  <a:pt x="990" y="0"/>
                  <a:pt x="1001" y="1"/>
                  <a:pt x="1011" y="3"/>
                </a:cubicBezTo>
                <a:cubicBezTo>
                  <a:pt x="1021" y="5"/>
                  <a:pt x="1031" y="8"/>
                  <a:pt x="1041" y="12"/>
                </a:cubicBezTo>
                <a:cubicBezTo>
                  <a:pt x="1050" y="16"/>
                  <a:pt x="1059" y="21"/>
                  <a:pt x="1068" y="26"/>
                </a:cubicBezTo>
                <a:cubicBezTo>
                  <a:pt x="1077" y="32"/>
                  <a:pt x="1085" y="39"/>
                  <a:pt x="1092" y="46"/>
                </a:cubicBezTo>
                <a:cubicBezTo>
                  <a:pt x="1099" y="54"/>
                  <a:pt x="1106" y="62"/>
                  <a:pt x="1112" y="70"/>
                </a:cubicBezTo>
                <a:cubicBezTo>
                  <a:pt x="1118" y="79"/>
                  <a:pt x="1122" y="88"/>
                  <a:pt x="1126" y="98"/>
                </a:cubicBezTo>
                <a:cubicBezTo>
                  <a:pt x="1130" y="107"/>
                  <a:pt x="1133" y="117"/>
                  <a:pt x="1135" y="127"/>
                </a:cubicBezTo>
                <a:cubicBezTo>
                  <a:pt x="1138" y="138"/>
                  <a:pt x="1139" y="148"/>
                  <a:pt x="1139" y="158"/>
                </a:cubicBezTo>
                <a:cubicBezTo>
                  <a:pt x="1139" y="169"/>
                  <a:pt x="1138" y="179"/>
                  <a:pt x="1135" y="189"/>
                </a:cubicBezTo>
                <a:cubicBezTo>
                  <a:pt x="1133" y="200"/>
                  <a:pt x="1130" y="210"/>
                  <a:pt x="1126" y="219"/>
                </a:cubicBezTo>
                <a:cubicBezTo>
                  <a:pt x="1122" y="229"/>
                  <a:pt x="1118" y="238"/>
                  <a:pt x="1112" y="247"/>
                </a:cubicBezTo>
                <a:cubicBezTo>
                  <a:pt x="1106" y="256"/>
                  <a:pt x="1099" y="264"/>
                  <a:pt x="1092" y="272"/>
                </a:cubicBezTo>
                <a:cubicBezTo>
                  <a:pt x="1085" y="279"/>
                  <a:pt x="1077" y="286"/>
                  <a:pt x="1068" y="291"/>
                </a:cubicBezTo>
                <a:cubicBezTo>
                  <a:pt x="1059" y="297"/>
                  <a:pt x="1050" y="302"/>
                  <a:pt x="1041" y="306"/>
                </a:cubicBezTo>
                <a:cubicBezTo>
                  <a:pt x="1031" y="310"/>
                  <a:pt x="1021" y="313"/>
                  <a:pt x="1011" y="315"/>
                </a:cubicBezTo>
                <a:cubicBezTo>
                  <a:pt x="1001" y="317"/>
                  <a:pt x="990" y="318"/>
                  <a:pt x="980" y="318"/>
                </a:cubicBezTo>
                <a:lnTo>
                  <a:pt x="159" y="318"/>
                </a:lnTo>
                <a:cubicBezTo>
                  <a:pt x="148" y="318"/>
                  <a:pt x="138" y="317"/>
                  <a:pt x="128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4"/>
                  <a:pt x="32" y="256"/>
                  <a:pt x="27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lose/>
              </a:path>
            </a:pathLst>
          </a:custGeom>
          <a:solidFill>
            <a:srgbClr val="10B98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文本框 343"/>
          <p:cNvSpPr txBox="1"/>
          <p:nvPr/>
        </p:nvSpPr>
        <p:spPr>
          <a:xfrm>
            <a:off x="11296800" y="3192480"/>
            <a:ext cx="1969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210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文本框 344"/>
          <p:cNvSpPr txBox="1"/>
          <p:nvPr/>
        </p:nvSpPr>
        <p:spPr>
          <a:xfrm>
            <a:off x="9064800" y="3649680"/>
            <a:ext cx="23976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>
                <a:solidFill>
                  <a:srgbClr val="10B981"/>
                </a:solidFill>
                <a:effectLst/>
                <a:uFillTx/>
                <a:latin typeface="NotoSansSC"/>
                <a:ea typeface="NotoSansSC"/>
              </a:rPr>
              <a:t>正常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文本框 349"/>
          <p:cNvSpPr txBox="1"/>
          <p:nvPr/>
        </p:nvSpPr>
        <p:spPr>
          <a:xfrm>
            <a:off x="11296800" y="3649680"/>
            <a:ext cx="19692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133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文本框 350"/>
          <p:cNvSpPr txBox="1"/>
          <p:nvPr/>
        </p:nvSpPr>
        <p:spPr>
          <a:xfrm>
            <a:off x="5928480" y="4611600"/>
            <a:ext cx="4798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00" b="0" u="none" strike="noStrike" dirty="0">
                <a:solidFill>
                  <a:srgbClr val="FFFFFF"/>
                </a:solidFill>
                <a:effectLst/>
                <a:uFillTx/>
                <a:latin typeface="NotoSansSC"/>
                <a:ea typeface="NotoSansSC"/>
              </a:rPr>
              <a:t>样本示例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任意形状 28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4" name="图片 283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图片 284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图片 285"/>
          <p:cNvPicPr/>
          <p:nvPr/>
        </p:nvPicPr>
        <p:blipFill>
          <a:blip r:embed="rId4"/>
          <a:stretch/>
        </p:blipFill>
        <p:spPr>
          <a:xfrm>
            <a:off x="-762120" y="228600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图片 286"/>
          <p:cNvPicPr/>
          <p:nvPr/>
        </p:nvPicPr>
        <p:blipFill>
          <a:blip r:embed="rId5"/>
          <a:stretch/>
        </p:blipFill>
        <p:spPr>
          <a:xfrm>
            <a:off x="762120" y="-76212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8" name="任意形状 287"/>
          <p:cNvSpPr/>
          <p:nvPr/>
        </p:nvSpPr>
        <p:spPr>
          <a:xfrm>
            <a:off x="456840" y="990360"/>
            <a:ext cx="915120" cy="57600"/>
          </a:xfrm>
          <a:custGeom>
            <a:avLst/>
            <a:gdLst/>
            <a:ahLst/>
            <a:cxnLst/>
            <a:rect l="0" t="0" r="r" b="b"/>
            <a:pathLst>
              <a:path w="2542" h="160">
                <a:moveTo>
                  <a:pt x="0" y="81"/>
                </a:moveTo>
                <a:cubicBezTo>
                  <a:pt x="0" y="70"/>
                  <a:pt x="4" y="60"/>
                  <a:pt x="8" y="50"/>
                </a:cubicBezTo>
                <a:cubicBezTo>
                  <a:pt x="12" y="40"/>
                  <a:pt x="17" y="32"/>
                  <a:pt x="25" y="24"/>
                </a:cubicBezTo>
                <a:cubicBezTo>
                  <a:pt x="32" y="17"/>
                  <a:pt x="41" y="10"/>
                  <a:pt x="50" y="6"/>
                </a:cubicBezTo>
                <a:cubicBezTo>
                  <a:pt x="60" y="2"/>
                  <a:pt x="70" y="0"/>
                  <a:pt x="81" y="0"/>
                </a:cubicBezTo>
                <a:lnTo>
                  <a:pt x="2462" y="0"/>
                </a:lnTo>
                <a:cubicBezTo>
                  <a:pt x="2473" y="0"/>
                  <a:pt x="2483" y="2"/>
                  <a:pt x="2492" y="6"/>
                </a:cubicBezTo>
                <a:cubicBezTo>
                  <a:pt x="2502" y="10"/>
                  <a:pt x="2511" y="17"/>
                  <a:pt x="2518" y="24"/>
                </a:cubicBezTo>
                <a:cubicBezTo>
                  <a:pt x="2526" y="32"/>
                  <a:pt x="2531" y="40"/>
                  <a:pt x="2535" y="50"/>
                </a:cubicBezTo>
                <a:cubicBezTo>
                  <a:pt x="2539" y="60"/>
                  <a:pt x="2542" y="70"/>
                  <a:pt x="2542" y="81"/>
                </a:cubicBezTo>
                <a:cubicBezTo>
                  <a:pt x="2542" y="91"/>
                  <a:pt x="2539" y="101"/>
                  <a:pt x="2535" y="111"/>
                </a:cubicBezTo>
                <a:cubicBezTo>
                  <a:pt x="2531" y="121"/>
                  <a:pt x="2526" y="129"/>
                  <a:pt x="2518" y="137"/>
                </a:cubicBezTo>
                <a:cubicBezTo>
                  <a:pt x="2511" y="144"/>
                  <a:pt x="2502" y="150"/>
                  <a:pt x="2492" y="154"/>
                </a:cubicBezTo>
                <a:cubicBezTo>
                  <a:pt x="2483" y="158"/>
                  <a:pt x="2473" y="160"/>
                  <a:pt x="2462" y="160"/>
                </a:cubicBezTo>
                <a:lnTo>
                  <a:pt x="81" y="160"/>
                </a:lnTo>
                <a:cubicBezTo>
                  <a:pt x="70" y="160"/>
                  <a:pt x="60" y="158"/>
                  <a:pt x="50" y="154"/>
                </a:cubicBezTo>
                <a:cubicBezTo>
                  <a:pt x="41" y="150"/>
                  <a:pt x="32" y="144"/>
                  <a:pt x="25" y="137"/>
                </a:cubicBezTo>
                <a:cubicBezTo>
                  <a:pt x="17" y="129"/>
                  <a:pt x="12" y="121"/>
                  <a:pt x="8" y="111"/>
                </a:cubicBezTo>
                <a:cubicBezTo>
                  <a:pt x="4" y="101"/>
                  <a:pt x="0" y="91"/>
                  <a:pt x="0" y="81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89" name="图片 288"/>
          <p:cNvPicPr/>
          <p:nvPr/>
        </p:nvPicPr>
        <p:blipFill>
          <a:blip r:embed="rId6"/>
          <a:stretch/>
        </p:blipFill>
        <p:spPr>
          <a:xfrm>
            <a:off x="2838600" y="542880"/>
            <a:ext cx="780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文本框 289"/>
          <p:cNvSpPr txBox="1"/>
          <p:nvPr/>
        </p:nvSpPr>
        <p:spPr>
          <a:xfrm>
            <a:off x="457200" y="397080"/>
            <a:ext cx="2400120" cy="66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6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可行性分析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1" name="图片 290"/>
          <p:cNvPicPr/>
          <p:nvPr/>
        </p:nvPicPr>
        <p:blipFill>
          <a:blip r:embed="rId7"/>
          <a:stretch/>
        </p:blipFill>
        <p:spPr>
          <a:xfrm>
            <a:off x="457200" y="1428840"/>
            <a:ext cx="5486040" cy="23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图片 291"/>
          <p:cNvPicPr/>
          <p:nvPr/>
        </p:nvPicPr>
        <p:blipFill>
          <a:blip r:embed="rId8"/>
          <a:stretch/>
        </p:blipFill>
        <p:spPr>
          <a:xfrm>
            <a:off x="771480" y="17431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3" name="文本框 292"/>
          <p:cNvSpPr txBox="1"/>
          <p:nvPr/>
        </p:nvSpPr>
        <p:spPr>
          <a:xfrm>
            <a:off x="2962440" y="60048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项目保障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1609560" y="174636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技术可行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1609560" y="2188440"/>
            <a:ext cx="41407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基于成熟的 </a:t>
            </a:r>
            <a:r>
              <a:rPr lang="en-US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PyTorch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深度学习框架，利用预训练模型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96" name="图片 295"/>
          <p:cNvPicPr/>
          <p:nvPr/>
        </p:nvPicPr>
        <p:blipFill>
          <a:blip r:embed="rId7"/>
          <a:stretch/>
        </p:blipFill>
        <p:spPr>
          <a:xfrm>
            <a:off x="6248520" y="1428840"/>
            <a:ext cx="5486040" cy="23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图片 296"/>
          <p:cNvPicPr/>
          <p:nvPr/>
        </p:nvPicPr>
        <p:blipFill>
          <a:blip r:embed="rId9"/>
          <a:stretch/>
        </p:blipFill>
        <p:spPr>
          <a:xfrm>
            <a:off x="6562800" y="174312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文本框 297"/>
          <p:cNvSpPr txBox="1"/>
          <p:nvPr/>
        </p:nvSpPr>
        <p:spPr>
          <a:xfrm>
            <a:off x="1609560" y="2464560"/>
            <a:ext cx="375588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进行迁移学习，技术路线成熟稳定，开发风险低。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7400880" y="174636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数据可行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7400880" y="2188440"/>
            <a:ext cx="40507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采用权威公开的 </a:t>
            </a:r>
            <a:r>
              <a:rPr lang="en-US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BUSI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乳腺癌超声数据集，数据量大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1" name="图片 300"/>
          <p:cNvPicPr/>
          <p:nvPr/>
        </p:nvPicPr>
        <p:blipFill>
          <a:blip r:embed="rId7"/>
          <a:stretch/>
        </p:blipFill>
        <p:spPr>
          <a:xfrm>
            <a:off x="457200" y="4067280"/>
            <a:ext cx="5486040" cy="233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图片 301"/>
          <p:cNvPicPr/>
          <p:nvPr/>
        </p:nvPicPr>
        <p:blipFill>
          <a:blip r:embed="rId10"/>
          <a:stretch/>
        </p:blipFill>
        <p:spPr>
          <a:xfrm>
            <a:off x="771480" y="438156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3" name="文本框 302"/>
          <p:cNvSpPr txBox="1"/>
          <p:nvPr/>
        </p:nvSpPr>
        <p:spPr>
          <a:xfrm>
            <a:off x="7400880" y="2464560"/>
            <a:ext cx="34203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且标注精准，完全满足模型训练与验证需求。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1609560" y="438480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硬件可行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1609560" y="4826880"/>
            <a:ext cx="4142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利用 </a:t>
            </a:r>
            <a:r>
              <a:rPr lang="en-US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Mac M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系列芯片强大的性能与 </a:t>
            </a:r>
            <a:r>
              <a:rPr lang="en-US" sz="13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MPS</a:t>
            </a:r>
            <a:r>
              <a:rPr lang="en-US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 </a:t>
            </a:r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加速技术，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任意形状 305"/>
          <p:cNvSpPr/>
          <p:nvPr/>
        </p:nvSpPr>
        <p:spPr>
          <a:xfrm>
            <a:off x="6248160" y="4066920"/>
            <a:ext cx="5486760" cy="2333880"/>
          </a:xfrm>
          <a:custGeom>
            <a:avLst/>
            <a:gdLst/>
            <a:ahLst/>
            <a:cxnLst/>
            <a:rect l="0" t="0" r="r" b="b"/>
            <a:pathLst>
              <a:path w="15241" h="6483">
                <a:moveTo>
                  <a:pt x="32" y="262"/>
                </a:moveTo>
                <a:cubicBezTo>
                  <a:pt x="54" y="210"/>
                  <a:pt x="84" y="164"/>
                  <a:pt x="124" y="124"/>
                </a:cubicBezTo>
                <a:cubicBezTo>
                  <a:pt x="164" y="85"/>
                  <a:pt x="210" y="54"/>
                  <a:pt x="261" y="32"/>
                </a:cubicBezTo>
                <a:cubicBezTo>
                  <a:pt x="313" y="11"/>
                  <a:pt x="367" y="0"/>
                  <a:pt x="423" y="0"/>
                </a:cubicBezTo>
                <a:lnTo>
                  <a:pt x="14818" y="0"/>
                </a:lnTo>
                <a:cubicBezTo>
                  <a:pt x="14874" y="0"/>
                  <a:pt x="14928" y="11"/>
                  <a:pt x="14980" y="32"/>
                </a:cubicBezTo>
                <a:cubicBezTo>
                  <a:pt x="15032" y="54"/>
                  <a:pt x="15077" y="85"/>
                  <a:pt x="15117" y="124"/>
                </a:cubicBezTo>
                <a:cubicBezTo>
                  <a:pt x="15157" y="164"/>
                  <a:pt x="15187" y="210"/>
                  <a:pt x="15209" y="262"/>
                </a:cubicBezTo>
                <a:cubicBezTo>
                  <a:pt x="15230" y="313"/>
                  <a:pt x="15241" y="367"/>
                  <a:pt x="15241" y="424"/>
                </a:cubicBezTo>
                <a:lnTo>
                  <a:pt x="15241" y="6060"/>
                </a:lnTo>
                <a:cubicBezTo>
                  <a:pt x="15241" y="6116"/>
                  <a:pt x="15230" y="6170"/>
                  <a:pt x="15209" y="6222"/>
                </a:cubicBezTo>
                <a:cubicBezTo>
                  <a:pt x="15187" y="6274"/>
                  <a:pt x="15157" y="6320"/>
                  <a:pt x="15117" y="6360"/>
                </a:cubicBezTo>
                <a:cubicBezTo>
                  <a:pt x="15077" y="6399"/>
                  <a:pt x="15032" y="6430"/>
                  <a:pt x="14980" y="6451"/>
                </a:cubicBezTo>
                <a:cubicBezTo>
                  <a:pt x="14928" y="6473"/>
                  <a:pt x="14874" y="6483"/>
                  <a:pt x="14818" y="6483"/>
                </a:cubicBezTo>
                <a:lnTo>
                  <a:pt x="423" y="6483"/>
                </a:lnTo>
                <a:cubicBezTo>
                  <a:pt x="367" y="6483"/>
                  <a:pt x="313" y="6473"/>
                  <a:pt x="261" y="6451"/>
                </a:cubicBezTo>
                <a:cubicBezTo>
                  <a:pt x="210" y="6430"/>
                  <a:pt x="164" y="6399"/>
                  <a:pt x="124" y="6360"/>
                </a:cubicBezTo>
                <a:cubicBezTo>
                  <a:pt x="84" y="6320"/>
                  <a:pt x="54" y="6274"/>
                  <a:pt x="32" y="6222"/>
                </a:cubicBezTo>
                <a:cubicBezTo>
                  <a:pt x="11" y="6170"/>
                  <a:pt x="0" y="6116"/>
                  <a:pt x="0" y="6060"/>
                </a:cubicBezTo>
                <a:lnTo>
                  <a:pt x="0" y="424"/>
                </a:lnTo>
                <a:cubicBezTo>
                  <a:pt x="0" y="367"/>
                  <a:pt x="11" y="313"/>
                  <a:pt x="32" y="262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任意形状 306"/>
          <p:cNvSpPr/>
          <p:nvPr/>
        </p:nvSpPr>
        <p:spPr>
          <a:xfrm>
            <a:off x="6248160" y="4066920"/>
            <a:ext cx="5486760" cy="2333880"/>
          </a:xfrm>
          <a:custGeom>
            <a:avLst/>
            <a:gdLst/>
            <a:ahLst/>
            <a:cxnLst/>
            <a:rect l="0" t="0" r="r" b="b"/>
            <a:pathLst>
              <a:path w="15241" h="6483">
                <a:moveTo>
                  <a:pt x="0" y="6060"/>
                </a:moveTo>
                <a:lnTo>
                  <a:pt x="0" y="424"/>
                </a:lnTo>
                <a:cubicBezTo>
                  <a:pt x="0" y="367"/>
                  <a:pt x="11" y="313"/>
                  <a:pt x="32" y="262"/>
                </a:cubicBezTo>
                <a:cubicBezTo>
                  <a:pt x="54" y="210"/>
                  <a:pt x="84" y="164"/>
                  <a:pt x="124" y="124"/>
                </a:cubicBezTo>
                <a:cubicBezTo>
                  <a:pt x="164" y="85"/>
                  <a:pt x="210" y="54"/>
                  <a:pt x="261" y="32"/>
                </a:cubicBezTo>
                <a:cubicBezTo>
                  <a:pt x="313" y="11"/>
                  <a:pt x="367" y="0"/>
                  <a:pt x="423" y="0"/>
                </a:cubicBezTo>
                <a:lnTo>
                  <a:pt x="14818" y="0"/>
                </a:lnTo>
                <a:cubicBezTo>
                  <a:pt x="14874" y="0"/>
                  <a:pt x="14928" y="11"/>
                  <a:pt x="14980" y="32"/>
                </a:cubicBezTo>
                <a:cubicBezTo>
                  <a:pt x="15032" y="54"/>
                  <a:pt x="15077" y="85"/>
                  <a:pt x="15117" y="124"/>
                </a:cubicBezTo>
                <a:cubicBezTo>
                  <a:pt x="15157" y="164"/>
                  <a:pt x="15187" y="210"/>
                  <a:pt x="15209" y="262"/>
                </a:cubicBezTo>
                <a:cubicBezTo>
                  <a:pt x="15230" y="313"/>
                  <a:pt x="15241" y="367"/>
                  <a:pt x="15241" y="424"/>
                </a:cubicBezTo>
                <a:lnTo>
                  <a:pt x="15241" y="6060"/>
                </a:lnTo>
                <a:cubicBezTo>
                  <a:pt x="15241" y="6116"/>
                  <a:pt x="15230" y="6170"/>
                  <a:pt x="15209" y="6222"/>
                </a:cubicBezTo>
                <a:cubicBezTo>
                  <a:pt x="15187" y="6274"/>
                  <a:pt x="15157" y="6320"/>
                  <a:pt x="15117" y="6360"/>
                </a:cubicBezTo>
                <a:cubicBezTo>
                  <a:pt x="15077" y="6399"/>
                  <a:pt x="15032" y="6430"/>
                  <a:pt x="14980" y="6451"/>
                </a:cubicBezTo>
                <a:cubicBezTo>
                  <a:pt x="14928" y="6473"/>
                  <a:pt x="14874" y="6483"/>
                  <a:pt x="14818" y="6483"/>
                </a:cubicBezTo>
                <a:lnTo>
                  <a:pt x="423" y="6483"/>
                </a:lnTo>
                <a:cubicBezTo>
                  <a:pt x="367" y="6483"/>
                  <a:pt x="313" y="6473"/>
                  <a:pt x="261" y="6451"/>
                </a:cubicBezTo>
                <a:cubicBezTo>
                  <a:pt x="210" y="6430"/>
                  <a:pt x="164" y="6399"/>
                  <a:pt x="124" y="6360"/>
                </a:cubicBezTo>
                <a:cubicBezTo>
                  <a:pt x="84" y="6320"/>
                  <a:pt x="54" y="6274"/>
                  <a:pt x="32" y="6222"/>
                </a:cubicBezTo>
                <a:cubicBezTo>
                  <a:pt x="11" y="6170"/>
                  <a:pt x="0" y="6116"/>
                  <a:pt x="0" y="6060"/>
                </a:cubicBezTo>
                <a:moveTo>
                  <a:pt x="27" y="424"/>
                </a:moveTo>
                <a:lnTo>
                  <a:pt x="27" y="6060"/>
                </a:lnTo>
                <a:cubicBezTo>
                  <a:pt x="27" y="6086"/>
                  <a:pt x="29" y="6112"/>
                  <a:pt x="34" y="6138"/>
                </a:cubicBezTo>
                <a:cubicBezTo>
                  <a:pt x="39" y="6163"/>
                  <a:pt x="47" y="6188"/>
                  <a:pt x="57" y="6212"/>
                </a:cubicBezTo>
                <a:cubicBezTo>
                  <a:pt x="67" y="6236"/>
                  <a:pt x="79" y="6259"/>
                  <a:pt x="94" y="6281"/>
                </a:cubicBezTo>
                <a:cubicBezTo>
                  <a:pt x="108" y="6302"/>
                  <a:pt x="124" y="6322"/>
                  <a:pt x="143" y="6341"/>
                </a:cubicBezTo>
                <a:cubicBezTo>
                  <a:pt x="161" y="6359"/>
                  <a:pt x="181" y="6376"/>
                  <a:pt x="203" y="6390"/>
                </a:cubicBezTo>
                <a:cubicBezTo>
                  <a:pt x="225" y="6405"/>
                  <a:pt x="248" y="6417"/>
                  <a:pt x="272" y="6427"/>
                </a:cubicBezTo>
                <a:cubicBezTo>
                  <a:pt x="296" y="6437"/>
                  <a:pt x="321" y="6444"/>
                  <a:pt x="346" y="6449"/>
                </a:cubicBezTo>
                <a:cubicBezTo>
                  <a:pt x="372" y="6454"/>
                  <a:pt x="397" y="6457"/>
                  <a:pt x="423" y="6457"/>
                </a:cubicBezTo>
                <a:lnTo>
                  <a:pt x="14818" y="6457"/>
                </a:lnTo>
                <a:cubicBezTo>
                  <a:pt x="14844" y="6457"/>
                  <a:pt x="14870" y="6454"/>
                  <a:pt x="14895" y="6449"/>
                </a:cubicBezTo>
                <a:cubicBezTo>
                  <a:pt x="14921" y="6444"/>
                  <a:pt x="14946" y="6437"/>
                  <a:pt x="14970" y="6427"/>
                </a:cubicBezTo>
                <a:cubicBezTo>
                  <a:pt x="14994" y="6417"/>
                  <a:pt x="15017" y="6405"/>
                  <a:pt x="15038" y="6390"/>
                </a:cubicBezTo>
                <a:cubicBezTo>
                  <a:pt x="15060" y="6376"/>
                  <a:pt x="15080" y="6359"/>
                  <a:pt x="15098" y="6341"/>
                </a:cubicBezTo>
                <a:cubicBezTo>
                  <a:pt x="15117" y="6322"/>
                  <a:pt x="15133" y="6302"/>
                  <a:pt x="15148" y="6281"/>
                </a:cubicBezTo>
                <a:cubicBezTo>
                  <a:pt x="15162" y="6259"/>
                  <a:pt x="15175" y="6236"/>
                  <a:pt x="15184" y="6212"/>
                </a:cubicBezTo>
                <a:cubicBezTo>
                  <a:pt x="15194" y="6188"/>
                  <a:pt x="15202" y="6163"/>
                  <a:pt x="15207" y="6138"/>
                </a:cubicBezTo>
                <a:cubicBezTo>
                  <a:pt x="15212" y="6112"/>
                  <a:pt x="15215" y="6086"/>
                  <a:pt x="15215" y="6060"/>
                </a:cubicBezTo>
                <a:lnTo>
                  <a:pt x="15215" y="424"/>
                </a:lnTo>
                <a:cubicBezTo>
                  <a:pt x="15215" y="397"/>
                  <a:pt x="15212" y="372"/>
                  <a:pt x="15207" y="346"/>
                </a:cubicBezTo>
                <a:cubicBezTo>
                  <a:pt x="15202" y="321"/>
                  <a:pt x="15194" y="296"/>
                  <a:pt x="15184" y="272"/>
                </a:cubicBezTo>
                <a:cubicBezTo>
                  <a:pt x="15175" y="248"/>
                  <a:pt x="15162" y="225"/>
                  <a:pt x="15148" y="203"/>
                </a:cubicBezTo>
                <a:cubicBezTo>
                  <a:pt x="15133" y="181"/>
                  <a:pt x="15117" y="161"/>
                  <a:pt x="15098" y="143"/>
                </a:cubicBezTo>
                <a:cubicBezTo>
                  <a:pt x="15080" y="124"/>
                  <a:pt x="15060" y="108"/>
                  <a:pt x="15038" y="94"/>
                </a:cubicBezTo>
                <a:cubicBezTo>
                  <a:pt x="15017" y="79"/>
                  <a:pt x="14994" y="67"/>
                  <a:pt x="14970" y="57"/>
                </a:cubicBezTo>
                <a:cubicBezTo>
                  <a:pt x="14946" y="47"/>
                  <a:pt x="14921" y="39"/>
                  <a:pt x="14895" y="34"/>
                </a:cubicBezTo>
                <a:cubicBezTo>
                  <a:pt x="14870" y="29"/>
                  <a:pt x="14844" y="27"/>
                  <a:pt x="14818" y="27"/>
                </a:cubicBezTo>
                <a:lnTo>
                  <a:pt x="423" y="27"/>
                </a:lnTo>
                <a:cubicBezTo>
                  <a:pt x="397" y="27"/>
                  <a:pt x="372" y="29"/>
                  <a:pt x="346" y="34"/>
                </a:cubicBezTo>
                <a:cubicBezTo>
                  <a:pt x="321" y="39"/>
                  <a:pt x="296" y="47"/>
                  <a:pt x="272" y="57"/>
                </a:cubicBezTo>
                <a:cubicBezTo>
                  <a:pt x="248" y="67"/>
                  <a:pt x="225" y="79"/>
                  <a:pt x="203" y="94"/>
                </a:cubicBezTo>
                <a:cubicBezTo>
                  <a:pt x="181" y="108"/>
                  <a:pt x="161" y="124"/>
                  <a:pt x="143" y="143"/>
                </a:cubicBezTo>
                <a:cubicBezTo>
                  <a:pt x="124" y="161"/>
                  <a:pt x="108" y="181"/>
                  <a:pt x="94" y="203"/>
                </a:cubicBezTo>
                <a:cubicBezTo>
                  <a:pt x="79" y="225"/>
                  <a:pt x="67" y="248"/>
                  <a:pt x="57" y="272"/>
                </a:cubicBezTo>
                <a:cubicBezTo>
                  <a:pt x="47" y="296"/>
                  <a:pt x="39" y="321"/>
                  <a:pt x="34" y="346"/>
                </a:cubicBezTo>
                <a:cubicBezTo>
                  <a:pt x="29" y="372"/>
                  <a:pt x="27" y="397"/>
                  <a:pt x="27" y="424"/>
                </a:cubicBezTo>
                <a:close/>
              </a:path>
            </a:pathLst>
          </a:custGeom>
          <a:solidFill>
            <a:srgbClr val="E6F0FD">
              <a:alpha val="8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8" name="图片 307"/>
          <p:cNvPicPr/>
          <p:nvPr/>
        </p:nvPicPr>
        <p:blipFill>
          <a:blip r:embed="rId11"/>
          <a:stretch/>
        </p:blipFill>
        <p:spPr>
          <a:xfrm>
            <a:off x="6562800" y="4381560"/>
            <a:ext cx="609120" cy="609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文本框 308"/>
          <p:cNvSpPr txBox="1"/>
          <p:nvPr/>
        </p:nvSpPr>
        <p:spPr>
          <a:xfrm>
            <a:off x="1609560" y="5103000"/>
            <a:ext cx="307296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显著提升模型训练效率，保障实验进度。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文本框 309"/>
          <p:cNvSpPr txBox="1"/>
          <p:nvPr/>
        </p:nvSpPr>
        <p:spPr>
          <a:xfrm>
            <a:off x="7400880" y="4384800"/>
            <a:ext cx="96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时间可行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文本框 310"/>
          <p:cNvSpPr txBox="1"/>
          <p:nvPr/>
        </p:nvSpPr>
        <p:spPr>
          <a:xfrm>
            <a:off x="7400880" y="4826880"/>
            <a:ext cx="39607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时间规划科学合理，严格遵循详细的项目进度安排，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文本框 311"/>
          <p:cNvSpPr txBox="1"/>
          <p:nvPr/>
        </p:nvSpPr>
        <p:spPr>
          <a:xfrm>
            <a:off x="7400880" y="5103000"/>
            <a:ext cx="396072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555555"/>
                </a:solidFill>
                <a:effectLst/>
                <a:uFillTx/>
                <a:latin typeface="NotoSansSC"/>
                <a:ea typeface="NotoSansSC"/>
              </a:rPr>
              <a:t>并预留了充足的测试与优化缓冲期，确保按时交付。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任意形状 24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3" name="图片 242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图片 243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图片 244"/>
          <p:cNvPicPr/>
          <p:nvPr/>
        </p:nvPicPr>
        <p:blipFill>
          <a:blip r:embed="rId4"/>
          <a:stretch/>
        </p:blipFill>
        <p:spPr>
          <a:xfrm>
            <a:off x="-3600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任意形状 245"/>
          <p:cNvSpPr/>
          <p:nvPr/>
        </p:nvSpPr>
        <p:spPr>
          <a:xfrm>
            <a:off x="456840" y="380880"/>
            <a:ext cx="76680" cy="381240"/>
          </a:xfrm>
          <a:custGeom>
            <a:avLst/>
            <a:gdLst/>
            <a:ahLst/>
            <a:cxnLst/>
            <a:rect l="0" t="0" r="r" b="b"/>
            <a:pathLst>
              <a:path w="213" h="1059">
                <a:moveTo>
                  <a:pt x="0" y="953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lnTo>
                  <a:pt x="213" y="953"/>
                </a:lnTo>
                <a:cubicBezTo>
                  <a:pt x="213" y="967"/>
                  <a:pt x="210" y="981"/>
                  <a:pt x="205" y="994"/>
                </a:cubicBezTo>
                <a:cubicBezTo>
                  <a:pt x="200" y="1007"/>
                  <a:pt x="192" y="1018"/>
                  <a:pt x="182" y="1028"/>
                </a:cubicBezTo>
                <a:cubicBezTo>
                  <a:pt x="172" y="1038"/>
                  <a:pt x="161" y="1046"/>
                  <a:pt x="148" y="1051"/>
                </a:cubicBezTo>
                <a:cubicBezTo>
                  <a:pt x="135" y="1056"/>
                  <a:pt x="121" y="1059"/>
                  <a:pt x="107" y="1059"/>
                </a:cubicBezTo>
                <a:cubicBezTo>
                  <a:pt x="92" y="1059"/>
                  <a:pt x="79" y="1056"/>
                  <a:pt x="66" y="1051"/>
                </a:cubicBezTo>
                <a:cubicBezTo>
                  <a:pt x="53" y="1046"/>
                  <a:pt x="41" y="1038"/>
                  <a:pt x="31" y="1028"/>
                </a:cubicBezTo>
                <a:cubicBezTo>
                  <a:pt x="22" y="1018"/>
                  <a:pt x="14" y="1007"/>
                  <a:pt x="9" y="994"/>
                </a:cubicBezTo>
                <a:cubicBezTo>
                  <a:pt x="3" y="981"/>
                  <a:pt x="0" y="967"/>
                  <a:pt x="0" y="953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685800" y="319320"/>
            <a:ext cx="1440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预期目标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8" name="图片 247"/>
          <p:cNvPicPr/>
          <p:nvPr/>
        </p:nvPicPr>
        <p:blipFill>
          <a:blip r:embed="rId5"/>
          <a:stretch/>
        </p:blipFill>
        <p:spPr>
          <a:xfrm>
            <a:off x="457200" y="1257120"/>
            <a:ext cx="3238200" cy="52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任意形状 248"/>
          <p:cNvSpPr/>
          <p:nvPr/>
        </p:nvSpPr>
        <p:spPr>
          <a:xfrm>
            <a:off x="695160" y="236196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9"/>
                </a:moveTo>
                <a:cubicBezTo>
                  <a:pt x="636" y="340"/>
                  <a:pt x="634" y="360"/>
                  <a:pt x="630" y="381"/>
                </a:cubicBezTo>
                <a:cubicBezTo>
                  <a:pt x="626" y="401"/>
                  <a:pt x="620" y="421"/>
                  <a:pt x="612" y="440"/>
                </a:cubicBezTo>
                <a:cubicBezTo>
                  <a:pt x="604" y="459"/>
                  <a:pt x="594" y="478"/>
                  <a:pt x="582" y="495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8"/>
                  <a:pt x="512" y="571"/>
                  <a:pt x="495" y="583"/>
                </a:cubicBezTo>
                <a:cubicBezTo>
                  <a:pt x="478" y="594"/>
                  <a:pt x="459" y="604"/>
                  <a:pt x="440" y="612"/>
                </a:cubicBezTo>
                <a:cubicBezTo>
                  <a:pt x="421" y="620"/>
                  <a:pt x="401" y="626"/>
                  <a:pt x="380" y="630"/>
                </a:cubicBezTo>
                <a:cubicBezTo>
                  <a:pt x="360" y="634"/>
                  <a:pt x="339" y="636"/>
                  <a:pt x="318" y="636"/>
                </a:cubicBezTo>
                <a:cubicBezTo>
                  <a:pt x="298" y="636"/>
                  <a:pt x="276" y="634"/>
                  <a:pt x="256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8"/>
                  <a:pt x="32" y="459"/>
                  <a:pt x="24" y="440"/>
                </a:cubicBezTo>
                <a:cubicBezTo>
                  <a:pt x="16" y="421"/>
                  <a:pt x="10" y="401"/>
                  <a:pt x="6" y="381"/>
                </a:cubicBezTo>
                <a:cubicBezTo>
                  <a:pt x="2" y="360"/>
                  <a:pt x="0" y="340"/>
                  <a:pt x="0" y="319"/>
                </a:cubicBezTo>
                <a:cubicBezTo>
                  <a:pt x="0" y="298"/>
                  <a:pt x="2" y="277"/>
                  <a:pt x="6" y="257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8"/>
                  <a:pt x="42" y="160"/>
                  <a:pt x="53" y="142"/>
                </a:cubicBezTo>
                <a:cubicBezTo>
                  <a:pt x="65" y="125"/>
                  <a:pt x="78" y="109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8" y="0"/>
                  <a:pt x="318" y="0"/>
                </a:cubicBezTo>
                <a:cubicBezTo>
                  <a:pt x="339" y="0"/>
                  <a:pt x="360" y="2"/>
                  <a:pt x="380" y="6"/>
                </a:cubicBezTo>
                <a:cubicBezTo>
                  <a:pt x="401" y="10"/>
                  <a:pt x="421" y="16"/>
                  <a:pt x="440" y="24"/>
                </a:cubicBezTo>
                <a:cubicBezTo>
                  <a:pt x="459" y="32"/>
                  <a:pt x="478" y="42"/>
                  <a:pt x="495" y="54"/>
                </a:cubicBezTo>
                <a:cubicBezTo>
                  <a:pt x="512" y="65"/>
                  <a:pt x="528" y="78"/>
                  <a:pt x="543" y="93"/>
                </a:cubicBezTo>
                <a:cubicBezTo>
                  <a:pt x="558" y="109"/>
                  <a:pt x="571" y="125"/>
                  <a:pt x="582" y="142"/>
                </a:cubicBezTo>
                <a:cubicBezTo>
                  <a:pt x="594" y="160"/>
                  <a:pt x="604" y="178"/>
                  <a:pt x="612" y="197"/>
                </a:cubicBezTo>
                <a:cubicBezTo>
                  <a:pt x="620" y="216"/>
                  <a:pt x="626" y="236"/>
                  <a:pt x="630" y="257"/>
                </a:cubicBezTo>
                <a:cubicBezTo>
                  <a:pt x="634" y="277"/>
                  <a:pt x="636" y="298"/>
                  <a:pt x="636" y="319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685800" y="845280"/>
            <a:ext cx="2430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Roboto"/>
                <a:ea typeface="Roboto"/>
              </a:rPr>
              <a:t>Expected Goals &amp; Objectives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771480" y="238140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文本框 251"/>
          <p:cNvSpPr txBox="1"/>
          <p:nvPr/>
        </p:nvSpPr>
        <p:spPr>
          <a:xfrm>
            <a:off x="1038240" y="2342160"/>
            <a:ext cx="1440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乳腺超声图像三分类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文本框 252"/>
          <p:cNvSpPr txBox="1"/>
          <p:nvPr/>
        </p:nvSpPr>
        <p:spPr>
          <a:xfrm>
            <a:off x="1038240" y="2610000"/>
            <a:ext cx="23871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实现正常、良性、恶性三种类别的自动识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任意形状 253"/>
          <p:cNvSpPr/>
          <p:nvPr/>
        </p:nvSpPr>
        <p:spPr>
          <a:xfrm>
            <a:off x="695160" y="320004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9"/>
                </a:moveTo>
                <a:cubicBezTo>
                  <a:pt x="636" y="340"/>
                  <a:pt x="634" y="360"/>
                  <a:pt x="630" y="381"/>
                </a:cubicBezTo>
                <a:cubicBezTo>
                  <a:pt x="626" y="401"/>
                  <a:pt x="620" y="421"/>
                  <a:pt x="612" y="441"/>
                </a:cubicBezTo>
                <a:cubicBezTo>
                  <a:pt x="604" y="460"/>
                  <a:pt x="594" y="478"/>
                  <a:pt x="582" y="495"/>
                </a:cubicBezTo>
                <a:cubicBezTo>
                  <a:pt x="571" y="513"/>
                  <a:pt x="558" y="529"/>
                  <a:pt x="543" y="544"/>
                </a:cubicBezTo>
                <a:cubicBezTo>
                  <a:pt x="528" y="558"/>
                  <a:pt x="512" y="571"/>
                  <a:pt x="495" y="583"/>
                </a:cubicBezTo>
                <a:cubicBezTo>
                  <a:pt x="478" y="595"/>
                  <a:pt x="459" y="604"/>
                  <a:pt x="440" y="612"/>
                </a:cubicBezTo>
                <a:cubicBezTo>
                  <a:pt x="421" y="620"/>
                  <a:pt x="401" y="626"/>
                  <a:pt x="380" y="630"/>
                </a:cubicBezTo>
                <a:cubicBezTo>
                  <a:pt x="360" y="634"/>
                  <a:pt x="339" y="636"/>
                  <a:pt x="318" y="636"/>
                </a:cubicBezTo>
                <a:cubicBezTo>
                  <a:pt x="298" y="636"/>
                  <a:pt x="276" y="634"/>
                  <a:pt x="256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5"/>
                  <a:pt x="141" y="583"/>
                </a:cubicBezTo>
                <a:cubicBezTo>
                  <a:pt x="124" y="571"/>
                  <a:pt x="108" y="558"/>
                  <a:pt x="93" y="544"/>
                </a:cubicBezTo>
                <a:cubicBezTo>
                  <a:pt x="78" y="529"/>
                  <a:pt x="65" y="513"/>
                  <a:pt x="53" y="495"/>
                </a:cubicBezTo>
                <a:cubicBezTo>
                  <a:pt x="42" y="478"/>
                  <a:pt x="32" y="460"/>
                  <a:pt x="24" y="441"/>
                </a:cubicBezTo>
                <a:cubicBezTo>
                  <a:pt x="16" y="421"/>
                  <a:pt x="10" y="401"/>
                  <a:pt x="6" y="381"/>
                </a:cubicBezTo>
                <a:cubicBezTo>
                  <a:pt x="2" y="360"/>
                  <a:pt x="0" y="340"/>
                  <a:pt x="0" y="319"/>
                </a:cubicBez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9"/>
                  <a:pt x="53" y="142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6"/>
                  <a:pt x="141" y="54"/>
                </a:cubicBezTo>
                <a:cubicBezTo>
                  <a:pt x="158" y="42"/>
                  <a:pt x="177" y="33"/>
                  <a:pt x="196" y="25"/>
                </a:cubicBezTo>
                <a:cubicBezTo>
                  <a:pt x="215" y="17"/>
                  <a:pt x="235" y="11"/>
                  <a:pt x="256" y="7"/>
                </a:cubicBezTo>
                <a:cubicBezTo>
                  <a:pt x="276" y="3"/>
                  <a:pt x="298" y="0"/>
                  <a:pt x="318" y="0"/>
                </a:cubicBezTo>
                <a:cubicBezTo>
                  <a:pt x="339" y="0"/>
                  <a:pt x="360" y="3"/>
                  <a:pt x="380" y="7"/>
                </a:cubicBezTo>
                <a:cubicBezTo>
                  <a:pt x="401" y="11"/>
                  <a:pt x="421" y="17"/>
                  <a:pt x="440" y="25"/>
                </a:cubicBezTo>
                <a:cubicBezTo>
                  <a:pt x="459" y="33"/>
                  <a:pt x="478" y="42"/>
                  <a:pt x="495" y="54"/>
                </a:cubicBezTo>
                <a:cubicBezTo>
                  <a:pt x="512" y="66"/>
                  <a:pt x="528" y="79"/>
                  <a:pt x="543" y="93"/>
                </a:cubicBezTo>
                <a:cubicBezTo>
                  <a:pt x="558" y="108"/>
                  <a:pt x="571" y="124"/>
                  <a:pt x="582" y="142"/>
                </a:cubicBezTo>
                <a:cubicBezTo>
                  <a:pt x="594" y="159"/>
                  <a:pt x="604" y="177"/>
                  <a:pt x="612" y="196"/>
                </a:cubicBezTo>
                <a:cubicBezTo>
                  <a:pt x="620" y="216"/>
                  <a:pt x="626" y="236"/>
                  <a:pt x="630" y="256"/>
                </a:cubicBezTo>
                <a:cubicBezTo>
                  <a:pt x="634" y="277"/>
                  <a:pt x="636" y="297"/>
                  <a:pt x="636" y="319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文本框 254"/>
          <p:cNvSpPr txBox="1"/>
          <p:nvPr/>
        </p:nvSpPr>
        <p:spPr>
          <a:xfrm>
            <a:off x="1038240" y="2800800"/>
            <a:ext cx="26604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别。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771480" y="321984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文本框 256"/>
          <p:cNvSpPr txBox="1"/>
          <p:nvPr/>
        </p:nvSpPr>
        <p:spPr>
          <a:xfrm>
            <a:off x="1038240" y="3180240"/>
            <a:ext cx="128016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肿瘤区域自动分割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任意形状 257"/>
          <p:cNvSpPr/>
          <p:nvPr/>
        </p:nvSpPr>
        <p:spPr>
          <a:xfrm>
            <a:off x="695160" y="384804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7"/>
                </a:moveTo>
                <a:cubicBezTo>
                  <a:pt x="636" y="338"/>
                  <a:pt x="634" y="359"/>
                  <a:pt x="630" y="379"/>
                </a:cubicBezTo>
                <a:cubicBezTo>
                  <a:pt x="626" y="400"/>
                  <a:pt x="620" y="420"/>
                  <a:pt x="612" y="440"/>
                </a:cubicBezTo>
                <a:cubicBezTo>
                  <a:pt x="604" y="459"/>
                  <a:pt x="594" y="477"/>
                  <a:pt x="582" y="495"/>
                </a:cubicBezTo>
                <a:cubicBezTo>
                  <a:pt x="571" y="512"/>
                  <a:pt x="558" y="528"/>
                  <a:pt x="543" y="543"/>
                </a:cubicBezTo>
                <a:cubicBezTo>
                  <a:pt x="528" y="557"/>
                  <a:pt x="512" y="571"/>
                  <a:pt x="495" y="582"/>
                </a:cubicBezTo>
                <a:cubicBezTo>
                  <a:pt x="478" y="594"/>
                  <a:pt x="459" y="604"/>
                  <a:pt x="440" y="611"/>
                </a:cubicBezTo>
                <a:cubicBezTo>
                  <a:pt x="421" y="619"/>
                  <a:pt x="401" y="625"/>
                  <a:pt x="380" y="630"/>
                </a:cubicBezTo>
                <a:cubicBezTo>
                  <a:pt x="360" y="634"/>
                  <a:pt x="339" y="636"/>
                  <a:pt x="318" y="636"/>
                </a:cubicBezTo>
                <a:cubicBezTo>
                  <a:pt x="298" y="636"/>
                  <a:pt x="276" y="634"/>
                  <a:pt x="256" y="630"/>
                </a:cubicBezTo>
                <a:cubicBezTo>
                  <a:pt x="235" y="625"/>
                  <a:pt x="215" y="619"/>
                  <a:pt x="196" y="611"/>
                </a:cubicBezTo>
                <a:cubicBezTo>
                  <a:pt x="177" y="604"/>
                  <a:pt x="158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ubicBezTo>
                  <a:pt x="0" y="296"/>
                  <a:pt x="2" y="276"/>
                  <a:pt x="6" y="255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6"/>
                  <a:pt x="42" y="158"/>
                  <a:pt x="53" y="141"/>
                </a:cubicBezTo>
                <a:cubicBezTo>
                  <a:pt x="65" y="123"/>
                  <a:pt x="78" y="107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8" y="0"/>
                  <a:pt x="318" y="0"/>
                </a:cubicBezTo>
                <a:cubicBezTo>
                  <a:pt x="339" y="0"/>
                  <a:pt x="360" y="2"/>
                  <a:pt x="380" y="6"/>
                </a:cubicBezTo>
                <a:cubicBezTo>
                  <a:pt x="401" y="10"/>
                  <a:pt x="421" y="16"/>
                  <a:pt x="440" y="24"/>
                </a:cubicBezTo>
                <a:cubicBezTo>
                  <a:pt x="459" y="32"/>
                  <a:pt x="478" y="42"/>
                  <a:pt x="495" y="53"/>
                </a:cubicBezTo>
                <a:cubicBezTo>
                  <a:pt x="512" y="65"/>
                  <a:pt x="528" y="78"/>
                  <a:pt x="543" y="93"/>
                </a:cubicBezTo>
                <a:cubicBezTo>
                  <a:pt x="558" y="107"/>
                  <a:pt x="571" y="123"/>
                  <a:pt x="582" y="141"/>
                </a:cubicBezTo>
                <a:cubicBezTo>
                  <a:pt x="594" y="158"/>
                  <a:pt x="604" y="176"/>
                  <a:pt x="612" y="196"/>
                </a:cubicBezTo>
                <a:cubicBezTo>
                  <a:pt x="620" y="215"/>
                  <a:pt x="626" y="235"/>
                  <a:pt x="630" y="255"/>
                </a:cubicBezTo>
                <a:cubicBezTo>
                  <a:pt x="634" y="276"/>
                  <a:pt x="636" y="296"/>
                  <a:pt x="636" y="317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文本框 258"/>
          <p:cNvSpPr txBox="1"/>
          <p:nvPr/>
        </p:nvSpPr>
        <p:spPr>
          <a:xfrm>
            <a:off x="1038240" y="3448440"/>
            <a:ext cx="21222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精确勾勒病灶边界，辅助医生定位。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771480" y="386748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1038240" y="3827880"/>
            <a:ext cx="15382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Roboto"/>
                <a:ea typeface="Roboto"/>
              </a:rPr>
              <a:t>Grad-CAM</a:t>
            </a:r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可视化解释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1038240" y="4096080"/>
            <a:ext cx="23871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生成热力图，展示模型关注区域，增强可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任意形状 262"/>
          <p:cNvSpPr/>
          <p:nvPr/>
        </p:nvSpPr>
        <p:spPr>
          <a:xfrm>
            <a:off x="695160" y="4686120"/>
            <a:ext cx="228960" cy="228960"/>
          </a:xfrm>
          <a:custGeom>
            <a:avLst/>
            <a:gdLst/>
            <a:ahLst/>
            <a:cxnLst/>
            <a:rect l="0" t="0" r="r" b="b"/>
            <a:pathLst>
              <a:path w="636" h="636">
                <a:moveTo>
                  <a:pt x="636" y="317"/>
                </a:moveTo>
                <a:cubicBezTo>
                  <a:pt x="636" y="338"/>
                  <a:pt x="634" y="359"/>
                  <a:pt x="630" y="379"/>
                </a:cubicBezTo>
                <a:cubicBezTo>
                  <a:pt x="626" y="400"/>
                  <a:pt x="620" y="420"/>
                  <a:pt x="612" y="439"/>
                </a:cubicBezTo>
                <a:cubicBezTo>
                  <a:pt x="604" y="458"/>
                  <a:pt x="594" y="477"/>
                  <a:pt x="582" y="494"/>
                </a:cubicBezTo>
                <a:cubicBezTo>
                  <a:pt x="571" y="511"/>
                  <a:pt x="558" y="527"/>
                  <a:pt x="543" y="542"/>
                </a:cubicBezTo>
                <a:cubicBezTo>
                  <a:pt x="528" y="557"/>
                  <a:pt x="512" y="570"/>
                  <a:pt x="495" y="581"/>
                </a:cubicBezTo>
                <a:cubicBezTo>
                  <a:pt x="478" y="593"/>
                  <a:pt x="459" y="603"/>
                  <a:pt x="440" y="611"/>
                </a:cubicBezTo>
                <a:cubicBezTo>
                  <a:pt x="421" y="620"/>
                  <a:pt x="401" y="626"/>
                  <a:pt x="380" y="630"/>
                </a:cubicBezTo>
                <a:cubicBezTo>
                  <a:pt x="360" y="634"/>
                  <a:pt x="339" y="636"/>
                  <a:pt x="318" y="636"/>
                </a:cubicBezTo>
                <a:cubicBezTo>
                  <a:pt x="298" y="636"/>
                  <a:pt x="276" y="634"/>
                  <a:pt x="256" y="630"/>
                </a:cubicBezTo>
                <a:cubicBezTo>
                  <a:pt x="235" y="626"/>
                  <a:pt x="215" y="620"/>
                  <a:pt x="196" y="611"/>
                </a:cubicBezTo>
                <a:cubicBezTo>
                  <a:pt x="177" y="603"/>
                  <a:pt x="158" y="593"/>
                  <a:pt x="141" y="581"/>
                </a:cubicBezTo>
                <a:cubicBezTo>
                  <a:pt x="124" y="570"/>
                  <a:pt x="108" y="557"/>
                  <a:pt x="93" y="542"/>
                </a:cubicBezTo>
                <a:cubicBezTo>
                  <a:pt x="78" y="527"/>
                  <a:pt x="65" y="511"/>
                  <a:pt x="53" y="494"/>
                </a:cubicBezTo>
                <a:cubicBezTo>
                  <a:pt x="42" y="477"/>
                  <a:pt x="32" y="458"/>
                  <a:pt x="24" y="439"/>
                </a:cubicBezTo>
                <a:cubicBezTo>
                  <a:pt x="16" y="420"/>
                  <a:pt x="10" y="400"/>
                  <a:pt x="6" y="379"/>
                </a:cubicBezTo>
                <a:cubicBezTo>
                  <a:pt x="2" y="359"/>
                  <a:pt x="0" y="338"/>
                  <a:pt x="0" y="317"/>
                </a:cubicBez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5"/>
                  <a:pt x="24" y="196"/>
                </a:cubicBezTo>
                <a:cubicBezTo>
                  <a:pt x="32" y="177"/>
                  <a:pt x="42" y="158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8" y="0"/>
                  <a:pt x="318" y="0"/>
                </a:cubicBezTo>
                <a:cubicBezTo>
                  <a:pt x="339" y="0"/>
                  <a:pt x="360" y="2"/>
                  <a:pt x="380" y="6"/>
                </a:cubicBezTo>
                <a:cubicBezTo>
                  <a:pt x="401" y="10"/>
                  <a:pt x="421" y="16"/>
                  <a:pt x="440" y="24"/>
                </a:cubicBezTo>
                <a:cubicBezTo>
                  <a:pt x="459" y="32"/>
                  <a:pt x="478" y="42"/>
                  <a:pt x="495" y="54"/>
                </a:cubicBezTo>
                <a:cubicBezTo>
                  <a:pt x="512" y="65"/>
                  <a:pt x="528" y="78"/>
                  <a:pt x="543" y="93"/>
                </a:cubicBezTo>
                <a:cubicBezTo>
                  <a:pt x="558" y="108"/>
                  <a:pt x="571" y="124"/>
                  <a:pt x="582" y="141"/>
                </a:cubicBezTo>
                <a:cubicBezTo>
                  <a:pt x="594" y="158"/>
                  <a:pt x="604" y="177"/>
                  <a:pt x="612" y="196"/>
                </a:cubicBezTo>
                <a:cubicBezTo>
                  <a:pt x="620" y="215"/>
                  <a:pt x="626" y="235"/>
                  <a:pt x="630" y="256"/>
                </a:cubicBezTo>
                <a:cubicBezTo>
                  <a:pt x="634" y="276"/>
                  <a:pt x="636" y="297"/>
                  <a:pt x="636" y="317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1038240" y="4286520"/>
            <a:ext cx="5310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解释性。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文本框 264"/>
          <p:cNvSpPr txBox="1"/>
          <p:nvPr/>
        </p:nvSpPr>
        <p:spPr>
          <a:xfrm>
            <a:off x="771480" y="4705560"/>
            <a:ext cx="13284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1038240" y="4666320"/>
            <a:ext cx="95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1F2937"/>
                </a:solidFill>
                <a:effectLst/>
                <a:uFillTx/>
                <a:latin typeface="Roboto"/>
                <a:ea typeface="Roboto"/>
              </a:rPr>
              <a:t>CAD</a:t>
            </a:r>
            <a:r>
              <a:rPr lang="zh-CN" sz="120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系统整合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7" name="图片 266"/>
          <p:cNvPicPr/>
          <p:nvPr/>
        </p:nvPicPr>
        <p:blipFill>
          <a:blip r:embed="rId6"/>
          <a:stretch/>
        </p:blipFill>
        <p:spPr>
          <a:xfrm>
            <a:off x="695160" y="1495440"/>
            <a:ext cx="2761920" cy="61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任意形状 267"/>
          <p:cNvSpPr/>
          <p:nvPr/>
        </p:nvSpPr>
        <p:spPr>
          <a:xfrm>
            <a:off x="695160" y="149508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954"/>
                </a:moveTo>
                <a:lnTo>
                  <a:pt x="0" y="319"/>
                </a:lnTo>
                <a:cubicBezTo>
                  <a:pt x="0" y="298"/>
                  <a:pt x="2" y="276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9"/>
                  <a:pt x="53" y="142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6"/>
                  <a:pt x="141" y="54"/>
                </a:cubicBezTo>
                <a:cubicBezTo>
                  <a:pt x="158" y="42"/>
                  <a:pt x="177" y="33"/>
                  <a:pt x="196" y="25"/>
                </a:cubicBezTo>
                <a:cubicBezTo>
                  <a:pt x="215" y="17"/>
                  <a:pt x="235" y="11"/>
                  <a:pt x="256" y="7"/>
                </a:cubicBezTo>
                <a:cubicBezTo>
                  <a:pt x="276" y="2"/>
                  <a:pt x="297" y="0"/>
                  <a:pt x="317" y="0"/>
                </a:cubicBezTo>
                <a:lnTo>
                  <a:pt x="952" y="0"/>
                </a:lnTo>
                <a:cubicBezTo>
                  <a:pt x="973" y="0"/>
                  <a:pt x="994" y="2"/>
                  <a:pt x="1014" y="7"/>
                </a:cubicBezTo>
                <a:cubicBezTo>
                  <a:pt x="1035" y="11"/>
                  <a:pt x="1055" y="17"/>
                  <a:pt x="1074" y="25"/>
                </a:cubicBezTo>
                <a:cubicBezTo>
                  <a:pt x="1093" y="33"/>
                  <a:pt x="1112" y="42"/>
                  <a:pt x="1129" y="54"/>
                </a:cubicBezTo>
                <a:cubicBezTo>
                  <a:pt x="1146" y="66"/>
                  <a:pt x="1162" y="79"/>
                  <a:pt x="1177" y="93"/>
                </a:cubicBezTo>
                <a:cubicBezTo>
                  <a:pt x="1192" y="108"/>
                  <a:pt x="1205" y="124"/>
                  <a:pt x="1216" y="142"/>
                </a:cubicBezTo>
                <a:cubicBezTo>
                  <a:pt x="1228" y="159"/>
                  <a:pt x="1238" y="177"/>
                  <a:pt x="1247" y="196"/>
                </a:cubicBezTo>
                <a:cubicBezTo>
                  <a:pt x="1255" y="216"/>
                  <a:pt x="1261" y="236"/>
                  <a:pt x="1265" y="256"/>
                </a:cubicBezTo>
                <a:cubicBezTo>
                  <a:pt x="1269" y="276"/>
                  <a:pt x="1271" y="298"/>
                  <a:pt x="1271" y="319"/>
                </a:cubicBezTo>
                <a:lnTo>
                  <a:pt x="1271" y="954"/>
                </a:lnTo>
                <a:cubicBezTo>
                  <a:pt x="1271" y="975"/>
                  <a:pt x="1269" y="995"/>
                  <a:pt x="1265" y="1016"/>
                </a:cubicBezTo>
                <a:cubicBezTo>
                  <a:pt x="1261" y="1036"/>
                  <a:pt x="1255" y="1056"/>
                  <a:pt x="1247" y="1075"/>
                </a:cubicBezTo>
                <a:cubicBezTo>
                  <a:pt x="1238" y="1095"/>
                  <a:pt x="1228" y="1113"/>
                  <a:pt x="1216" y="1130"/>
                </a:cubicBezTo>
                <a:cubicBezTo>
                  <a:pt x="1205" y="1148"/>
                  <a:pt x="1192" y="1164"/>
                  <a:pt x="1177" y="1178"/>
                </a:cubicBezTo>
                <a:cubicBezTo>
                  <a:pt x="1162" y="1193"/>
                  <a:pt x="1146" y="1206"/>
                  <a:pt x="1129" y="1218"/>
                </a:cubicBezTo>
                <a:cubicBezTo>
                  <a:pt x="1112" y="1230"/>
                  <a:pt x="1093" y="1239"/>
                  <a:pt x="1074" y="1247"/>
                </a:cubicBezTo>
                <a:cubicBezTo>
                  <a:pt x="1055" y="1255"/>
                  <a:pt x="1035" y="1261"/>
                  <a:pt x="1014" y="1265"/>
                </a:cubicBezTo>
                <a:cubicBezTo>
                  <a:pt x="994" y="1269"/>
                  <a:pt x="973" y="1271"/>
                  <a:pt x="952" y="1271"/>
                </a:cubicBezTo>
                <a:lnTo>
                  <a:pt x="317" y="1271"/>
                </a:lnTo>
                <a:cubicBezTo>
                  <a:pt x="297" y="1271"/>
                  <a:pt x="276" y="1269"/>
                  <a:pt x="256" y="1265"/>
                </a:cubicBezTo>
                <a:cubicBezTo>
                  <a:pt x="235" y="1261"/>
                  <a:pt x="215" y="1255"/>
                  <a:pt x="196" y="1247"/>
                </a:cubicBezTo>
                <a:cubicBezTo>
                  <a:pt x="177" y="1239"/>
                  <a:pt x="158" y="1230"/>
                  <a:pt x="141" y="1218"/>
                </a:cubicBezTo>
                <a:cubicBezTo>
                  <a:pt x="124" y="1206"/>
                  <a:pt x="108" y="1193"/>
                  <a:pt x="93" y="1178"/>
                </a:cubicBezTo>
                <a:cubicBezTo>
                  <a:pt x="78" y="1164"/>
                  <a:pt x="65" y="1148"/>
                  <a:pt x="53" y="1130"/>
                </a:cubicBezTo>
                <a:cubicBezTo>
                  <a:pt x="42" y="1113"/>
                  <a:pt x="32" y="1095"/>
                  <a:pt x="24" y="1075"/>
                </a:cubicBezTo>
                <a:cubicBezTo>
                  <a:pt x="16" y="1056"/>
                  <a:pt x="10" y="1036"/>
                  <a:pt x="6" y="1016"/>
                </a:cubicBezTo>
                <a:cubicBezTo>
                  <a:pt x="2" y="995"/>
                  <a:pt x="0" y="975"/>
                  <a:pt x="0" y="954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任意形状 268"/>
          <p:cNvSpPr/>
          <p:nvPr/>
        </p:nvSpPr>
        <p:spPr>
          <a:xfrm>
            <a:off x="823680" y="1623960"/>
            <a:ext cx="200160" cy="200520"/>
          </a:xfrm>
          <a:custGeom>
            <a:avLst/>
            <a:gdLst/>
            <a:ahLst/>
            <a:cxnLst/>
            <a:rect l="0" t="0" r="r" b="b"/>
            <a:pathLst>
              <a:path w="556" h="557" fill="none">
                <a:moveTo>
                  <a:pt x="227" y="41"/>
                </a:moveTo>
                <a:cubicBezTo>
                  <a:pt x="240" y="-13"/>
                  <a:pt x="318" y="-13"/>
                  <a:pt x="331" y="41"/>
                </a:cubicBezTo>
                <a:cubicBezTo>
                  <a:pt x="333" y="50"/>
                  <a:pt x="336" y="57"/>
                  <a:pt x="342" y="63"/>
                </a:cubicBezTo>
                <a:cubicBezTo>
                  <a:pt x="347" y="70"/>
                  <a:pt x="354" y="75"/>
                  <a:pt x="362" y="78"/>
                </a:cubicBezTo>
                <a:cubicBezTo>
                  <a:pt x="370" y="81"/>
                  <a:pt x="378" y="82"/>
                  <a:pt x="386" y="82"/>
                </a:cubicBezTo>
                <a:cubicBezTo>
                  <a:pt x="395" y="81"/>
                  <a:pt x="403" y="79"/>
                  <a:pt x="410" y="74"/>
                </a:cubicBezTo>
                <a:cubicBezTo>
                  <a:pt x="458" y="45"/>
                  <a:pt x="512" y="100"/>
                  <a:pt x="483" y="147"/>
                </a:cubicBezTo>
                <a:cubicBezTo>
                  <a:pt x="479" y="155"/>
                  <a:pt x="476" y="162"/>
                  <a:pt x="476" y="171"/>
                </a:cubicBezTo>
                <a:cubicBezTo>
                  <a:pt x="475" y="179"/>
                  <a:pt x="476" y="188"/>
                  <a:pt x="480" y="195"/>
                </a:cubicBezTo>
                <a:cubicBezTo>
                  <a:pt x="483" y="203"/>
                  <a:pt x="488" y="211"/>
                  <a:pt x="494" y="216"/>
                </a:cubicBezTo>
                <a:cubicBezTo>
                  <a:pt x="501" y="222"/>
                  <a:pt x="508" y="226"/>
                  <a:pt x="516" y="228"/>
                </a:cubicBezTo>
                <a:cubicBezTo>
                  <a:pt x="570" y="241"/>
                  <a:pt x="570" y="318"/>
                  <a:pt x="516" y="331"/>
                </a:cubicBezTo>
                <a:cubicBezTo>
                  <a:pt x="508" y="333"/>
                  <a:pt x="501" y="337"/>
                  <a:pt x="494" y="342"/>
                </a:cubicBezTo>
                <a:cubicBezTo>
                  <a:pt x="488" y="348"/>
                  <a:pt x="483" y="355"/>
                  <a:pt x="479" y="363"/>
                </a:cubicBezTo>
                <a:cubicBezTo>
                  <a:pt x="476" y="370"/>
                  <a:pt x="475" y="379"/>
                  <a:pt x="476" y="387"/>
                </a:cubicBezTo>
                <a:cubicBezTo>
                  <a:pt x="476" y="395"/>
                  <a:pt x="479" y="403"/>
                  <a:pt x="483" y="411"/>
                </a:cubicBezTo>
                <a:cubicBezTo>
                  <a:pt x="512" y="458"/>
                  <a:pt x="458" y="513"/>
                  <a:pt x="410" y="484"/>
                </a:cubicBezTo>
                <a:cubicBezTo>
                  <a:pt x="403" y="479"/>
                  <a:pt x="395" y="477"/>
                  <a:pt x="386" y="476"/>
                </a:cubicBezTo>
                <a:cubicBezTo>
                  <a:pt x="378" y="475"/>
                  <a:pt x="370" y="477"/>
                  <a:pt x="362" y="480"/>
                </a:cubicBezTo>
                <a:cubicBezTo>
                  <a:pt x="354" y="483"/>
                  <a:pt x="347" y="488"/>
                  <a:pt x="342" y="495"/>
                </a:cubicBezTo>
                <a:cubicBezTo>
                  <a:pt x="336" y="501"/>
                  <a:pt x="333" y="508"/>
                  <a:pt x="331" y="517"/>
                </a:cubicBezTo>
                <a:cubicBezTo>
                  <a:pt x="318" y="571"/>
                  <a:pt x="240" y="571"/>
                  <a:pt x="227" y="517"/>
                </a:cubicBezTo>
                <a:cubicBezTo>
                  <a:pt x="225" y="508"/>
                  <a:pt x="221" y="501"/>
                  <a:pt x="216" y="495"/>
                </a:cubicBezTo>
                <a:cubicBezTo>
                  <a:pt x="209" y="488"/>
                  <a:pt x="203" y="483"/>
                  <a:pt x="195" y="480"/>
                </a:cubicBezTo>
                <a:cubicBezTo>
                  <a:pt x="187" y="477"/>
                  <a:pt x="179" y="475"/>
                  <a:pt x="170" y="476"/>
                </a:cubicBezTo>
                <a:cubicBezTo>
                  <a:pt x="162" y="477"/>
                  <a:pt x="154" y="479"/>
                  <a:pt x="147" y="484"/>
                </a:cubicBezTo>
                <a:cubicBezTo>
                  <a:pt x="99" y="513"/>
                  <a:pt x="45" y="458"/>
                  <a:pt x="74" y="411"/>
                </a:cubicBezTo>
                <a:cubicBezTo>
                  <a:pt x="78" y="403"/>
                  <a:pt x="81" y="395"/>
                  <a:pt x="81" y="387"/>
                </a:cubicBezTo>
                <a:cubicBezTo>
                  <a:pt x="82" y="379"/>
                  <a:pt x="81" y="370"/>
                  <a:pt x="77" y="363"/>
                </a:cubicBezTo>
                <a:cubicBezTo>
                  <a:pt x="74" y="355"/>
                  <a:pt x="69" y="348"/>
                  <a:pt x="63" y="342"/>
                </a:cubicBezTo>
                <a:cubicBezTo>
                  <a:pt x="56" y="337"/>
                  <a:pt x="49" y="333"/>
                  <a:pt x="41" y="331"/>
                </a:cubicBezTo>
                <a:cubicBezTo>
                  <a:pt x="-13" y="318"/>
                  <a:pt x="-13" y="241"/>
                  <a:pt x="41" y="228"/>
                </a:cubicBezTo>
                <a:cubicBezTo>
                  <a:pt x="49" y="226"/>
                  <a:pt x="56" y="222"/>
                  <a:pt x="63" y="216"/>
                </a:cubicBezTo>
                <a:cubicBezTo>
                  <a:pt x="69" y="211"/>
                  <a:pt x="74" y="203"/>
                  <a:pt x="77" y="195"/>
                </a:cubicBezTo>
                <a:cubicBezTo>
                  <a:pt x="81" y="188"/>
                  <a:pt x="82" y="179"/>
                  <a:pt x="81" y="171"/>
                </a:cubicBezTo>
                <a:cubicBezTo>
                  <a:pt x="81" y="162"/>
                  <a:pt x="78" y="155"/>
                  <a:pt x="74" y="147"/>
                </a:cubicBezTo>
                <a:cubicBezTo>
                  <a:pt x="45" y="100"/>
                  <a:pt x="99" y="45"/>
                  <a:pt x="147" y="74"/>
                </a:cubicBezTo>
                <a:cubicBezTo>
                  <a:pt x="178" y="93"/>
                  <a:pt x="219" y="76"/>
                  <a:pt x="227" y="41"/>
                </a:cubicBezTo>
              </a:path>
            </a:pathLst>
          </a:custGeom>
          <a:ln w="21960" cap="rnd">
            <a:solidFill>
              <a:srgbClr val="1A66C2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任意形状 269"/>
          <p:cNvSpPr/>
          <p:nvPr/>
        </p:nvSpPr>
        <p:spPr>
          <a:xfrm>
            <a:off x="890280" y="1690560"/>
            <a:ext cx="67320" cy="66960"/>
          </a:xfrm>
          <a:custGeom>
            <a:avLst/>
            <a:gdLst/>
            <a:ahLst/>
            <a:cxnLst/>
            <a:rect l="0" t="0" r="r" b="b"/>
            <a:pathLst>
              <a:path w="187" h="186" fill="none">
                <a:moveTo>
                  <a:pt x="187" y="93"/>
                </a:moveTo>
                <a:cubicBezTo>
                  <a:pt x="187" y="106"/>
                  <a:pt x="184" y="118"/>
                  <a:pt x="180" y="129"/>
                </a:cubicBezTo>
                <a:cubicBezTo>
                  <a:pt x="175" y="140"/>
                  <a:pt x="168" y="150"/>
                  <a:pt x="159" y="159"/>
                </a:cubicBezTo>
                <a:cubicBezTo>
                  <a:pt x="151" y="168"/>
                  <a:pt x="141" y="174"/>
                  <a:pt x="129" y="179"/>
                </a:cubicBezTo>
                <a:cubicBezTo>
                  <a:pt x="118" y="184"/>
                  <a:pt x="106" y="186"/>
                  <a:pt x="94" y="186"/>
                </a:cubicBezTo>
                <a:cubicBezTo>
                  <a:pt x="82" y="186"/>
                  <a:pt x="70" y="184"/>
                  <a:pt x="59" y="179"/>
                </a:cubicBezTo>
                <a:cubicBezTo>
                  <a:pt x="47" y="174"/>
                  <a:pt x="37" y="168"/>
                  <a:pt x="28" y="159"/>
                </a:cubicBezTo>
                <a:cubicBezTo>
                  <a:pt x="19" y="150"/>
                  <a:pt x="12" y="140"/>
                  <a:pt x="7" y="129"/>
                </a:cubicBezTo>
                <a:cubicBezTo>
                  <a:pt x="3" y="118"/>
                  <a:pt x="0" y="106"/>
                  <a:pt x="0" y="93"/>
                </a:cubicBezTo>
                <a:cubicBezTo>
                  <a:pt x="0" y="81"/>
                  <a:pt x="3" y="69"/>
                  <a:pt x="7" y="58"/>
                </a:cubicBezTo>
                <a:cubicBezTo>
                  <a:pt x="12" y="47"/>
                  <a:pt x="19" y="37"/>
                  <a:pt x="28" y="28"/>
                </a:cubicBezTo>
                <a:cubicBezTo>
                  <a:pt x="37" y="18"/>
                  <a:pt x="47" y="12"/>
                  <a:pt x="59" y="7"/>
                </a:cubicBezTo>
                <a:cubicBezTo>
                  <a:pt x="70" y="2"/>
                  <a:pt x="82" y="0"/>
                  <a:pt x="94" y="0"/>
                </a:cubicBezTo>
                <a:cubicBezTo>
                  <a:pt x="106" y="0"/>
                  <a:pt x="118" y="2"/>
                  <a:pt x="129" y="7"/>
                </a:cubicBezTo>
                <a:cubicBezTo>
                  <a:pt x="141" y="12"/>
                  <a:pt x="151" y="18"/>
                  <a:pt x="159" y="28"/>
                </a:cubicBezTo>
                <a:cubicBezTo>
                  <a:pt x="168" y="37"/>
                  <a:pt x="175" y="47"/>
                  <a:pt x="180" y="58"/>
                </a:cubicBezTo>
                <a:cubicBezTo>
                  <a:pt x="184" y="69"/>
                  <a:pt x="187" y="81"/>
                  <a:pt x="187" y="93"/>
                </a:cubicBezTo>
              </a:path>
            </a:pathLst>
          </a:custGeom>
          <a:ln w="21960" cap="rnd">
            <a:solidFill>
              <a:srgbClr val="1A66C2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1038240" y="4934160"/>
            <a:ext cx="231012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6B7280"/>
                </a:solidFill>
                <a:effectLst/>
                <a:uFillTx/>
                <a:latin typeface="NotoSansSC"/>
                <a:ea typeface="NotoSansSC"/>
              </a:rPr>
              <a:t>构建完整的计算机辅助诊断原型系统。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2" name="图片 271"/>
          <p:cNvPicPr/>
          <p:nvPr/>
        </p:nvPicPr>
        <p:blipFill>
          <a:blip r:embed="rId7"/>
          <a:stretch/>
        </p:blipFill>
        <p:spPr>
          <a:xfrm>
            <a:off x="3924360" y="1257120"/>
            <a:ext cx="4343040" cy="521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任意形状 272"/>
          <p:cNvSpPr/>
          <p:nvPr/>
        </p:nvSpPr>
        <p:spPr>
          <a:xfrm>
            <a:off x="4162320" y="2724120"/>
            <a:ext cx="1105200" cy="457560"/>
          </a:xfrm>
          <a:custGeom>
            <a:avLst/>
            <a:gdLst/>
            <a:ahLst/>
            <a:cxnLst/>
            <a:rect l="0" t="0" r="r" b="b"/>
            <a:pathLst>
              <a:path w="3070" h="1271">
                <a:moveTo>
                  <a:pt x="0" y="0"/>
                </a:moveTo>
                <a:lnTo>
                  <a:pt x="3070" y="0"/>
                </a:lnTo>
                <a:lnTo>
                  <a:pt x="3070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0F7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任意形状 273"/>
          <p:cNvSpPr/>
          <p:nvPr/>
        </p:nvSpPr>
        <p:spPr>
          <a:xfrm>
            <a:off x="5267160" y="2724120"/>
            <a:ext cx="1838520" cy="457560"/>
          </a:xfrm>
          <a:custGeom>
            <a:avLst/>
            <a:gdLst/>
            <a:ahLst/>
            <a:cxnLst/>
            <a:rect l="0" t="0" r="r" b="b"/>
            <a:pathLst>
              <a:path w="5107" h="1271">
                <a:moveTo>
                  <a:pt x="0" y="0"/>
                </a:moveTo>
                <a:lnTo>
                  <a:pt x="5107" y="0"/>
                </a:lnTo>
                <a:lnTo>
                  <a:pt x="5107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F0F7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任意形状 274"/>
          <p:cNvSpPr/>
          <p:nvPr/>
        </p:nvSpPr>
        <p:spPr>
          <a:xfrm>
            <a:off x="7105320" y="2724120"/>
            <a:ext cx="924480" cy="457560"/>
          </a:xfrm>
          <a:custGeom>
            <a:avLst/>
            <a:gdLst/>
            <a:ahLst/>
            <a:cxnLst/>
            <a:rect l="0" t="0" r="r" b="b"/>
            <a:pathLst>
              <a:path w="2568" h="1271">
                <a:moveTo>
                  <a:pt x="2437" y="16"/>
                </a:moveTo>
                <a:cubicBezTo>
                  <a:pt x="2463" y="26"/>
                  <a:pt x="2486" y="42"/>
                  <a:pt x="2506" y="62"/>
                </a:cubicBezTo>
                <a:cubicBezTo>
                  <a:pt x="2526" y="81"/>
                  <a:pt x="2541" y="104"/>
                  <a:pt x="2552" y="130"/>
                </a:cubicBezTo>
                <a:cubicBezTo>
                  <a:pt x="2562" y="156"/>
                  <a:pt x="2568" y="183"/>
                  <a:pt x="2568" y="211"/>
                </a:cubicBezTo>
                <a:lnTo>
                  <a:pt x="2568" y="1059"/>
                </a:lnTo>
                <a:cubicBezTo>
                  <a:pt x="2568" y="1087"/>
                  <a:pt x="2562" y="1114"/>
                  <a:pt x="2552" y="1140"/>
                </a:cubicBezTo>
                <a:cubicBezTo>
                  <a:pt x="2541" y="1166"/>
                  <a:pt x="2526" y="1189"/>
                  <a:pt x="2506" y="1209"/>
                </a:cubicBezTo>
                <a:cubicBezTo>
                  <a:pt x="2486" y="1228"/>
                  <a:pt x="2463" y="1244"/>
                  <a:pt x="2437" y="1254"/>
                </a:cubicBezTo>
                <a:cubicBezTo>
                  <a:pt x="2411" y="1265"/>
                  <a:pt x="2384" y="1271"/>
                  <a:pt x="2356" y="1271"/>
                </a:cubicBezTo>
                <a:lnTo>
                  <a:pt x="0" y="1271"/>
                </a:lnTo>
                <a:lnTo>
                  <a:pt x="0" y="0"/>
                </a:lnTo>
                <a:lnTo>
                  <a:pt x="2356" y="0"/>
                </a:lnTo>
                <a:cubicBezTo>
                  <a:pt x="2384" y="0"/>
                  <a:pt x="2411" y="5"/>
                  <a:pt x="2437" y="16"/>
                </a:cubicBezTo>
                <a:close/>
              </a:path>
            </a:pathLst>
          </a:custGeom>
          <a:solidFill>
            <a:srgbClr val="F0F7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任意形状 275"/>
          <p:cNvSpPr/>
          <p:nvPr/>
        </p:nvSpPr>
        <p:spPr>
          <a:xfrm>
            <a:off x="4162320" y="3714480"/>
            <a:ext cx="1105200" cy="10080"/>
          </a:xfrm>
          <a:custGeom>
            <a:avLst/>
            <a:gdLst/>
            <a:ahLst/>
            <a:cxn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任意形状 276"/>
          <p:cNvSpPr/>
          <p:nvPr/>
        </p:nvSpPr>
        <p:spPr>
          <a:xfrm>
            <a:off x="5267160" y="3714480"/>
            <a:ext cx="1838520" cy="10080"/>
          </a:xfrm>
          <a:custGeom>
            <a:avLst/>
            <a:gdLst/>
            <a:ahLst/>
            <a:cxnLst/>
            <a:rect l="0" t="0" r="r" b="b"/>
            <a:pathLst>
              <a:path w="5107" h="28">
                <a:moveTo>
                  <a:pt x="0" y="0"/>
                </a:moveTo>
                <a:lnTo>
                  <a:pt x="5107" y="0"/>
                </a:lnTo>
                <a:lnTo>
                  <a:pt x="51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任意形状 277"/>
          <p:cNvSpPr/>
          <p:nvPr/>
        </p:nvSpPr>
        <p:spPr>
          <a:xfrm>
            <a:off x="7105320" y="3714480"/>
            <a:ext cx="924480" cy="10080"/>
          </a:xfrm>
          <a:custGeom>
            <a:avLst/>
            <a:gdLst/>
            <a:ahLst/>
            <a:cxn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任意形状 278"/>
          <p:cNvSpPr/>
          <p:nvPr/>
        </p:nvSpPr>
        <p:spPr>
          <a:xfrm>
            <a:off x="4162320" y="4257360"/>
            <a:ext cx="1105200" cy="10080"/>
          </a:xfrm>
          <a:custGeom>
            <a:avLst/>
            <a:gdLst/>
            <a:ahLst/>
            <a:cxn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任意形状 279"/>
          <p:cNvSpPr/>
          <p:nvPr/>
        </p:nvSpPr>
        <p:spPr>
          <a:xfrm>
            <a:off x="5267160" y="4257360"/>
            <a:ext cx="1838520" cy="10080"/>
          </a:xfrm>
          <a:custGeom>
            <a:avLst/>
            <a:gdLst/>
            <a:ahLst/>
            <a:cxnLst/>
            <a:rect l="0" t="0" r="r" b="b"/>
            <a:pathLst>
              <a:path w="5107" h="28">
                <a:moveTo>
                  <a:pt x="0" y="0"/>
                </a:moveTo>
                <a:lnTo>
                  <a:pt x="5107" y="0"/>
                </a:lnTo>
                <a:lnTo>
                  <a:pt x="51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任意形状 280"/>
          <p:cNvSpPr/>
          <p:nvPr/>
        </p:nvSpPr>
        <p:spPr>
          <a:xfrm>
            <a:off x="7105320" y="4257360"/>
            <a:ext cx="924480" cy="10080"/>
          </a:xfrm>
          <a:custGeom>
            <a:avLst/>
            <a:gdLst/>
            <a:ahLst/>
            <a:cxn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任意形状 281"/>
          <p:cNvSpPr/>
          <p:nvPr/>
        </p:nvSpPr>
        <p:spPr>
          <a:xfrm>
            <a:off x="4162320" y="4800240"/>
            <a:ext cx="1105200" cy="10080"/>
          </a:xfrm>
          <a:custGeom>
            <a:avLst/>
            <a:gdLst/>
            <a:ahLst/>
            <a:cxnLst/>
            <a:rect l="0" t="0" r="r" b="b"/>
            <a:pathLst>
              <a:path w="3070" h="28">
                <a:moveTo>
                  <a:pt x="0" y="0"/>
                </a:moveTo>
                <a:lnTo>
                  <a:pt x="3070" y="0"/>
                </a:lnTo>
                <a:lnTo>
                  <a:pt x="307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任意形状 282"/>
          <p:cNvSpPr/>
          <p:nvPr/>
        </p:nvSpPr>
        <p:spPr>
          <a:xfrm>
            <a:off x="5267160" y="4800240"/>
            <a:ext cx="1838520" cy="10080"/>
          </a:xfrm>
          <a:custGeom>
            <a:avLst/>
            <a:gdLst/>
            <a:ahLst/>
            <a:cxnLst/>
            <a:rect l="0" t="0" r="r" b="b"/>
            <a:pathLst>
              <a:path w="5107" h="28">
                <a:moveTo>
                  <a:pt x="0" y="0"/>
                </a:moveTo>
                <a:lnTo>
                  <a:pt x="5107" y="0"/>
                </a:lnTo>
                <a:lnTo>
                  <a:pt x="5107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任意形状 283"/>
          <p:cNvSpPr/>
          <p:nvPr/>
        </p:nvSpPr>
        <p:spPr>
          <a:xfrm>
            <a:off x="7105320" y="4800240"/>
            <a:ext cx="924480" cy="10080"/>
          </a:xfrm>
          <a:custGeom>
            <a:avLst/>
            <a:gdLst/>
            <a:ahLst/>
            <a:cxnLst/>
            <a:rect l="0" t="0" r="r" b="b"/>
            <a:pathLst>
              <a:path w="2568" h="28">
                <a:moveTo>
                  <a:pt x="0" y="0"/>
                </a:moveTo>
                <a:lnTo>
                  <a:pt x="2568" y="0"/>
                </a:lnTo>
                <a:lnTo>
                  <a:pt x="25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任意形状 284"/>
          <p:cNvSpPr/>
          <p:nvPr/>
        </p:nvSpPr>
        <p:spPr>
          <a:xfrm>
            <a:off x="4162320" y="5343480"/>
            <a:ext cx="1105200" cy="9720"/>
          </a:xfrm>
          <a:custGeom>
            <a:avLst/>
            <a:gdLst/>
            <a:ahLst/>
            <a:cxnLst/>
            <a:rect l="0" t="0" r="r" b="b"/>
            <a:pathLst>
              <a:path w="3070" h="27">
                <a:moveTo>
                  <a:pt x="0" y="0"/>
                </a:moveTo>
                <a:lnTo>
                  <a:pt x="3070" y="0"/>
                </a:lnTo>
                <a:lnTo>
                  <a:pt x="307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任意形状 285"/>
          <p:cNvSpPr/>
          <p:nvPr/>
        </p:nvSpPr>
        <p:spPr>
          <a:xfrm>
            <a:off x="5267160" y="5343480"/>
            <a:ext cx="1838520" cy="9720"/>
          </a:xfrm>
          <a:custGeom>
            <a:avLst/>
            <a:gdLst/>
            <a:ahLst/>
            <a:cxnLst/>
            <a:rect l="0" t="0" r="r" b="b"/>
            <a:pathLst>
              <a:path w="5107" h="27">
                <a:moveTo>
                  <a:pt x="0" y="0"/>
                </a:moveTo>
                <a:lnTo>
                  <a:pt x="5107" y="0"/>
                </a:lnTo>
                <a:lnTo>
                  <a:pt x="5107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任意形状 286"/>
          <p:cNvSpPr/>
          <p:nvPr/>
        </p:nvSpPr>
        <p:spPr>
          <a:xfrm>
            <a:off x="7105320" y="5343480"/>
            <a:ext cx="924480" cy="9720"/>
          </a:xfrm>
          <a:custGeom>
            <a:avLst/>
            <a:gdLst/>
            <a:ahLst/>
            <a:cxnLst/>
            <a:rect l="0" t="0" r="r" b="b"/>
            <a:pathLst>
              <a:path w="2568" h="27">
                <a:moveTo>
                  <a:pt x="0" y="0"/>
                </a:moveTo>
                <a:lnTo>
                  <a:pt x="2568" y="0"/>
                </a:lnTo>
                <a:lnTo>
                  <a:pt x="25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1305000" y="1586880"/>
            <a:ext cx="119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系统功能目标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4314960" y="2856600"/>
            <a:ext cx="32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任务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5419800" y="2856600"/>
            <a:ext cx="104004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指标 </a:t>
            </a:r>
            <a:r>
              <a:rPr lang="en-US" sz="1200" b="0" u="none" strike="noStrike">
                <a:solidFill>
                  <a:srgbClr val="1A4471"/>
                </a:solidFill>
                <a:effectLst/>
                <a:uFillTx/>
                <a:latin typeface="Roboto"/>
                <a:ea typeface="Roboto"/>
              </a:rPr>
              <a:t>(Metric)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文本框 290"/>
          <p:cNvSpPr txBox="1"/>
          <p:nvPr/>
        </p:nvSpPr>
        <p:spPr>
          <a:xfrm>
            <a:off x="7419960" y="2856600"/>
            <a:ext cx="4798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目标值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文本框 291"/>
          <p:cNvSpPr txBox="1"/>
          <p:nvPr/>
        </p:nvSpPr>
        <p:spPr>
          <a:xfrm>
            <a:off x="4314960" y="3351960"/>
            <a:ext cx="64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图像分类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文本框 292"/>
          <p:cNvSpPr txBox="1"/>
          <p:nvPr/>
        </p:nvSpPr>
        <p:spPr>
          <a:xfrm>
            <a:off x="5419800" y="3351960"/>
            <a:ext cx="136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准确率 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(Accuracy)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7477200" y="3342240"/>
            <a:ext cx="46944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≥ 85%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4314960" y="3894840"/>
            <a:ext cx="64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图像分类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5419800" y="3894840"/>
            <a:ext cx="5392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AUC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值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7458120" y="3885120"/>
            <a:ext cx="479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≥ 0.90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4314960" y="4437720"/>
            <a:ext cx="64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图像分类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5419800" y="4428000"/>
            <a:ext cx="6400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F1-Score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文本框 299"/>
          <p:cNvSpPr txBox="1"/>
          <p:nvPr/>
        </p:nvSpPr>
        <p:spPr>
          <a:xfrm>
            <a:off x="7458120" y="4428000"/>
            <a:ext cx="479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≥ 0.80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文本框 300"/>
          <p:cNvSpPr txBox="1"/>
          <p:nvPr/>
        </p:nvSpPr>
        <p:spPr>
          <a:xfrm>
            <a:off x="4314960" y="4980600"/>
            <a:ext cx="64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图像分割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5419800" y="4980600"/>
            <a:ext cx="720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Dice 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系数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文本框 302"/>
          <p:cNvSpPr txBox="1"/>
          <p:nvPr/>
        </p:nvSpPr>
        <p:spPr>
          <a:xfrm>
            <a:off x="7458120" y="4970880"/>
            <a:ext cx="479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≥ 0.75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4314960" y="5523480"/>
            <a:ext cx="64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图像分割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5419800" y="5523480"/>
            <a:ext cx="960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IoU (</a:t>
            </a:r>
            <a:r>
              <a:rPr lang="zh-CN" sz="1200" b="0" u="none" strike="noStrike">
                <a:solidFill>
                  <a:srgbClr val="4B5563"/>
                </a:solidFill>
                <a:effectLst/>
                <a:uFillTx/>
                <a:latin typeface="NotoSansSC"/>
                <a:ea typeface="NotoSansSC"/>
              </a:rPr>
              <a:t>交并比</a:t>
            </a:r>
            <a:r>
              <a:rPr lang="en-US" sz="1200" b="0" u="none" strike="noStrike">
                <a:solidFill>
                  <a:srgbClr val="4B5563"/>
                </a:solidFill>
                <a:effectLst/>
                <a:uFillTx/>
                <a:latin typeface="Roboto"/>
                <a:ea typeface="Roboto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6" name="图片 305"/>
          <p:cNvPicPr/>
          <p:nvPr/>
        </p:nvPicPr>
        <p:blipFill>
          <a:blip r:embed="rId8"/>
          <a:stretch/>
        </p:blipFill>
        <p:spPr>
          <a:xfrm>
            <a:off x="4162320" y="1523880"/>
            <a:ext cx="3866760" cy="61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任意形状 306"/>
          <p:cNvSpPr/>
          <p:nvPr/>
        </p:nvSpPr>
        <p:spPr>
          <a:xfrm>
            <a:off x="4162320" y="152388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0" y="953"/>
                </a:moveTo>
                <a:lnTo>
                  <a:pt x="0" y="318"/>
                </a:ln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6"/>
                </a:cubicBezTo>
                <a:cubicBezTo>
                  <a:pt x="32" y="177"/>
                  <a:pt x="42" y="158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8"/>
                  <a:pt x="124" y="65"/>
                  <a:pt x="141" y="53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953" y="0"/>
                </a:lnTo>
                <a:cubicBezTo>
                  <a:pt x="974" y="0"/>
                  <a:pt x="995" y="2"/>
                  <a:pt x="1015" y="6"/>
                </a:cubicBezTo>
                <a:cubicBezTo>
                  <a:pt x="1036" y="10"/>
                  <a:pt x="1056" y="16"/>
                  <a:pt x="1075" y="24"/>
                </a:cubicBezTo>
                <a:cubicBezTo>
                  <a:pt x="1094" y="32"/>
                  <a:pt x="1112" y="42"/>
                  <a:pt x="1130" y="53"/>
                </a:cubicBezTo>
                <a:cubicBezTo>
                  <a:pt x="1147" y="65"/>
                  <a:pt x="1163" y="78"/>
                  <a:pt x="1178" y="93"/>
                </a:cubicBezTo>
                <a:cubicBezTo>
                  <a:pt x="1193" y="108"/>
                  <a:pt x="1206" y="124"/>
                  <a:pt x="1217" y="141"/>
                </a:cubicBezTo>
                <a:cubicBezTo>
                  <a:pt x="1229" y="158"/>
                  <a:pt x="1239" y="177"/>
                  <a:pt x="1247" y="196"/>
                </a:cubicBezTo>
                <a:cubicBezTo>
                  <a:pt x="1255" y="216"/>
                  <a:pt x="1261" y="236"/>
                  <a:pt x="1265" y="256"/>
                </a:cubicBezTo>
                <a:cubicBezTo>
                  <a:pt x="1269" y="277"/>
                  <a:pt x="1271" y="297"/>
                  <a:pt x="1271" y="318"/>
                </a:cubicBezTo>
                <a:lnTo>
                  <a:pt x="1271" y="953"/>
                </a:lnTo>
                <a:cubicBezTo>
                  <a:pt x="1271" y="974"/>
                  <a:pt x="1269" y="995"/>
                  <a:pt x="1265" y="1015"/>
                </a:cubicBezTo>
                <a:cubicBezTo>
                  <a:pt x="1261" y="1036"/>
                  <a:pt x="1255" y="1056"/>
                  <a:pt x="1247" y="1075"/>
                </a:cubicBezTo>
                <a:cubicBezTo>
                  <a:pt x="1239" y="1094"/>
                  <a:pt x="1229" y="1112"/>
                  <a:pt x="1217" y="1130"/>
                </a:cubicBezTo>
                <a:cubicBezTo>
                  <a:pt x="1206" y="1147"/>
                  <a:pt x="1193" y="1163"/>
                  <a:pt x="1178" y="1178"/>
                </a:cubicBezTo>
                <a:cubicBezTo>
                  <a:pt x="1163" y="1193"/>
                  <a:pt x="1147" y="1206"/>
                  <a:pt x="1130" y="1217"/>
                </a:cubicBezTo>
                <a:cubicBezTo>
                  <a:pt x="1112" y="1229"/>
                  <a:pt x="1094" y="1239"/>
                  <a:pt x="1075" y="1247"/>
                </a:cubicBezTo>
                <a:cubicBezTo>
                  <a:pt x="1056" y="1255"/>
                  <a:pt x="1036" y="1261"/>
                  <a:pt x="1015" y="1265"/>
                </a:cubicBezTo>
                <a:cubicBezTo>
                  <a:pt x="995" y="1269"/>
                  <a:pt x="974" y="1271"/>
                  <a:pt x="953" y="1271"/>
                </a:cubicBezTo>
                <a:lnTo>
                  <a:pt x="317" y="1271"/>
                </a:lnTo>
                <a:cubicBezTo>
                  <a:pt x="296" y="1271"/>
                  <a:pt x="276" y="1269"/>
                  <a:pt x="255" y="1265"/>
                </a:cubicBezTo>
                <a:cubicBezTo>
                  <a:pt x="235" y="1261"/>
                  <a:pt x="215" y="1255"/>
                  <a:pt x="196" y="1247"/>
                </a:cubicBezTo>
                <a:cubicBezTo>
                  <a:pt x="177" y="1239"/>
                  <a:pt x="158" y="1229"/>
                  <a:pt x="141" y="1217"/>
                </a:cubicBezTo>
                <a:cubicBezTo>
                  <a:pt x="124" y="1206"/>
                  <a:pt x="108" y="1193"/>
                  <a:pt x="93" y="1178"/>
                </a:cubicBezTo>
                <a:cubicBezTo>
                  <a:pt x="78" y="1163"/>
                  <a:pt x="65" y="1147"/>
                  <a:pt x="53" y="1130"/>
                </a:cubicBezTo>
                <a:cubicBezTo>
                  <a:pt x="42" y="1112"/>
                  <a:pt x="32" y="1094"/>
                  <a:pt x="24" y="1075"/>
                </a:cubicBezTo>
                <a:cubicBezTo>
                  <a:pt x="16" y="1056"/>
                  <a:pt x="10" y="1036"/>
                  <a:pt x="6" y="1015"/>
                </a:cubicBezTo>
                <a:cubicBezTo>
                  <a:pt x="2" y="995"/>
                  <a:pt x="0" y="974"/>
                  <a:pt x="0" y="953"/>
                </a:cubicBezTo>
                <a:close/>
              </a:path>
            </a:pathLst>
          </a:custGeom>
          <a:solidFill>
            <a:srgbClr val="EFF6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任意形状 307"/>
          <p:cNvSpPr/>
          <p:nvPr/>
        </p:nvSpPr>
        <p:spPr>
          <a:xfrm>
            <a:off x="4290840" y="1652400"/>
            <a:ext cx="200520" cy="200520"/>
          </a:xfrm>
          <a:custGeom>
            <a:avLst/>
            <a:gdLst/>
            <a:ahLst/>
            <a:cxnLst/>
            <a:rect l="0" t="0" r="r" b="b"/>
            <a:pathLst>
              <a:path w="557" h="557" fill="none">
                <a:moveTo>
                  <a:pt x="186" y="495"/>
                </a:moveTo>
                <a:lnTo>
                  <a:pt x="186" y="310"/>
                </a:lnTo>
                <a:cubicBezTo>
                  <a:pt x="186" y="302"/>
                  <a:pt x="185" y="294"/>
                  <a:pt x="181" y="286"/>
                </a:cubicBezTo>
                <a:cubicBezTo>
                  <a:pt x="178" y="279"/>
                  <a:pt x="174" y="272"/>
                  <a:pt x="168" y="266"/>
                </a:cubicBezTo>
                <a:cubicBezTo>
                  <a:pt x="162" y="260"/>
                  <a:pt x="156" y="256"/>
                  <a:pt x="148" y="253"/>
                </a:cubicBezTo>
                <a:cubicBezTo>
                  <a:pt x="141" y="250"/>
                  <a:pt x="133" y="248"/>
                  <a:pt x="124" y="248"/>
                </a:cubicBezTo>
                <a:lnTo>
                  <a:pt x="63" y="248"/>
                </a:lnTo>
                <a:cubicBezTo>
                  <a:pt x="55" y="248"/>
                  <a:pt x="47" y="250"/>
                  <a:pt x="39" y="253"/>
                </a:cubicBezTo>
                <a:cubicBezTo>
                  <a:pt x="32" y="256"/>
                  <a:pt x="25" y="260"/>
                  <a:pt x="19" y="266"/>
                </a:cubicBezTo>
                <a:cubicBezTo>
                  <a:pt x="12" y="272"/>
                  <a:pt x="8" y="279"/>
                  <a:pt x="5" y="286"/>
                </a:cubicBezTo>
                <a:cubicBezTo>
                  <a:pt x="2" y="294"/>
                  <a:pt x="0" y="302"/>
                  <a:pt x="0" y="310"/>
                </a:cubicBezTo>
                <a:lnTo>
                  <a:pt x="0" y="495"/>
                </a:lnTo>
                <a:cubicBezTo>
                  <a:pt x="0" y="503"/>
                  <a:pt x="2" y="511"/>
                  <a:pt x="5" y="519"/>
                </a:cubicBezTo>
                <a:cubicBezTo>
                  <a:pt x="8" y="526"/>
                  <a:pt x="12" y="533"/>
                  <a:pt x="19" y="539"/>
                </a:cubicBezTo>
                <a:cubicBezTo>
                  <a:pt x="25" y="544"/>
                  <a:pt x="32" y="549"/>
                  <a:pt x="39" y="552"/>
                </a:cubicBezTo>
                <a:cubicBezTo>
                  <a:pt x="47" y="555"/>
                  <a:pt x="55" y="557"/>
                  <a:pt x="63" y="557"/>
                </a:cubicBezTo>
                <a:lnTo>
                  <a:pt x="124" y="557"/>
                </a:lnTo>
                <a:cubicBezTo>
                  <a:pt x="133" y="557"/>
                  <a:pt x="141" y="555"/>
                  <a:pt x="148" y="552"/>
                </a:cubicBezTo>
                <a:cubicBezTo>
                  <a:pt x="156" y="549"/>
                  <a:pt x="162" y="544"/>
                  <a:pt x="168" y="539"/>
                </a:cubicBezTo>
                <a:cubicBezTo>
                  <a:pt x="174" y="533"/>
                  <a:pt x="178" y="526"/>
                  <a:pt x="181" y="519"/>
                </a:cubicBezTo>
                <a:cubicBezTo>
                  <a:pt x="185" y="511"/>
                  <a:pt x="186" y="503"/>
                  <a:pt x="186" y="495"/>
                </a:cubicBezTo>
                <a:moveTo>
                  <a:pt x="186" y="495"/>
                </a:moveTo>
                <a:lnTo>
                  <a:pt x="186" y="186"/>
                </a:lnTo>
                <a:cubicBezTo>
                  <a:pt x="186" y="178"/>
                  <a:pt x="188" y="170"/>
                  <a:pt x="191" y="163"/>
                </a:cubicBezTo>
                <a:cubicBezTo>
                  <a:pt x="194" y="155"/>
                  <a:pt x="198" y="148"/>
                  <a:pt x="204" y="143"/>
                </a:cubicBezTo>
                <a:cubicBezTo>
                  <a:pt x="210" y="137"/>
                  <a:pt x="217" y="132"/>
                  <a:pt x="224" y="129"/>
                </a:cubicBezTo>
                <a:cubicBezTo>
                  <a:pt x="232" y="125"/>
                  <a:pt x="240" y="123"/>
                  <a:pt x="248" y="123"/>
                </a:cubicBezTo>
                <a:lnTo>
                  <a:pt x="310" y="123"/>
                </a:lnTo>
                <a:cubicBezTo>
                  <a:pt x="318" y="123"/>
                  <a:pt x="326" y="125"/>
                  <a:pt x="333" y="129"/>
                </a:cubicBezTo>
                <a:cubicBezTo>
                  <a:pt x="341" y="132"/>
                  <a:pt x="348" y="137"/>
                  <a:pt x="353" y="143"/>
                </a:cubicBezTo>
                <a:cubicBezTo>
                  <a:pt x="359" y="148"/>
                  <a:pt x="364" y="155"/>
                  <a:pt x="367" y="163"/>
                </a:cubicBezTo>
                <a:cubicBezTo>
                  <a:pt x="370" y="170"/>
                  <a:pt x="371" y="178"/>
                  <a:pt x="371" y="186"/>
                </a:cubicBezTo>
                <a:lnTo>
                  <a:pt x="371" y="495"/>
                </a:lnTo>
                <a:moveTo>
                  <a:pt x="186" y="495"/>
                </a:moveTo>
                <a:cubicBezTo>
                  <a:pt x="186" y="503"/>
                  <a:pt x="188" y="511"/>
                  <a:pt x="191" y="519"/>
                </a:cubicBezTo>
                <a:cubicBezTo>
                  <a:pt x="194" y="526"/>
                  <a:pt x="198" y="533"/>
                  <a:pt x="204" y="539"/>
                </a:cubicBezTo>
                <a:cubicBezTo>
                  <a:pt x="210" y="544"/>
                  <a:pt x="217" y="549"/>
                  <a:pt x="224" y="552"/>
                </a:cubicBezTo>
                <a:cubicBezTo>
                  <a:pt x="232" y="555"/>
                  <a:pt x="240" y="557"/>
                  <a:pt x="248" y="557"/>
                </a:cubicBezTo>
                <a:lnTo>
                  <a:pt x="310" y="557"/>
                </a:lnTo>
                <a:cubicBezTo>
                  <a:pt x="318" y="557"/>
                  <a:pt x="326" y="555"/>
                  <a:pt x="333" y="552"/>
                </a:cubicBezTo>
                <a:cubicBezTo>
                  <a:pt x="341" y="549"/>
                  <a:pt x="348" y="544"/>
                  <a:pt x="353" y="539"/>
                </a:cubicBezTo>
                <a:cubicBezTo>
                  <a:pt x="359" y="533"/>
                  <a:pt x="364" y="526"/>
                  <a:pt x="367" y="519"/>
                </a:cubicBezTo>
                <a:cubicBezTo>
                  <a:pt x="370" y="511"/>
                  <a:pt x="371" y="503"/>
                  <a:pt x="371" y="495"/>
                </a:cubicBezTo>
                <a:moveTo>
                  <a:pt x="371" y="495"/>
                </a:moveTo>
                <a:lnTo>
                  <a:pt x="371" y="62"/>
                </a:lnTo>
                <a:cubicBezTo>
                  <a:pt x="371" y="54"/>
                  <a:pt x="373" y="46"/>
                  <a:pt x="376" y="38"/>
                </a:cubicBezTo>
                <a:cubicBezTo>
                  <a:pt x="379" y="31"/>
                  <a:pt x="384" y="24"/>
                  <a:pt x="389" y="18"/>
                </a:cubicBezTo>
                <a:cubicBezTo>
                  <a:pt x="395" y="12"/>
                  <a:pt x="402" y="8"/>
                  <a:pt x="410" y="5"/>
                </a:cubicBezTo>
                <a:cubicBezTo>
                  <a:pt x="417" y="2"/>
                  <a:pt x="425" y="0"/>
                  <a:pt x="433" y="0"/>
                </a:cubicBezTo>
                <a:lnTo>
                  <a:pt x="495" y="0"/>
                </a:lnTo>
                <a:cubicBezTo>
                  <a:pt x="503" y="0"/>
                  <a:pt x="511" y="2"/>
                  <a:pt x="518" y="5"/>
                </a:cubicBezTo>
                <a:cubicBezTo>
                  <a:pt x="526" y="8"/>
                  <a:pt x="533" y="12"/>
                  <a:pt x="539" y="18"/>
                </a:cubicBezTo>
                <a:cubicBezTo>
                  <a:pt x="544" y="24"/>
                  <a:pt x="549" y="31"/>
                  <a:pt x="552" y="38"/>
                </a:cubicBezTo>
                <a:cubicBezTo>
                  <a:pt x="555" y="46"/>
                  <a:pt x="557" y="54"/>
                  <a:pt x="557" y="62"/>
                </a:cubicBezTo>
                <a:lnTo>
                  <a:pt x="557" y="495"/>
                </a:lnTo>
                <a:cubicBezTo>
                  <a:pt x="557" y="503"/>
                  <a:pt x="555" y="511"/>
                  <a:pt x="552" y="519"/>
                </a:cubicBezTo>
                <a:cubicBezTo>
                  <a:pt x="549" y="526"/>
                  <a:pt x="544" y="533"/>
                  <a:pt x="539" y="539"/>
                </a:cubicBezTo>
                <a:cubicBezTo>
                  <a:pt x="533" y="544"/>
                  <a:pt x="526" y="549"/>
                  <a:pt x="518" y="552"/>
                </a:cubicBezTo>
                <a:cubicBezTo>
                  <a:pt x="511" y="555"/>
                  <a:pt x="503" y="557"/>
                  <a:pt x="495" y="557"/>
                </a:cubicBezTo>
                <a:lnTo>
                  <a:pt x="433" y="557"/>
                </a:lnTo>
                <a:cubicBezTo>
                  <a:pt x="425" y="557"/>
                  <a:pt x="417" y="555"/>
                  <a:pt x="410" y="552"/>
                </a:cubicBezTo>
                <a:cubicBezTo>
                  <a:pt x="402" y="549"/>
                  <a:pt x="395" y="544"/>
                  <a:pt x="389" y="539"/>
                </a:cubicBezTo>
                <a:cubicBezTo>
                  <a:pt x="384" y="533"/>
                  <a:pt x="379" y="526"/>
                  <a:pt x="376" y="519"/>
                </a:cubicBezTo>
                <a:cubicBezTo>
                  <a:pt x="373" y="511"/>
                  <a:pt x="371" y="503"/>
                  <a:pt x="371" y="495"/>
                </a:cubicBezTo>
              </a:path>
            </a:pathLst>
          </a:custGeom>
          <a:ln w="21960" cap="rnd">
            <a:solidFill>
              <a:srgbClr val="1A66C2"/>
            </a:solidFill>
            <a:round/>
          </a:ln>
        </p:spPr>
        <p:txBody>
          <a:bodyPr lIns="10800" tIns="10800" rIns="10800" bIns="1080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7458120" y="5514120"/>
            <a:ext cx="479880" cy="20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≥ 0.70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4772160" y="1615680"/>
            <a:ext cx="1199880" cy="276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性能指标目标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任意形状 3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任意形状 3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5" name="图片 314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图片 315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图片 316"/>
          <p:cNvPicPr/>
          <p:nvPr/>
        </p:nvPicPr>
        <p:blipFill>
          <a:blip r:embed="rId4"/>
          <a:stretch/>
        </p:blipFill>
        <p:spPr>
          <a:xfrm>
            <a:off x="0" y="6781680"/>
            <a:ext cx="12191760" cy="75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图片 317"/>
          <p:cNvPicPr/>
          <p:nvPr/>
        </p:nvPicPr>
        <p:blipFill>
          <a:blip r:embed="rId5"/>
          <a:stretch/>
        </p:blipFill>
        <p:spPr>
          <a:xfrm>
            <a:off x="8953560" y="5524560"/>
            <a:ext cx="2856960" cy="95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任意形状 318"/>
          <p:cNvSpPr/>
          <p:nvPr/>
        </p:nvSpPr>
        <p:spPr>
          <a:xfrm>
            <a:off x="456840" y="419040"/>
            <a:ext cx="57600" cy="304920"/>
          </a:xfrm>
          <a:custGeom>
            <a:avLst/>
            <a:gdLst/>
            <a:ahLst/>
            <a:cxnLst/>
            <a:rect l="0" t="0" r="r" b="b"/>
            <a:pathLst>
              <a:path w="160" h="847">
                <a:moveTo>
                  <a:pt x="0" y="0"/>
                </a:moveTo>
                <a:lnTo>
                  <a:pt x="160" y="0"/>
                </a:lnTo>
                <a:lnTo>
                  <a:pt x="160" y="847"/>
                </a:lnTo>
                <a:lnTo>
                  <a:pt x="0" y="847"/>
                </a:lnTo>
                <a:lnTo>
                  <a:pt x="0" y="0"/>
                </a:ln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文本框 319"/>
          <p:cNvSpPr txBox="1"/>
          <p:nvPr/>
        </p:nvSpPr>
        <p:spPr>
          <a:xfrm>
            <a:off x="628560" y="319320"/>
            <a:ext cx="144000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进度安排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647640" y="845280"/>
            <a:ext cx="261036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Roboto"/>
                <a:ea typeface="Roboto"/>
              </a:rPr>
              <a:t>Project Timeline &amp; Milestones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11109960" y="594000"/>
            <a:ext cx="523800" cy="31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2026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任意形状 322"/>
          <p:cNvSpPr/>
          <p:nvPr/>
        </p:nvSpPr>
        <p:spPr>
          <a:xfrm>
            <a:off x="1581120" y="4819320"/>
            <a:ext cx="9029880" cy="38880"/>
          </a:xfrm>
          <a:custGeom>
            <a:avLst/>
            <a:gdLst/>
            <a:ahLst/>
            <a:cxnLst/>
            <a:rect l="0" t="0" r="r" b="b"/>
            <a:pathLst>
              <a:path w="25083" h="108">
                <a:moveTo>
                  <a:pt x="0" y="54"/>
                </a:moveTo>
                <a:cubicBezTo>
                  <a:pt x="0" y="47"/>
                  <a:pt x="1" y="41"/>
                  <a:pt x="4" y="34"/>
                </a:cubicBezTo>
                <a:cubicBezTo>
                  <a:pt x="6" y="28"/>
                  <a:pt x="10" y="22"/>
                  <a:pt x="15" y="17"/>
                </a:cubicBezTo>
                <a:cubicBezTo>
                  <a:pt x="20" y="12"/>
                  <a:pt x="26" y="8"/>
                  <a:pt x="32" y="5"/>
                </a:cubicBezTo>
                <a:cubicBezTo>
                  <a:pt x="39" y="3"/>
                  <a:pt x="45" y="0"/>
                  <a:pt x="52" y="0"/>
                </a:cubicBezTo>
                <a:lnTo>
                  <a:pt x="25030" y="0"/>
                </a:lnTo>
                <a:cubicBezTo>
                  <a:pt x="25037" y="0"/>
                  <a:pt x="25044" y="3"/>
                  <a:pt x="25050" y="5"/>
                </a:cubicBezTo>
                <a:cubicBezTo>
                  <a:pt x="25057" y="8"/>
                  <a:pt x="25063" y="12"/>
                  <a:pt x="25068" y="17"/>
                </a:cubicBezTo>
                <a:cubicBezTo>
                  <a:pt x="25073" y="22"/>
                  <a:pt x="25076" y="28"/>
                  <a:pt x="25079" y="34"/>
                </a:cubicBezTo>
                <a:cubicBezTo>
                  <a:pt x="25082" y="41"/>
                  <a:pt x="25083" y="47"/>
                  <a:pt x="25083" y="54"/>
                </a:cubicBezTo>
                <a:cubicBezTo>
                  <a:pt x="25083" y="61"/>
                  <a:pt x="25082" y="68"/>
                  <a:pt x="25079" y="75"/>
                </a:cubicBezTo>
                <a:cubicBezTo>
                  <a:pt x="25076" y="81"/>
                  <a:pt x="25073" y="87"/>
                  <a:pt x="25068" y="92"/>
                </a:cubicBezTo>
                <a:cubicBezTo>
                  <a:pt x="25063" y="97"/>
                  <a:pt x="25057" y="101"/>
                  <a:pt x="25050" y="103"/>
                </a:cubicBezTo>
                <a:cubicBezTo>
                  <a:pt x="25044" y="106"/>
                  <a:pt x="25037" y="108"/>
                  <a:pt x="25030" y="108"/>
                </a:cubicBezTo>
                <a:lnTo>
                  <a:pt x="52" y="108"/>
                </a:lnTo>
                <a:cubicBezTo>
                  <a:pt x="45" y="108"/>
                  <a:pt x="39" y="106"/>
                  <a:pt x="32" y="103"/>
                </a:cubicBezTo>
                <a:cubicBezTo>
                  <a:pt x="26" y="101"/>
                  <a:pt x="20" y="97"/>
                  <a:pt x="15" y="92"/>
                </a:cubicBezTo>
                <a:cubicBezTo>
                  <a:pt x="10" y="87"/>
                  <a:pt x="6" y="81"/>
                  <a:pt x="4" y="75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任意形状 323"/>
          <p:cNvSpPr/>
          <p:nvPr/>
        </p:nvSpPr>
        <p:spPr>
          <a:xfrm>
            <a:off x="1581120" y="4819320"/>
            <a:ext cx="2819520" cy="38880"/>
          </a:xfrm>
          <a:custGeom>
            <a:avLst/>
            <a:gdLst/>
            <a:ahLst/>
            <a:cxnLst/>
            <a:rect l="0" t="0" r="r" b="b"/>
            <a:pathLst>
              <a:path w="7832" h="108">
                <a:moveTo>
                  <a:pt x="0" y="54"/>
                </a:moveTo>
                <a:cubicBezTo>
                  <a:pt x="0" y="47"/>
                  <a:pt x="1" y="41"/>
                  <a:pt x="4" y="34"/>
                </a:cubicBezTo>
                <a:cubicBezTo>
                  <a:pt x="6" y="28"/>
                  <a:pt x="10" y="22"/>
                  <a:pt x="15" y="17"/>
                </a:cubicBezTo>
                <a:cubicBezTo>
                  <a:pt x="20" y="12"/>
                  <a:pt x="26" y="8"/>
                  <a:pt x="32" y="5"/>
                </a:cubicBezTo>
                <a:cubicBezTo>
                  <a:pt x="39" y="3"/>
                  <a:pt x="45" y="0"/>
                  <a:pt x="52" y="0"/>
                </a:cubicBezTo>
                <a:lnTo>
                  <a:pt x="7779" y="0"/>
                </a:lnTo>
                <a:cubicBezTo>
                  <a:pt x="7786" y="0"/>
                  <a:pt x="7793" y="3"/>
                  <a:pt x="7800" y="5"/>
                </a:cubicBezTo>
                <a:cubicBezTo>
                  <a:pt x="7806" y="8"/>
                  <a:pt x="7812" y="12"/>
                  <a:pt x="7817" y="17"/>
                </a:cubicBezTo>
                <a:cubicBezTo>
                  <a:pt x="7822" y="22"/>
                  <a:pt x="7826" y="28"/>
                  <a:pt x="7828" y="34"/>
                </a:cubicBezTo>
                <a:cubicBezTo>
                  <a:pt x="7831" y="41"/>
                  <a:pt x="7832" y="47"/>
                  <a:pt x="7832" y="54"/>
                </a:cubicBezTo>
                <a:cubicBezTo>
                  <a:pt x="7832" y="61"/>
                  <a:pt x="7831" y="68"/>
                  <a:pt x="7828" y="75"/>
                </a:cubicBezTo>
                <a:cubicBezTo>
                  <a:pt x="7826" y="81"/>
                  <a:pt x="7822" y="87"/>
                  <a:pt x="7817" y="92"/>
                </a:cubicBezTo>
                <a:cubicBezTo>
                  <a:pt x="7812" y="97"/>
                  <a:pt x="7806" y="101"/>
                  <a:pt x="7800" y="103"/>
                </a:cubicBezTo>
                <a:cubicBezTo>
                  <a:pt x="7793" y="106"/>
                  <a:pt x="7786" y="108"/>
                  <a:pt x="7779" y="108"/>
                </a:cubicBezTo>
                <a:lnTo>
                  <a:pt x="52" y="108"/>
                </a:lnTo>
                <a:cubicBezTo>
                  <a:pt x="45" y="108"/>
                  <a:pt x="39" y="106"/>
                  <a:pt x="32" y="103"/>
                </a:cubicBezTo>
                <a:cubicBezTo>
                  <a:pt x="26" y="101"/>
                  <a:pt x="20" y="97"/>
                  <a:pt x="15" y="92"/>
                </a:cubicBezTo>
                <a:cubicBezTo>
                  <a:pt x="10" y="87"/>
                  <a:pt x="6" y="81"/>
                  <a:pt x="4" y="75"/>
                </a:cubicBezTo>
                <a:cubicBezTo>
                  <a:pt x="1" y="68"/>
                  <a:pt x="0" y="61"/>
                  <a:pt x="0" y="54"/>
                </a:cubicBez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任意形状 324"/>
          <p:cNvSpPr/>
          <p:nvPr/>
        </p:nvSpPr>
        <p:spPr>
          <a:xfrm>
            <a:off x="1485720" y="4248000"/>
            <a:ext cx="19440" cy="457560"/>
          </a:xfrm>
          <a:custGeom>
            <a:avLst/>
            <a:gdLst/>
            <a:ahLst/>
            <a:cxn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1A66C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文本框 325"/>
          <p:cNvSpPr txBox="1"/>
          <p:nvPr/>
        </p:nvSpPr>
        <p:spPr>
          <a:xfrm>
            <a:off x="10306080" y="914760"/>
            <a:ext cx="1433880" cy="18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9CA3AF"/>
                </a:solidFill>
                <a:effectLst/>
                <a:uFillTx/>
                <a:latin typeface="Roboto"/>
                <a:ea typeface="Roboto"/>
              </a:rPr>
              <a:t>GRADUATION PROJECT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27" name="图片 326"/>
          <p:cNvPicPr/>
          <p:nvPr/>
        </p:nvPicPr>
        <p:blipFill>
          <a:blip r:embed="rId6"/>
          <a:stretch/>
        </p:blipFill>
        <p:spPr>
          <a:xfrm>
            <a:off x="457200" y="2343240"/>
            <a:ext cx="207612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文本框 327"/>
          <p:cNvSpPr txBox="1"/>
          <p:nvPr/>
        </p:nvSpPr>
        <p:spPr>
          <a:xfrm>
            <a:off x="1007640" y="5158800"/>
            <a:ext cx="1000080" cy="26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2026.01-02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文本框 328"/>
          <p:cNvSpPr txBox="1"/>
          <p:nvPr/>
        </p:nvSpPr>
        <p:spPr>
          <a:xfrm>
            <a:off x="647640" y="2563920"/>
            <a:ext cx="514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1A66C2"/>
                </a:solidFill>
                <a:effectLst/>
                <a:uFillTx/>
                <a:latin typeface="Roboto"/>
                <a:ea typeface="Roboto"/>
              </a:rPr>
              <a:t>PHASE 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647640" y="277884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文献调研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任意形状 330"/>
          <p:cNvSpPr/>
          <p:nvPr/>
        </p:nvSpPr>
        <p:spPr>
          <a:xfrm>
            <a:off x="679320" y="3854160"/>
            <a:ext cx="89280" cy="64080"/>
          </a:xfrm>
          <a:custGeom>
            <a:avLst/>
            <a:gdLst/>
            <a:ahLst/>
            <a:cxnLst/>
            <a:rect l="0" t="0" r="r" b="b"/>
            <a:pathLst>
              <a:path w="248" h="178" fill="none">
                <a:moveTo>
                  <a:pt x="0" y="106"/>
                </a:moveTo>
                <a:lnTo>
                  <a:pt x="70" y="178"/>
                </a:lnTo>
                <a:lnTo>
                  <a:pt x="248" y="0"/>
                </a:lnTo>
              </a:path>
            </a:pathLst>
          </a:custGeom>
          <a:ln w="12600" cap="rnd">
            <a:solidFill>
              <a:srgbClr val="16A34A"/>
            </a:solidFill>
            <a:round/>
          </a:ln>
        </p:spPr>
        <p:txBody>
          <a:bodyPr lIns="6120" tIns="6120" rIns="6120" bIns="612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647640" y="299808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1F2937"/>
                </a:solidFill>
                <a:effectLst/>
                <a:uFillTx/>
                <a:latin typeface="NotoSansSC"/>
                <a:ea typeface="NotoSansSC"/>
              </a:rPr>
              <a:t>确定选题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33" name="图片 332"/>
          <p:cNvPicPr/>
          <p:nvPr/>
        </p:nvPicPr>
        <p:blipFill>
          <a:blip r:embed="rId7"/>
          <a:stretch/>
        </p:blipFill>
        <p:spPr>
          <a:xfrm>
            <a:off x="1771560" y="2343240"/>
            <a:ext cx="761760" cy="761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任意形状 333"/>
          <p:cNvSpPr/>
          <p:nvPr/>
        </p:nvSpPr>
        <p:spPr>
          <a:xfrm>
            <a:off x="3790440" y="4421160"/>
            <a:ext cx="20160" cy="400680"/>
          </a:xfrm>
          <a:custGeom>
            <a:avLst/>
            <a:gdLst/>
            <a:ahLst/>
            <a:cxnLst/>
            <a:rect l="0" t="0" r="r" b="b"/>
            <a:pathLst>
              <a:path w="56" h="1113">
                <a:moveTo>
                  <a:pt x="0" y="0"/>
                </a:moveTo>
                <a:lnTo>
                  <a:pt x="56" y="0"/>
                </a:lnTo>
                <a:lnTo>
                  <a:pt x="56" y="1113"/>
                </a:lnTo>
                <a:lnTo>
                  <a:pt x="0" y="1113"/>
                </a:lnTo>
                <a:lnTo>
                  <a:pt x="0" y="0"/>
                </a:ln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838080" y="3791160"/>
            <a:ext cx="4197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16A34A"/>
                </a:solidFill>
                <a:effectLst/>
                <a:uFillTx/>
                <a:latin typeface="NotoSansSC"/>
                <a:ea typeface="NotoSansSC"/>
              </a:rPr>
              <a:t>已完成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任意形状 335"/>
          <p:cNvSpPr/>
          <p:nvPr/>
        </p:nvSpPr>
        <p:spPr>
          <a:xfrm>
            <a:off x="2710080" y="2280960"/>
            <a:ext cx="2180880" cy="2060640"/>
          </a:xfrm>
          <a:custGeom>
            <a:avLst/>
            <a:gdLst/>
            <a:ahLst/>
            <a:cxnLst/>
            <a:rect l="0" t="0" r="r" b="b"/>
            <a:pathLst>
              <a:path w="6058" h="5724">
                <a:moveTo>
                  <a:pt x="0" y="5391"/>
                </a:moveTo>
                <a:lnTo>
                  <a:pt x="0" y="278"/>
                </a:lnTo>
                <a:cubicBezTo>
                  <a:pt x="0" y="260"/>
                  <a:pt x="3" y="242"/>
                  <a:pt x="7" y="224"/>
                </a:cubicBezTo>
                <a:cubicBezTo>
                  <a:pt x="11" y="206"/>
                  <a:pt x="17" y="189"/>
                  <a:pt x="26" y="172"/>
                </a:cubicBezTo>
                <a:cubicBezTo>
                  <a:pt x="34" y="155"/>
                  <a:pt x="45" y="139"/>
                  <a:pt x="57" y="124"/>
                </a:cubicBezTo>
                <a:cubicBezTo>
                  <a:pt x="69" y="109"/>
                  <a:pt x="83" y="95"/>
                  <a:pt x="98" y="82"/>
                </a:cubicBezTo>
                <a:cubicBezTo>
                  <a:pt x="114" y="69"/>
                  <a:pt x="130" y="57"/>
                  <a:pt x="149" y="47"/>
                </a:cubicBezTo>
                <a:cubicBezTo>
                  <a:pt x="167" y="37"/>
                  <a:pt x="186" y="28"/>
                  <a:pt x="206" y="21"/>
                </a:cubicBezTo>
                <a:cubicBezTo>
                  <a:pt x="227" y="14"/>
                  <a:pt x="247" y="9"/>
                  <a:pt x="269" y="6"/>
                </a:cubicBezTo>
                <a:cubicBezTo>
                  <a:pt x="290" y="2"/>
                  <a:pt x="312" y="0"/>
                  <a:pt x="334" y="0"/>
                </a:cubicBezTo>
                <a:lnTo>
                  <a:pt x="5724" y="0"/>
                </a:lnTo>
                <a:cubicBezTo>
                  <a:pt x="5746" y="0"/>
                  <a:pt x="5768" y="2"/>
                  <a:pt x="5789" y="6"/>
                </a:cubicBezTo>
                <a:cubicBezTo>
                  <a:pt x="5811" y="9"/>
                  <a:pt x="5832" y="14"/>
                  <a:pt x="5852" y="21"/>
                </a:cubicBezTo>
                <a:cubicBezTo>
                  <a:pt x="5872" y="28"/>
                  <a:pt x="5891" y="37"/>
                  <a:pt x="5910" y="47"/>
                </a:cubicBezTo>
                <a:cubicBezTo>
                  <a:pt x="5928" y="57"/>
                  <a:pt x="5945" y="69"/>
                  <a:pt x="5960" y="82"/>
                </a:cubicBezTo>
                <a:cubicBezTo>
                  <a:pt x="5976" y="95"/>
                  <a:pt x="5989" y="109"/>
                  <a:pt x="6002" y="124"/>
                </a:cubicBezTo>
                <a:cubicBezTo>
                  <a:pt x="6014" y="139"/>
                  <a:pt x="6024" y="155"/>
                  <a:pt x="6032" y="172"/>
                </a:cubicBezTo>
                <a:cubicBezTo>
                  <a:pt x="6041" y="189"/>
                  <a:pt x="6047" y="206"/>
                  <a:pt x="6051" y="224"/>
                </a:cubicBezTo>
                <a:cubicBezTo>
                  <a:pt x="6056" y="242"/>
                  <a:pt x="6058" y="260"/>
                  <a:pt x="6058" y="278"/>
                </a:cubicBezTo>
                <a:lnTo>
                  <a:pt x="6058" y="5391"/>
                </a:lnTo>
                <a:cubicBezTo>
                  <a:pt x="6058" y="5413"/>
                  <a:pt x="6056" y="5434"/>
                  <a:pt x="6051" y="5456"/>
                </a:cubicBezTo>
                <a:cubicBezTo>
                  <a:pt x="6047" y="5477"/>
                  <a:pt x="6041" y="5498"/>
                  <a:pt x="6032" y="5518"/>
                </a:cubicBezTo>
                <a:cubicBezTo>
                  <a:pt x="6024" y="5539"/>
                  <a:pt x="6014" y="5558"/>
                  <a:pt x="6002" y="5576"/>
                </a:cubicBezTo>
                <a:cubicBezTo>
                  <a:pt x="5989" y="5594"/>
                  <a:pt x="5976" y="5611"/>
                  <a:pt x="5960" y="5627"/>
                </a:cubicBezTo>
                <a:cubicBezTo>
                  <a:pt x="5945" y="5642"/>
                  <a:pt x="5928" y="5656"/>
                  <a:pt x="5910" y="5668"/>
                </a:cubicBezTo>
                <a:cubicBezTo>
                  <a:pt x="5891" y="5680"/>
                  <a:pt x="5872" y="5690"/>
                  <a:pt x="5852" y="5699"/>
                </a:cubicBezTo>
                <a:cubicBezTo>
                  <a:pt x="5832" y="5707"/>
                  <a:pt x="5811" y="5714"/>
                  <a:pt x="5789" y="5718"/>
                </a:cubicBezTo>
                <a:cubicBezTo>
                  <a:pt x="5768" y="5722"/>
                  <a:pt x="5746" y="5724"/>
                  <a:pt x="5724" y="5724"/>
                </a:cubicBezTo>
                <a:lnTo>
                  <a:pt x="334" y="5724"/>
                </a:lnTo>
                <a:cubicBezTo>
                  <a:pt x="312" y="5724"/>
                  <a:pt x="290" y="5722"/>
                  <a:pt x="269" y="5718"/>
                </a:cubicBezTo>
                <a:cubicBezTo>
                  <a:pt x="247" y="5714"/>
                  <a:pt x="227" y="5707"/>
                  <a:pt x="206" y="5699"/>
                </a:cubicBezTo>
                <a:cubicBezTo>
                  <a:pt x="186" y="5690"/>
                  <a:pt x="167" y="5680"/>
                  <a:pt x="149" y="5668"/>
                </a:cubicBezTo>
                <a:cubicBezTo>
                  <a:pt x="130" y="5656"/>
                  <a:pt x="114" y="5642"/>
                  <a:pt x="98" y="5627"/>
                </a:cubicBezTo>
                <a:cubicBezTo>
                  <a:pt x="83" y="5611"/>
                  <a:pt x="69" y="5594"/>
                  <a:pt x="57" y="5576"/>
                </a:cubicBezTo>
                <a:cubicBezTo>
                  <a:pt x="45" y="5558"/>
                  <a:pt x="34" y="5539"/>
                  <a:pt x="26" y="5518"/>
                </a:cubicBezTo>
                <a:cubicBezTo>
                  <a:pt x="17" y="5498"/>
                  <a:pt x="11" y="5477"/>
                  <a:pt x="7" y="5456"/>
                </a:cubicBezTo>
                <a:cubicBezTo>
                  <a:pt x="3" y="5434"/>
                  <a:pt x="0" y="5413"/>
                  <a:pt x="0" y="539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任意形状 336"/>
          <p:cNvSpPr/>
          <p:nvPr/>
        </p:nvSpPr>
        <p:spPr>
          <a:xfrm>
            <a:off x="2710080" y="2261160"/>
            <a:ext cx="2180880" cy="120240"/>
          </a:xfrm>
          <a:custGeom>
            <a:avLst/>
            <a:gdLst/>
            <a:ahLst/>
            <a:cxnLst/>
            <a:rect l="0" t="0" r="r" b="b"/>
            <a:pathLst>
              <a:path w="6058" h="334">
                <a:moveTo>
                  <a:pt x="6032" y="249"/>
                </a:moveTo>
                <a:cubicBezTo>
                  <a:pt x="6016" y="222"/>
                  <a:pt x="5991" y="197"/>
                  <a:pt x="5960" y="176"/>
                </a:cubicBezTo>
                <a:cubicBezTo>
                  <a:pt x="5929" y="155"/>
                  <a:pt x="5893" y="139"/>
                  <a:pt x="5852" y="128"/>
                </a:cubicBezTo>
                <a:cubicBezTo>
                  <a:pt x="5811" y="116"/>
                  <a:pt x="5769" y="111"/>
                  <a:pt x="5724" y="111"/>
                </a:cubicBezTo>
                <a:lnTo>
                  <a:pt x="334" y="111"/>
                </a:lnTo>
                <a:cubicBezTo>
                  <a:pt x="290" y="111"/>
                  <a:pt x="247" y="116"/>
                  <a:pt x="206" y="128"/>
                </a:cubicBezTo>
                <a:cubicBezTo>
                  <a:pt x="165" y="139"/>
                  <a:pt x="129" y="155"/>
                  <a:pt x="98" y="176"/>
                </a:cubicBezTo>
                <a:cubicBezTo>
                  <a:pt x="67" y="197"/>
                  <a:pt x="43" y="222"/>
                  <a:pt x="26" y="249"/>
                </a:cubicBezTo>
                <a:cubicBezTo>
                  <a:pt x="9" y="276"/>
                  <a:pt x="0" y="305"/>
                  <a:pt x="0" y="334"/>
                </a:cubicBezTo>
                <a:cubicBezTo>
                  <a:pt x="0" y="290"/>
                  <a:pt x="9" y="247"/>
                  <a:pt x="26" y="206"/>
                </a:cubicBezTo>
                <a:cubicBezTo>
                  <a:pt x="43" y="165"/>
                  <a:pt x="67" y="129"/>
                  <a:pt x="98" y="97"/>
                </a:cubicBezTo>
                <a:cubicBezTo>
                  <a:pt x="129" y="66"/>
                  <a:pt x="165" y="42"/>
                  <a:pt x="206" y="25"/>
                </a:cubicBezTo>
                <a:cubicBezTo>
                  <a:pt x="247" y="8"/>
                  <a:pt x="290" y="0"/>
                  <a:pt x="334" y="0"/>
                </a:cubicBezTo>
                <a:lnTo>
                  <a:pt x="5724" y="0"/>
                </a:lnTo>
                <a:cubicBezTo>
                  <a:pt x="5769" y="0"/>
                  <a:pt x="5811" y="8"/>
                  <a:pt x="5852" y="25"/>
                </a:cubicBezTo>
                <a:cubicBezTo>
                  <a:pt x="5893" y="42"/>
                  <a:pt x="5929" y="66"/>
                  <a:pt x="5960" y="97"/>
                </a:cubicBezTo>
                <a:cubicBezTo>
                  <a:pt x="5991" y="129"/>
                  <a:pt x="6016" y="165"/>
                  <a:pt x="6032" y="206"/>
                </a:cubicBezTo>
                <a:cubicBezTo>
                  <a:pt x="6049" y="247"/>
                  <a:pt x="6058" y="290"/>
                  <a:pt x="6058" y="334"/>
                </a:cubicBezTo>
                <a:cubicBezTo>
                  <a:pt x="6058" y="305"/>
                  <a:pt x="6049" y="276"/>
                  <a:pt x="6032" y="249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3343320" y="5365080"/>
            <a:ext cx="891720" cy="327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90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2026.03</a:t>
            </a:r>
            <a:endParaRPr lang="en-US" sz="18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2910600" y="2572920"/>
            <a:ext cx="5418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99600"/>
                </a:solidFill>
                <a:effectLst/>
                <a:uFillTx/>
                <a:latin typeface="Roboto"/>
                <a:ea typeface="Roboto"/>
              </a:rPr>
              <a:t>PHASE 02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2910600" y="2797560"/>
            <a:ext cx="8427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111827"/>
                </a:solidFill>
                <a:effectLst/>
                <a:uFillTx/>
                <a:latin typeface="NotoSansSC"/>
                <a:ea typeface="NotoSansSC"/>
              </a:rPr>
              <a:t>开题报告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任意形状 340"/>
          <p:cNvSpPr/>
          <p:nvPr/>
        </p:nvSpPr>
        <p:spPr>
          <a:xfrm>
            <a:off x="2910240" y="4081320"/>
            <a:ext cx="1780560" cy="60480"/>
          </a:xfrm>
          <a:custGeom>
            <a:avLst/>
            <a:gdLst/>
            <a:ahLst/>
            <a:cxnLst/>
            <a:rect l="0" t="0" r="r" b="b"/>
            <a:pathLst>
              <a:path w="4946" h="168">
                <a:moveTo>
                  <a:pt x="0" y="84"/>
                </a:moveTo>
                <a:cubicBezTo>
                  <a:pt x="0" y="73"/>
                  <a:pt x="2" y="63"/>
                  <a:pt x="6" y="52"/>
                </a:cubicBezTo>
                <a:cubicBezTo>
                  <a:pt x="11" y="42"/>
                  <a:pt x="17" y="32"/>
                  <a:pt x="25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lnTo>
                  <a:pt x="4863" y="0"/>
                </a:lnTo>
                <a:cubicBezTo>
                  <a:pt x="4874" y="0"/>
                  <a:pt x="4885" y="2"/>
                  <a:pt x="4895" y="6"/>
                </a:cubicBezTo>
                <a:cubicBezTo>
                  <a:pt x="4905" y="10"/>
                  <a:pt x="4914" y="16"/>
                  <a:pt x="4922" y="24"/>
                </a:cubicBezTo>
                <a:cubicBezTo>
                  <a:pt x="4930" y="32"/>
                  <a:pt x="4936" y="42"/>
                  <a:pt x="4940" y="52"/>
                </a:cubicBezTo>
                <a:cubicBezTo>
                  <a:pt x="4944" y="63"/>
                  <a:pt x="4946" y="73"/>
                  <a:pt x="4946" y="84"/>
                </a:cubicBezTo>
                <a:cubicBezTo>
                  <a:pt x="4946" y="95"/>
                  <a:pt x="4944" y="106"/>
                  <a:pt x="4940" y="116"/>
                </a:cubicBezTo>
                <a:cubicBezTo>
                  <a:pt x="4936" y="126"/>
                  <a:pt x="4930" y="135"/>
                  <a:pt x="4922" y="143"/>
                </a:cubicBezTo>
                <a:cubicBezTo>
                  <a:pt x="4914" y="151"/>
                  <a:pt x="4905" y="157"/>
                  <a:pt x="4895" y="161"/>
                </a:cubicBezTo>
                <a:cubicBezTo>
                  <a:pt x="4885" y="165"/>
                  <a:pt x="4874" y="168"/>
                  <a:pt x="4863" y="168"/>
                </a:cubicBezTo>
                <a:lnTo>
                  <a:pt x="83" y="168"/>
                </a:lnTo>
                <a:cubicBezTo>
                  <a:pt x="72" y="168"/>
                  <a:pt x="62" y="165"/>
                  <a:pt x="52" y="161"/>
                </a:cubicBezTo>
                <a:cubicBezTo>
                  <a:pt x="41" y="157"/>
                  <a:pt x="32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6"/>
                  <a:pt x="0" y="95"/>
                  <a:pt x="0" y="84"/>
                </a:cubicBezTo>
                <a:close/>
              </a:path>
            </a:pathLst>
          </a:custGeom>
          <a:solidFill>
            <a:srgbClr val="F3F4F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任意形状 341"/>
          <p:cNvSpPr/>
          <p:nvPr/>
        </p:nvSpPr>
        <p:spPr>
          <a:xfrm>
            <a:off x="2910240" y="4081320"/>
            <a:ext cx="1070640" cy="60480"/>
          </a:xfrm>
          <a:custGeom>
            <a:avLst/>
            <a:gdLst/>
            <a:ahLst/>
            <a:cxnLst/>
            <a:rect l="0" t="0" r="r" b="b"/>
            <a:pathLst>
              <a:path w="2974" h="168">
                <a:moveTo>
                  <a:pt x="0" y="84"/>
                </a:moveTo>
                <a:cubicBezTo>
                  <a:pt x="0" y="73"/>
                  <a:pt x="2" y="63"/>
                  <a:pt x="6" y="52"/>
                </a:cubicBezTo>
                <a:cubicBezTo>
                  <a:pt x="11" y="42"/>
                  <a:pt x="17" y="32"/>
                  <a:pt x="25" y="24"/>
                </a:cubicBezTo>
                <a:cubicBezTo>
                  <a:pt x="32" y="16"/>
                  <a:pt x="41" y="10"/>
                  <a:pt x="52" y="6"/>
                </a:cubicBezTo>
                <a:cubicBezTo>
                  <a:pt x="62" y="2"/>
                  <a:pt x="72" y="0"/>
                  <a:pt x="83" y="0"/>
                </a:cubicBezTo>
                <a:lnTo>
                  <a:pt x="2890" y="0"/>
                </a:lnTo>
                <a:cubicBezTo>
                  <a:pt x="2901" y="0"/>
                  <a:pt x="2912" y="2"/>
                  <a:pt x="2922" y="6"/>
                </a:cubicBezTo>
                <a:cubicBezTo>
                  <a:pt x="2932" y="10"/>
                  <a:pt x="2941" y="16"/>
                  <a:pt x="2949" y="24"/>
                </a:cubicBezTo>
                <a:cubicBezTo>
                  <a:pt x="2957" y="32"/>
                  <a:pt x="2963" y="42"/>
                  <a:pt x="2967" y="52"/>
                </a:cubicBezTo>
                <a:cubicBezTo>
                  <a:pt x="2972" y="63"/>
                  <a:pt x="2974" y="73"/>
                  <a:pt x="2974" y="84"/>
                </a:cubicBezTo>
                <a:cubicBezTo>
                  <a:pt x="2974" y="95"/>
                  <a:pt x="2972" y="106"/>
                  <a:pt x="2967" y="116"/>
                </a:cubicBezTo>
                <a:cubicBezTo>
                  <a:pt x="2963" y="126"/>
                  <a:pt x="2957" y="135"/>
                  <a:pt x="2949" y="143"/>
                </a:cubicBezTo>
                <a:cubicBezTo>
                  <a:pt x="2941" y="151"/>
                  <a:pt x="2932" y="157"/>
                  <a:pt x="2922" y="161"/>
                </a:cubicBezTo>
                <a:cubicBezTo>
                  <a:pt x="2912" y="165"/>
                  <a:pt x="2901" y="168"/>
                  <a:pt x="2890" y="168"/>
                </a:cubicBezTo>
                <a:lnTo>
                  <a:pt x="83" y="168"/>
                </a:lnTo>
                <a:cubicBezTo>
                  <a:pt x="72" y="168"/>
                  <a:pt x="62" y="165"/>
                  <a:pt x="52" y="161"/>
                </a:cubicBezTo>
                <a:cubicBezTo>
                  <a:pt x="41" y="157"/>
                  <a:pt x="32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6"/>
                  <a:pt x="0" y="95"/>
                  <a:pt x="0" y="84"/>
                </a:cubicBez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3" name="图片 342"/>
          <p:cNvPicPr/>
          <p:nvPr/>
        </p:nvPicPr>
        <p:blipFill>
          <a:blip r:embed="rId8"/>
          <a:stretch/>
        </p:blipFill>
        <p:spPr>
          <a:xfrm>
            <a:off x="3410640" y="2181240"/>
            <a:ext cx="779760" cy="23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文本框 343"/>
          <p:cNvSpPr txBox="1"/>
          <p:nvPr/>
        </p:nvSpPr>
        <p:spPr>
          <a:xfrm>
            <a:off x="2910600" y="3047400"/>
            <a:ext cx="1053360" cy="289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80" b="0" u="none" strike="noStrike">
                <a:solidFill>
                  <a:srgbClr val="111827"/>
                </a:solidFill>
                <a:effectLst/>
                <a:uFillTx/>
                <a:latin typeface="NotoSansSC"/>
                <a:ea typeface="NotoSansSC"/>
              </a:rPr>
              <a:t>撰写与答辩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5" name="图片 344"/>
          <p:cNvPicPr/>
          <p:nvPr/>
        </p:nvPicPr>
        <p:blipFill>
          <a:blip r:embed="rId9"/>
          <a:stretch/>
        </p:blipFill>
        <p:spPr>
          <a:xfrm>
            <a:off x="3640680" y="4901400"/>
            <a:ext cx="319680" cy="31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图片 345"/>
          <p:cNvPicPr/>
          <p:nvPr/>
        </p:nvPicPr>
        <p:blipFill>
          <a:blip r:embed="rId10"/>
          <a:stretch/>
        </p:blipFill>
        <p:spPr>
          <a:xfrm>
            <a:off x="3760560" y="5021640"/>
            <a:ext cx="79560" cy="7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任意形状 346"/>
          <p:cNvSpPr/>
          <p:nvPr/>
        </p:nvSpPr>
        <p:spPr>
          <a:xfrm>
            <a:off x="6086160" y="4248000"/>
            <a:ext cx="19440" cy="457560"/>
          </a:xfrm>
          <a:custGeom>
            <a:avLst/>
            <a:gdLst/>
            <a:ahLst/>
            <a:cxn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3528360" y="2212920"/>
            <a:ext cx="540000" cy="1634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39" b="0" u="none" strike="noStrike">
                <a:solidFill>
                  <a:srgbClr val="FFFFFF"/>
                </a:solidFill>
                <a:effectLst/>
                <a:uFillTx/>
                <a:latin typeface="Roboto"/>
                <a:ea typeface="Roboto"/>
              </a:rPr>
              <a:t>CURRENT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9" name="图片 348"/>
          <p:cNvPicPr/>
          <p:nvPr/>
        </p:nvPicPr>
        <p:blipFill>
          <a:blip r:embed="rId11"/>
          <a:stretch/>
        </p:blipFill>
        <p:spPr>
          <a:xfrm>
            <a:off x="5057640" y="2343240"/>
            <a:ext cx="207612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文本框 349"/>
          <p:cNvSpPr txBox="1"/>
          <p:nvPr/>
        </p:nvSpPr>
        <p:spPr>
          <a:xfrm>
            <a:off x="5657760" y="5131800"/>
            <a:ext cx="900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2026.03-04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文本框 350"/>
          <p:cNvSpPr txBox="1"/>
          <p:nvPr/>
        </p:nvSpPr>
        <p:spPr>
          <a:xfrm>
            <a:off x="5250240" y="2563920"/>
            <a:ext cx="514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Roboto"/>
                <a:ea typeface="Roboto"/>
              </a:rPr>
              <a:t>PHASE 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5250240" y="277884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核心算法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文本框 352"/>
          <p:cNvSpPr txBox="1"/>
          <p:nvPr/>
        </p:nvSpPr>
        <p:spPr>
          <a:xfrm>
            <a:off x="5250240" y="2998080"/>
            <a:ext cx="90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实现与优化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4" name="图片 353"/>
          <p:cNvPicPr/>
          <p:nvPr/>
        </p:nvPicPr>
        <p:blipFill>
          <a:blip r:embed="rId12"/>
          <a:stretch/>
        </p:blipFill>
        <p:spPr>
          <a:xfrm>
            <a:off x="6000840" y="478152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任意形状 354"/>
          <p:cNvSpPr/>
          <p:nvPr/>
        </p:nvSpPr>
        <p:spPr>
          <a:xfrm>
            <a:off x="8391240" y="4248000"/>
            <a:ext cx="19440" cy="457560"/>
          </a:xfrm>
          <a:custGeom>
            <a:avLst/>
            <a:gdLst/>
            <a:ahLst/>
            <a:cxn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文本框 355"/>
          <p:cNvSpPr txBox="1"/>
          <p:nvPr/>
        </p:nvSpPr>
        <p:spPr>
          <a:xfrm>
            <a:off x="5250240" y="3791160"/>
            <a:ext cx="4197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待开始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7" name="图片 356"/>
          <p:cNvPicPr/>
          <p:nvPr/>
        </p:nvPicPr>
        <p:blipFill>
          <a:blip r:embed="rId13"/>
          <a:stretch/>
        </p:blipFill>
        <p:spPr>
          <a:xfrm>
            <a:off x="7362720" y="2343240"/>
            <a:ext cx="206640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8" name="文本框 357"/>
          <p:cNvSpPr txBox="1"/>
          <p:nvPr/>
        </p:nvSpPr>
        <p:spPr>
          <a:xfrm>
            <a:off x="7958880" y="5131800"/>
            <a:ext cx="900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2026.04-05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7551360" y="2563920"/>
            <a:ext cx="514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Roboto"/>
                <a:ea typeface="Roboto"/>
              </a:rPr>
              <a:t>PHASE 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文本框 359"/>
          <p:cNvSpPr txBox="1"/>
          <p:nvPr/>
        </p:nvSpPr>
        <p:spPr>
          <a:xfrm>
            <a:off x="7551360" y="277884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系统集成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文本框 360"/>
          <p:cNvSpPr txBox="1"/>
          <p:nvPr/>
        </p:nvSpPr>
        <p:spPr>
          <a:xfrm>
            <a:off x="7551360" y="2998080"/>
            <a:ext cx="90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测试与论文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2" name="图片 361"/>
          <p:cNvPicPr/>
          <p:nvPr/>
        </p:nvPicPr>
        <p:blipFill>
          <a:blip r:embed="rId14"/>
          <a:stretch/>
        </p:blipFill>
        <p:spPr>
          <a:xfrm>
            <a:off x="8305920" y="478152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任意形状 362"/>
          <p:cNvSpPr/>
          <p:nvPr/>
        </p:nvSpPr>
        <p:spPr>
          <a:xfrm>
            <a:off x="10686960" y="4248000"/>
            <a:ext cx="19440" cy="457560"/>
          </a:xfrm>
          <a:custGeom>
            <a:avLst/>
            <a:gdLst/>
            <a:ahLst/>
            <a:cxnLst/>
            <a:rect l="0" t="0" r="r" b="b"/>
            <a:pathLst>
              <a:path w="54" h="1271">
                <a:moveTo>
                  <a:pt x="0" y="0"/>
                </a:moveTo>
                <a:lnTo>
                  <a:pt x="54" y="0"/>
                </a:lnTo>
                <a:lnTo>
                  <a:pt x="54" y="1271"/>
                </a:lnTo>
                <a:lnTo>
                  <a:pt x="0" y="1271"/>
                </a:lnTo>
                <a:lnTo>
                  <a:pt x="0" y="0"/>
                </a:ln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文本框 363"/>
          <p:cNvSpPr txBox="1"/>
          <p:nvPr/>
        </p:nvSpPr>
        <p:spPr>
          <a:xfrm>
            <a:off x="7551360" y="3791160"/>
            <a:ext cx="41976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待开始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65" name="图片 364"/>
          <p:cNvPicPr/>
          <p:nvPr/>
        </p:nvPicPr>
        <p:blipFill>
          <a:blip r:embed="rId15"/>
          <a:stretch/>
        </p:blipFill>
        <p:spPr>
          <a:xfrm>
            <a:off x="9658440" y="2343240"/>
            <a:ext cx="2076120" cy="1828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文本框 365"/>
          <p:cNvSpPr txBox="1"/>
          <p:nvPr/>
        </p:nvSpPr>
        <p:spPr>
          <a:xfrm>
            <a:off x="10260360" y="5131800"/>
            <a:ext cx="90000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6B7280"/>
                </a:solidFill>
                <a:effectLst/>
                <a:uFillTx/>
                <a:latin typeface="Roboto"/>
                <a:ea typeface="Roboto"/>
              </a:rPr>
              <a:t>2026.05-06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文本框 366"/>
          <p:cNvSpPr txBox="1"/>
          <p:nvPr/>
        </p:nvSpPr>
        <p:spPr>
          <a:xfrm>
            <a:off x="9852480" y="2563920"/>
            <a:ext cx="514440" cy="15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9CA3AF"/>
                </a:solidFill>
                <a:effectLst/>
                <a:uFillTx/>
                <a:latin typeface="Roboto"/>
                <a:ea typeface="Roboto"/>
              </a:rPr>
              <a:t>PHASE 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文本框 367"/>
          <p:cNvSpPr txBox="1"/>
          <p:nvPr/>
        </p:nvSpPr>
        <p:spPr>
          <a:xfrm>
            <a:off x="9852480" y="2778840"/>
            <a:ext cx="72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论文修改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文本框 368"/>
          <p:cNvSpPr txBox="1"/>
          <p:nvPr/>
        </p:nvSpPr>
        <p:spPr>
          <a:xfrm>
            <a:off x="9852480" y="2998080"/>
            <a:ext cx="900000" cy="247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374151"/>
                </a:solidFill>
                <a:effectLst/>
                <a:uFillTx/>
                <a:latin typeface="NotoSansSC"/>
                <a:ea typeface="NotoSansSC"/>
              </a:rPr>
              <a:t>查重与答辩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0" name="图片 369"/>
          <p:cNvPicPr/>
          <p:nvPr/>
        </p:nvPicPr>
        <p:blipFill>
          <a:blip r:embed="rId16"/>
          <a:stretch/>
        </p:blipFill>
        <p:spPr>
          <a:xfrm>
            <a:off x="10601280" y="4781520"/>
            <a:ext cx="19008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1" name="图片 370"/>
          <p:cNvPicPr/>
          <p:nvPr/>
        </p:nvPicPr>
        <p:blipFill>
          <a:blip r:embed="rId17"/>
          <a:stretch/>
        </p:blipFill>
        <p:spPr>
          <a:xfrm>
            <a:off x="1380960" y="47815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文本框 371"/>
          <p:cNvSpPr txBox="1"/>
          <p:nvPr/>
        </p:nvSpPr>
        <p:spPr>
          <a:xfrm>
            <a:off x="9852480" y="3791160"/>
            <a:ext cx="559800" cy="19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50" b="0" u="none" strike="noStrike">
                <a:solidFill>
                  <a:srgbClr val="9CA3AF"/>
                </a:solidFill>
                <a:effectLst/>
                <a:uFillTx/>
                <a:latin typeface="NotoSansSC"/>
                <a:ea typeface="NotoSansSC"/>
              </a:rPr>
              <a:t>最终目标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任意形状 3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74" name="图片 373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5" name="图片 374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6" name="图片 375"/>
          <p:cNvPicPr/>
          <p:nvPr/>
        </p:nvPicPr>
        <p:blipFill>
          <a:blip r:embed="rId4"/>
          <a:stretch/>
        </p:blipFill>
        <p:spPr>
          <a:xfrm>
            <a:off x="1219320" y="-121932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任意形状 376"/>
          <p:cNvSpPr/>
          <p:nvPr/>
        </p:nvSpPr>
        <p:spPr>
          <a:xfrm>
            <a:off x="3790800" y="2219040"/>
            <a:ext cx="609840" cy="19440"/>
          </a:xfrm>
          <a:custGeom>
            <a:avLst/>
            <a:gdLst/>
            <a:ahLst/>
            <a:cxnLst/>
            <a:rect l="0" t="0" r="r" b="b"/>
            <a:pathLst>
              <a:path w="1694" h="54">
                <a:moveTo>
                  <a:pt x="0" y="0"/>
                </a:moveTo>
                <a:lnTo>
                  <a:pt x="1694" y="0"/>
                </a:lnTo>
                <a:lnTo>
                  <a:pt x="169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文本框 377"/>
          <p:cNvSpPr txBox="1"/>
          <p:nvPr/>
        </p:nvSpPr>
        <p:spPr>
          <a:xfrm>
            <a:off x="4939560" y="822600"/>
            <a:ext cx="2400120" cy="132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72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致 谢</a:t>
            </a:r>
            <a:endParaRPr lang="en-US" sz="7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文本框 378"/>
          <p:cNvSpPr txBox="1"/>
          <p:nvPr/>
        </p:nvSpPr>
        <p:spPr>
          <a:xfrm>
            <a:off x="4552920" y="2047320"/>
            <a:ext cx="195012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T H A N K S  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文本框 379"/>
          <p:cNvSpPr txBox="1"/>
          <p:nvPr/>
        </p:nvSpPr>
        <p:spPr>
          <a:xfrm>
            <a:off x="6343560" y="2047320"/>
            <a:ext cx="45000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&amp;  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任意形状 380"/>
          <p:cNvSpPr/>
          <p:nvPr/>
        </p:nvSpPr>
        <p:spPr>
          <a:xfrm>
            <a:off x="7791120" y="2219040"/>
            <a:ext cx="610200" cy="19440"/>
          </a:xfrm>
          <a:custGeom>
            <a:avLst/>
            <a:gdLst/>
            <a:ahLst/>
            <a:cxnLst/>
            <a:rect l="0" t="0" r="r" b="b"/>
            <a:pathLst>
              <a:path w="1695" h="54">
                <a:moveTo>
                  <a:pt x="0" y="0"/>
                </a:moveTo>
                <a:lnTo>
                  <a:pt x="1695" y="0"/>
                </a:lnTo>
                <a:lnTo>
                  <a:pt x="1695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F9960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文本框 381"/>
          <p:cNvSpPr txBox="1"/>
          <p:nvPr/>
        </p:nvSpPr>
        <p:spPr>
          <a:xfrm>
            <a:off x="6781680" y="2047320"/>
            <a:ext cx="766440" cy="390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250" b="0" u="none" strike="noStrike">
                <a:solidFill>
                  <a:srgbClr val="1A66C2"/>
                </a:solidFill>
                <a:effectLst/>
                <a:uFillTx/>
                <a:latin typeface="NotoSansSC"/>
                <a:ea typeface="NotoSansSC"/>
              </a:rPr>
              <a:t>Q &amp; A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文本框 382"/>
          <p:cNvSpPr txBox="1"/>
          <p:nvPr/>
        </p:nvSpPr>
        <p:spPr>
          <a:xfrm>
            <a:off x="3009960" y="3300480"/>
            <a:ext cx="6481080" cy="497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700" b="0" u="none" strike="noStrike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感谢各位专家老师的悉心指导与批评指正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84" name="图片 383"/>
          <p:cNvPicPr/>
          <p:nvPr/>
        </p:nvPicPr>
        <p:blipFill>
          <a:blip r:embed="rId5"/>
          <a:stretch/>
        </p:blipFill>
        <p:spPr>
          <a:xfrm>
            <a:off x="2733840" y="5086440"/>
            <a:ext cx="6733800" cy="93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任意形状 384"/>
          <p:cNvSpPr/>
          <p:nvPr/>
        </p:nvSpPr>
        <p:spPr>
          <a:xfrm>
            <a:off x="3200040" y="532440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6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4" y="819"/>
                </a:cubicBezTo>
                <a:cubicBezTo>
                  <a:pt x="1238" y="839"/>
                  <a:pt x="1231" y="858"/>
                  <a:pt x="1223" y="878"/>
                </a:cubicBezTo>
                <a:cubicBezTo>
                  <a:pt x="1215" y="897"/>
                  <a:pt x="1206" y="916"/>
                  <a:pt x="1197" y="934"/>
                </a:cubicBezTo>
                <a:cubicBezTo>
                  <a:pt x="1187" y="952"/>
                  <a:pt x="1176" y="970"/>
                  <a:pt x="1164" y="987"/>
                </a:cubicBezTo>
                <a:cubicBezTo>
                  <a:pt x="1153" y="1005"/>
                  <a:pt x="1141" y="1021"/>
                  <a:pt x="1127" y="1038"/>
                </a:cubicBezTo>
                <a:cubicBezTo>
                  <a:pt x="1114" y="1054"/>
                  <a:pt x="1100" y="1069"/>
                  <a:pt x="1086" y="1085"/>
                </a:cubicBezTo>
                <a:cubicBezTo>
                  <a:pt x="1071" y="1099"/>
                  <a:pt x="1055" y="1113"/>
                  <a:pt x="1039" y="1127"/>
                </a:cubicBezTo>
                <a:cubicBezTo>
                  <a:pt x="1023" y="1140"/>
                  <a:pt x="1007" y="1152"/>
                  <a:pt x="989" y="1164"/>
                </a:cubicBezTo>
                <a:cubicBezTo>
                  <a:pt x="972" y="1175"/>
                  <a:pt x="954" y="1186"/>
                  <a:pt x="936" y="1196"/>
                </a:cubicBezTo>
                <a:cubicBezTo>
                  <a:pt x="917" y="1206"/>
                  <a:pt x="899" y="1214"/>
                  <a:pt x="880" y="1222"/>
                </a:cubicBezTo>
                <a:cubicBezTo>
                  <a:pt x="860" y="1230"/>
                  <a:pt x="841" y="1237"/>
                  <a:pt x="821" y="1243"/>
                </a:cubicBezTo>
                <a:cubicBezTo>
                  <a:pt x="801" y="1249"/>
                  <a:pt x="781" y="1254"/>
                  <a:pt x="760" y="1259"/>
                </a:cubicBezTo>
                <a:cubicBezTo>
                  <a:pt x="740" y="1263"/>
                  <a:pt x="719" y="1266"/>
                  <a:pt x="699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4" y="1270"/>
                  <a:pt x="573" y="1268"/>
                </a:cubicBezTo>
                <a:cubicBezTo>
                  <a:pt x="553" y="1266"/>
                  <a:pt x="532" y="1263"/>
                  <a:pt x="512" y="1259"/>
                </a:cubicBezTo>
                <a:cubicBezTo>
                  <a:pt x="491" y="1254"/>
                  <a:pt x="471" y="1249"/>
                  <a:pt x="451" y="1243"/>
                </a:cubicBezTo>
                <a:cubicBezTo>
                  <a:pt x="431" y="1237"/>
                  <a:pt x="412" y="1230"/>
                  <a:pt x="392" y="1222"/>
                </a:cubicBezTo>
                <a:cubicBezTo>
                  <a:pt x="373" y="1214"/>
                  <a:pt x="355" y="1206"/>
                  <a:pt x="336" y="1196"/>
                </a:cubicBezTo>
                <a:cubicBezTo>
                  <a:pt x="318" y="1186"/>
                  <a:pt x="300" y="1175"/>
                  <a:pt x="283" y="1164"/>
                </a:cubicBezTo>
                <a:cubicBezTo>
                  <a:pt x="265" y="1152"/>
                  <a:pt x="249" y="1140"/>
                  <a:pt x="233" y="1127"/>
                </a:cubicBezTo>
                <a:cubicBezTo>
                  <a:pt x="217" y="1113"/>
                  <a:pt x="201" y="1099"/>
                  <a:pt x="186" y="1085"/>
                </a:cubicBezTo>
                <a:cubicBezTo>
                  <a:pt x="172" y="1069"/>
                  <a:pt x="158" y="1054"/>
                  <a:pt x="145" y="1038"/>
                </a:cubicBezTo>
                <a:cubicBezTo>
                  <a:pt x="131" y="1021"/>
                  <a:pt x="119" y="1005"/>
                  <a:pt x="108" y="987"/>
                </a:cubicBezTo>
                <a:cubicBezTo>
                  <a:pt x="96" y="970"/>
                  <a:pt x="85" y="952"/>
                  <a:pt x="75" y="934"/>
                </a:cubicBezTo>
                <a:cubicBezTo>
                  <a:pt x="66" y="916"/>
                  <a:pt x="57" y="897"/>
                  <a:pt x="49" y="878"/>
                </a:cubicBezTo>
                <a:cubicBezTo>
                  <a:pt x="41" y="858"/>
                  <a:pt x="34" y="839"/>
                  <a:pt x="28" y="819"/>
                </a:cubicBezTo>
                <a:cubicBezTo>
                  <a:pt x="22" y="799"/>
                  <a:pt x="17" y="779"/>
                  <a:pt x="13" y="759"/>
                </a:cubicBezTo>
                <a:cubicBezTo>
                  <a:pt x="9" y="738"/>
                  <a:pt x="6" y="718"/>
                  <a:pt x="4" y="697"/>
                </a:cubicBezTo>
                <a:cubicBezTo>
                  <a:pt x="2" y="676"/>
                  <a:pt x="0" y="656"/>
                  <a:pt x="0" y="635"/>
                </a:cubicBezTo>
                <a:cubicBezTo>
                  <a:pt x="0" y="614"/>
                  <a:pt x="2" y="593"/>
                  <a:pt x="4" y="572"/>
                </a:cubicBezTo>
                <a:cubicBezTo>
                  <a:pt x="6" y="552"/>
                  <a:pt x="9" y="531"/>
                  <a:pt x="13" y="511"/>
                </a:cubicBezTo>
                <a:cubicBezTo>
                  <a:pt x="17" y="490"/>
                  <a:pt x="22" y="470"/>
                  <a:pt x="28" y="450"/>
                </a:cubicBezTo>
                <a:cubicBezTo>
                  <a:pt x="34" y="430"/>
                  <a:pt x="41" y="411"/>
                  <a:pt x="49" y="392"/>
                </a:cubicBezTo>
                <a:cubicBezTo>
                  <a:pt x="57" y="372"/>
                  <a:pt x="66" y="354"/>
                  <a:pt x="75" y="335"/>
                </a:cubicBezTo>
                <a:cubicBezTo>
                  <a:pt x="85" y="317"/>
                  <a:pt x="96" y="299"/>
                  <a:pt x="108" y="282"/>
                </a:cubicBezTo>
                <a:cubicBezTo>
                  <a:pt x="119" y="265"/>
                  <a:pt x="131" y="248"/>
                  <a:pt x="145" y="232"/>
                </a:cubicBezTo>
                <a:cubicBezTo>
                  <a:pt x="158" y="216"/>
                  <a:pt x="172" y="200"/>
                  <a:pt x="186" y="186"/>
                </a:cubicBezTo>
                <a:cubicBezTo>
                  <a:pt x="201" y="171"/>
                  <a:pt x="217" y="157"/>
                  <a:pt x="233" y="144"/>
                </a:cubicBezTo>
                <a:cubicBezTo>
                  <a:pt x="249" y="131"/>
                  <a:pt x="265" y="118"/>
                  <a:pt x="283" y="107"/>
                </a:cubicBezTo>
                <a:cubicBezTo>
                  <a:pt x="300" y="95"/>
                  <a:pt x="318" y="84"/>
                  <a:pt x="336" y="75"/>
                </a:cubicBezTo>
                <a:cubicBezTo>
                  <a:pt x="355" y="65"/>
                  <a:pt x="373" y="56"/>
                  <a:pt x="392" y="48"/>
                </a:cubicBezTo>
                <a:cubicBezTo>
                  <a:pt x="412" y="40"/>
                  <a:pt x="431" y="33"/>
                  <a:pt x="451" y="27"/>
                </a:cubicBezTo>
                <a:cubicBezTo>
                  <a:pt x="471" y="21"/>
                  <a:pt x="491" y="16"/>
                  <a:pt x="512" y="12"/>
                </a:cubicBezTo>
                <a:cubicBezTo>
                  <a:pt x="532" y="8"/>
                  <a:pt x="553" y="5"/>
                  <a:pt x="573" y="3"/>
                </a:cubicBezTo>
                <a:cubicBezTo>
                  <a:pt x="594" y="1"/>
                  <a:pt x="615" y="0"/>
                  <a:pt x="636" y="0"/>
                </a:cubicBezTo>
                <a:cubicBezTo>
                  <a:pt x="657" y="0"/>
                  <a:pt x="678" y="1"/>
                  <a:pt x="699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1" y="16"/>
                  <a:pt x="801" y="21"/>
                  <a:pt x="821" y="27"/>
                </a:cubicBezTo>
                <a:cubicBezTo>
                  <a:pt x="841" y="33"/>
                  <a:pt x="860" y="40"/>
                  <a:pt x="880" y="48"/>
                </a:cubicBezTo>
                <a:cubicBezTo>
                  <a:pt x="899" y="56"/>
                  <a:pt x="917" y="65"/>
                  <a:pt x="936" y="75"/>
                </a:cubicBezTo>
                <a:cubicBezTo>
                  <a:pt x="954" y="84"/>
                  <a:pt x="972" y="95"/>
                  <a:pt x="989" y="107"/>
                </a:cubicBezTo>
                <a:cubicBezTo>
                  <a:pt x="1007" y="118"/>
                  <a:pt x="1023" y="131"/>
                  <a:pt x="1039" y="144"/>
                </a:cubicBezTo>
                <a:cubicBezTo>
                  <a:pt x="1055" y="157"/>
                  <a:pt x="1071" y="171"/>
                  <a:pt x="1086" y="186"/>
                </a:cubicBezTo>
                <a:cubicBezTo>
                  <a:pt x="1100" y="200"/>
                  <a:pt x="1114" y="216"/>
                  <a:pt x="1127" y="232"/>
                </a:cubicBezTo>
                <a:cubicBezTo>
                  <a:pt x="1141" y="248"/>
                  <a:pt x="1153" y="265"/>
                  <a:pt x="1164" y="282"/>
                </a:cubicBezTo>
                <a:cubicBezTo>
                  <a:pt x="1176" y="299"/>
                  <a:pt x="1187" y="317"/>
                  <a:pt x="1197" y="335"/>
                </a:cubicBezTo>
                <a:cubicBezTo>
                  <a:pt x="1206" y="354"/>
                  <a:pt x="1215" y="372"/>
                  <a:pt x="1223" y="392"/>
                </a:cubicBezTo>
                <a:cubicBezTo>
                  <a:pt x="1231" y="411"/>
                  <a:pt x="1238" y="430"/>
                  <a:pt x="1244" y="450"/>
                </a:cubicBezTo>
                <a:cubicBezTo>
                  <a:pt x="1250" y="470"/>
                  <a:pt x="1255" y="490"/>
                  <a:pt x="1259" y="511"/>
                </a:cubicBezTo>
                <a:cubicBezTo>
                  <a:pt x="1263" y="531"/>
                  <a:pt x="1266" y="552"/>
                  <a:pt x="1268" y="572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任意形状 385"/>
          <p:cNvSpPr/>
          <p:nvPr/>
        </p:nvSpPr>
        <p:spPr>
          <a:xfrm>
            <a:off x="3342960" y="5486040"/>
            <a:ext cx="172080" cy="133920"/>
          </a:xfrm>
          <a:custGeom>
            <a:avLst/>
            <a:gdLst/>
            <a:ahLst/>
            <a:cxnLst/>
            <a:rect l="0" t="0" r="r" b="b"/>
            <a:pathLst>
              <a:path w="478" h="372" fill="none">
                <a:moveTo>
                  <a:pt x="0" y="80"/>
                </a:moveTo>
                <a:lnTo>
                  <a:pt x="209" y="220"/>
                </a:lnTo>
                <a:cubicBezTo>
                  <a:pt x="218" y="226"/>
                  <a:pt x="228" y="229"/>
                  <a:pt x="238" y="229"/>
                </a:cubicBezTo>
                <a:cubicBezTo>
                  <a:pt x="249" y="229"/>
                  <a:pt x="259" y="226"/>
                  <a:pt x="268" y="220"/>
                </a:cubicBezTo>
                <a:lnTo>
                  <a:pt x="478" y="80"/>
                </a:lnTo>
                <a:moveTo>
                  <a:pt x="53" y="372"/>
                </a:moveTo>
                <a:lnTo>
                  <a:pt x="424" y="372"/>
                </a:lnTo>
                <a:cubicBezTo>
                  <a:pt x="431" y="372"/>
                  <a:pt x="437" y="371"/>
                  <a:pt x="444" y="368"/>
                </a:cubicBezTo>
                <a:cubicBezTo>
                  <a:pt x="450" y="365"/>
                  <a:pt x="456" y="361"/>
                  <a:pt x="461" y="356"/>
                </a:cubicBezTo>
                <a:cubicBezTo>
                  <a:pt x="466" y="351"/>
                  <a:pt x="470" y="346"/>
                  <a:pt x="474" y="339"/>
                </a:cubicBezTo>
                <a:cubicBezTo>
                  <a:pt x="476" y="333"/>
                  <a:pt x="478" y="326"/>
                  <a:pt x="478" y="319"/>
                </a:cubicBezTo>
                <a:lnTo>
                  <a:pt x="478" y="53"/>
                </a:lnTo>
                <a:cubicBezTo>
                  <a:pt x="478" y="46"/>
                  <a:pt x="476" y="40"/>
                  <a:pt x="474" y="33"/>
                </a:cubicBezTo>
                <a:cubicBezTo>
                  <a:pt x="470" y="27"/>
                  <a:pt x="466" y="21"/>
                  <a:pt x="461" y="16"/>
                </a:cubicBezTo>
                <a:cubicBezTo>
                  <a:pt x="456" y="11"/>
                  <a:pt x="450" y="7"/>
                  <a:pt x="444" y="5"/>
                </a:cubicBezTo>
                <a:cubicBezTo>
                  <a:pt x="437" y="2"/>
                  <a:pt x="431" y="0"/>
                  <a:pt x="424" y="0"/>
                </a:cubicBezTo>
                <a:lnTo>
                  <a:pt x="53" y="0"/>
                </a:lnTo>
                <a:cubicBezTo>
                  <a:pt x="46" y="0"/>
                  <a:pt x="40" y="2"/>
                  <a:pt x="33" y="5"/>
                </a:cubicBezTo>
                <a:cubicBezTo>
                  <a:pt x="27" y="7"/>
                  <a:pt x="21" y="11"/>
                  <a:pt x="16" y="16"/>
                </a:cubicBezTo>
                <a:cubicBezTo>
                  <a:pt x="11" y="21"/>
                  <a:pt x="7" y="27"/>
                  <a:pt x="4" y="33"/>
                </a:cubicBezTo>
                <a:cubicBezTo>
                  <a:pt x="2" y="40"/>
                  <a:pt x="0" y="46"/>
                  <a:pt x="0" y="53"/>
                </a:cubicBezTo>
                <a:lnTo>
                  <a:pt x="0" y="319"/>
                </a:lnTo>
                <a:cubicBezTo>
                  <a:pt x="0" y="326"/>
                  <a:pt x="2" y="333"/>
                  <a:pt x="4" y="339"/>
                </a:cubicBezTo>
                <a:cubicBezTo>
                  <a:pt x="7" y="346"/>
                  <a:pt x="11" y="351"/>
                  <a:pt x="16" y="356"/>
                </a:cubicBezTo>
                <a:cubicBezTo>
                  <a:pt x="21" y="361"/>
                  <a:pt x="27" y="365"/>
                  <a:pt x="33" y="368"/>
                </a:cubicBezTo>
                <a:cubicBezTo>
                  <a:pt x="40" y="371"/>
                  <a:pt x="46" y="372"/>
                  <a:pt x="53" y="372"/>
                </a:cubicBez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文本框 386"/>
          <p:cNvSpPr txBox="1"/>
          <p:nvPr/>
        </p:nvSpPr>
        <p:spPr>
          <a:xfrm>
            <a:off x="5181480" y="4023000"/>
            <a:ext cx="1920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666666"/>
                </a:solidFill>
                <a:effectLst/>
                <a:uFillTx/>
                <a:latin typeface="NotoSansSC"/>
                <a:ea typeface="NotoSansSC"/>
              </a:rPr>
              <a:t>欢迎提出宝贵意见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任意形状 387"/>
          <p:cNvSpPr/>
          <p:nvPr/>
        </p:nvSpPr>
        <p:spPr>
          <a:xfrm>
            <a:off x="6419520" y="5400360"/>
            <a:ext cx="10080" cy="305280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D1D5DB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任意形状 388"/>
          <p:cNvSpPr/>
          <p:nvPr/>
        </p:nvSpPr>
        <p:spPr>
          <a:xfrm>
            <a:off x="7038720" y="5324400"/>
            <a:ext cx="457560" cy="457560"/>
          </a:xfrm>
          <a:custGeom>
            <a:avLst/>
            <a:gdLst/>
            <a:ahLst/>
            <a:cxnLst/>
            <a:rect l="0" t="0" r="r" b="b"/>
            <a:pathLst>
              <a:path w="1271" h="1271">
                <a:moveTo>
                  <a:pt x="1271" y="635"/>
                </a:moveTo>
                <a:cubicBezTo>
                  <a:pt x="1271" y="656"/>
                  <a:pt x="1270" y="676"/>
                  <a:pt x="1268" y="697"/>
                </a:cubicBezTo>
                <a:cubicBezTo>
                  <a:pt x="1266" y="718"/>
                  <a:pt x="1263" y="738"/>
                  <a:pt x="1259" y="759"/>
                </a:cubicBezTo>
                <a:cubicBezTo>
                  <a:pt x="1255" y="779"/>
                  <a:pt x="1250" y="799"/>
                  <a:pt x="1244" y="819"/>
                </a:cubicBezTo>
                <a:cubicBezTo>
                  <a:pt x="1238" y="839"/>
                  <a:pt x="1231" y="858"/>
                  <a:pt x="1223" y="878"/>
                </a:cubicBezTo>
                <a:cubicBezTo>
                  <a:pt x="1215" y="897"/>
                  <a:pt x="1206" y="916"/>
                  <a:pt x="1196" y="934"/>
                </a:cubicBezTo>
                <a:cubicBezTo>
                  <a:pt x="1186" y="952"/>
                  <a:pt x="1176" y="970"/>
                  <a:pt x="1164" y="987"/>
                </a:cubicBezTo>
                <a:cubicBezTo>
                  <a:pt x="1153" y="1005"/>
                  <a:pt x="1140" y="1021"/>
                  <a:pt x="1127" y="1038"/>
                </a:cubicBezTo>
                <a:cubicBezTo>
                  <a:pt x="1114" y="1054"/>
                  <a:pt x="1100" y="1069"/>
                  <a:pt x="1085" y="1085"/>
                </a:cubicBezTo>
                <a:cubicBezTo>
                  <a:pt x="1071" y="1099"/>
                  <a:pt x="1055" y="1113"/>
                  <a:pt x="1039" y="1127"/>
                </a:cubicBezTo>
                <a:cubicBezTo>
                  <a:pt x="1023" y="1140"/>
                  <a:pt x="1006" y="1152"/>
                  <a:pt x="989" y="1164"/>
                </a:cubicBezTo>
                <a:cubicBezTo>
                  <a:pt x="972" y="1175"/>
                  <a:pt x="954" y="1186"/>
                  <a:pt x="936" y="1196"/>
                </a:cubicBezTo>
                <a:cubicBezTo>
                  <a:pt x="917" y="1206"/>
                  <a:pt x="898" y="1214"/>
                  <a:pt x="879" y="1222"/>
                </a:cubicBezTo>
                <a:cubicBezTo>
                  <a:pt x="860" y="1230"/>
                  <a:pt x="840" y="1237"/>
                  <a:pt x="821" y="1243"/>
                </a:cubicBezTo>
                <a:cubicBezTo>
                  <a:pt x="801" y="1249"/>
                  <a:pt x="780" y="1254"/>
                  <a:pt x="760" y="1259"/>
                </a:cubicBezTo>
                <a:cubicBezTo>
                  <a:pt x="740" y="1263"/>
                  <a:pt x="719" y="1266"/>
                  <a:pt x="698" y="1268"/>
                </a:cubicBezTo>
                <a:cubicBezTo>
                  <a:pt x="678" y="1270"/>
                  <a:pt x="657" y="1271"/>
                  <a:pt x="636" y="1271"/>
                </a:cubicBezTo>
                <a:cubicBezTo>
                  <a:pt x="615" y="1271"/>
                  <a:pt x="595" y="1270"/>
                  <a:pt x="574" y="1268"/>
                </a:cubicBezTo>
                <a:cubicBezTo>
                  <a:pt x="553" y="1266"/>
                  <a:pt x="533" y="1263"/>
                  <a:pt x="512" y="1259"/>
                </a:cubicBezTo>
                <a:cubicBezTo>
                  <a:pt x="492" y="1254"/>
                  <a:pt x="472" y="1249"/>
                  <a:pt x="452" y="1243"/>
                </a:cubicBezTo>
                <a:cubicBezTo>
                  <a:pt x="432" y="1237"/>
                  <a:pt x="412" y="1230"/>
                  <a:pt x="393" y="1222"/>
                </a:cubicBezTo>
                <a:cubicBezTo>
                  <a:pt x="374" y="1214"/>
                  <a:pt x="355" y="1206"/>
                  <a:pt x="337" y="1196"/>
                </a:cubicBezTo>
                <a:cubicBezTo>
                  <a:pt x="319" y="1186"/>
                  <a:pt x="301" y="1175"/>
                  <a:pt x="283" y="1164"/>
                </a:cubicBezTo>
                <a:cubicBezTo>
                  <a:pt x="266" y="1152"/>
                  <a:pt x="249" y="1140"/>
                  <a:pt x="233" y="1127"/>
                </a:cubicBezTo>
                <a:cubicBezTo>
                  <a:pt x="217" y="1113"/>
                  <a:pt x="202" y="1099"/>
                  <a:pt x="187" y="1085"/>
                </a:cubicBezTo>
                <a:cubicBezTo>
                  <a:pt x="172" y="1069"/>
                  <a:pt x="159" y="1054"/>
                  <a:pt x="145" y="1038"/>
                </a:cubicBezTo>
                <a:cubicBezTo>
                  <a:pt x="132" y="1021"/>
                  <a:pt x="120" y="1005"/>
                  <a:pt x="107" y="987"/>
                </a:cubicBezTo>
                <a:cubicBezTo>
                  <a:pt x="96" y="970"/>
                  <a:pt x="85" y="952"/>
                  <a:pt x="75" y="934"/>
                </a:cubicBezTo>
                <a:cubicBezTo>
                  <a:pt x="65" y="916"/>
                  <a:pt x="57" y="897"/>
                  <a:pt x="49" y="878"/>
                </a:cubicBezTo>
                <a:cubicBezTo>
                  <a:pt x="41" y="858"/>
                  <a:pt x="34" y="839"/>
                  <a:pt x="28" y="819"/>
                </a:cubicBezTo>
                <a:cubicBezTo>
                  <a:pt x="22" y="799"/>
                  <a:pt x="16" y="779"/>
                  <a:pt x="12" y="759"/>
                </a:cubicBezTo>
                <a:cubicBezTo>
                  <a:pt x="8" y="738"/>
                  <a:pt x="5" y="718"/>
                  <a:pt x="3" y="697"/>
                </a:cubicBezTo>
                <a:cubicBezTo>
                  <a:pt x="1" y="676"/>
                  <a:pt x="0" y="656"/>
                  <a:pt x="0" y="635"/>
                </a:cubicBezTo>
                <a:cubicBezTo>
                  <a:pt x="0" y="614"/>
                  <a:pt x="1" y="593"/>
                  <a:pt x="3" y="572"/>
                </a:cubicBezTo>
                <a:cubicBezTo>
                  <a:pt x="5" y="552"/>
                  <a:pt x="8" y="531"/>
                  <a:pt x="12" y="511"/>
                </a:cubicBezTo>
                <a:cubicBezTo>
                  <a:pt x="16" y="490"/>
                  <a:pt x="22" y="470"/>
                  <a:pt x="28" y="450"/>
                </a:cubicBezTo>
                <a:cubicBezTo>
                  <a:pt x="34" y="430"/>
                  <a:pt x="41" y="411"/>
                  <a:pt x="49" y="392"/>
                </a:cubicBezTo>
                <a:cubicBezTo>
                  <a:pt x="57" y="372"/>
                  <a:pt x="65" y="354"/>
                  <a:pt x="75" y="335"/>
                </a:cubicBezTo>
                <a:cubicBezTo>
                  <a:pt x="85" y="317"/>
                  <a:pt x="96" y="299"/>
                  <a:pt x="107" y="282"/>
                </a:cubicBezTo>
                <a:cubicBezTo>
                  <a:pt x="120" y="265"/>
                  <a:pt x="132" y="248"/>
                  <a:pt x="145" y="232"/>
                </a:cubicBezTo>
                <a:cubicBezTo>
                  <a:pt x="159" y="216"/>
                  <a:pt x="172" y="200"/>
                  <a:pt x="187" y="186"/>
                </a:cubicBezTo>
                <a:cubicBezTo>
                  <a:pt x="202" y="171"/>
                  <a:pt x="217" y="157"/>
                  <a:pt x="233" y="144"/>
                </a:cubicBezTo>
                <a:cubicBezTo>
                  <a:pt x="249" y="131"/>
                  <a:pt x="266" y="118"/>
                  <a:pt x="283" y="107"/>
                </a:cubicBezTo>
                <a:cubicBezTo>
                  <a:pt x="301" y="95"/>
                  <a:pt x="319" y="84"/>
                  <a:pt x="337" y="75"/>
                </a:cubicBezTo>
                <a:cubicBezTo>
                  <a:pt x="355" y="65"/>
                  <a:pt x="374" y="56"/>
                  <a:pt x="393" y="48"/>
                </a:cubicBezTo>
                <a:cubicBezTo>
                  <a:pt x="412" y="40"/>
                  <a:pt x="432" y="33"/>
                  <a:pt x="452" y="27"/>
                </a:cubicBezTo>
                <a:cubicBezTo>
                  <a:pt x="472" y="21"/>
                  <a:pt x="492" y="16"/>
                  <a:pt x="512" y="12"/>
                </a:cubicBezTo>
                <a:cubicBezTo>
                  <a:pt x="533" y="8"/>
                  <a:pt x="553" y="5"/>
                  <a:pt x="574" y="3"/>
                </a:cubicBezTo>
                <a:cubicBezTo>
                  <a:pt x="595" y="1"/>
                  <a:pt x="615" y="0"/>
                  <a:pt x="636" y="0"/>
                </a:cubicBezTo>
                <a:cubicBezTo>
                  <a:pt x="657" y="0"/>
                  <a:pt x="678" y="1"/>
                  <a:pt x="698" y="3"/>
                </a:cubicBezTo>
                <a:cubicBezTo>
                  <a:pt x="719" y="5"/>
                  <a:pt x="740" y="8"/>
                  <a:pt x="760" y="12"/>
                </a:cubicBezTo>
                <a:cubicBezTo>
                  <a:pt x="780" y="16"/>
                  <a:pt x="801" y="21"/>
                  <a:pt x="821" y="27"/>
                </a:cubicBezTo>
                <a:cubicBezTo>
                  <a:pt x="840" y="33"/>
                  <a:pt x="860" y="40"/>
                  <a:pt x="879" y="48"/>
                </a:cubicBezTo>
                <a:cubicBezTo>
                  <a:pt x="898" y="56"/>
                  <a:pt x="917" y="65"/>
                  <a:pt x="936" y="75"/>
                </a:cubicBezTo>
                <a:cubicBezTo>
                  <a:pt x="954" y="84"/>
                  <a:pt x="972" y="95"/>
                  <a:pt x="989" y="107"/>
                </a:cubicBezTo>
                <a:cubicBezTo>
                  <a:pt x="1006" y="118"/>
                  <a:pt x="1023" y="131"/>
                  <a:pt x="1039" y="144"/>
                </a:cubicBezTo>
                <a:cubicBezTo>
                  <a:pt x="1055" y="157"/>
                  <a:pt x="1071" y="171"/>
                  <a:pt x="1085" y="186"/>
                </a:cubicBezTo>
                <a:cubicBezTo>
                  <a:pt x="1100" y="200"/>
                  <a:pt x="1114" y="216"/>
                  <a:pt x="1127" y="232"/>
                </a:cubicBezTo>
                <a:cubicBezTo>
                  <a:pt x="1140" y="248"/>
                  <a:pt x="1153" y="265"/>
                  <a:pt x="1164" y="282"/>
                </a:cubicBezTo>
                <a:cubicBezTo>
                  <a:pt x="1176" y="299"/>
                  <a:pt x="1186" y="317"/>
                  <a:pt x="1196" y="335"/>
                </a:cubicBezTo>
                <a:cubicBezTo>
                  <a:pt x="1206" y="354"/>
                  <a:pt x="1215" y="372"/>
                  <a:pt x="1223" y="392"/>
                </a:cubicBezTo>
                <a:cubicBezTo>
                  <a:pt x="1231" y="411"/>
                  <a:pt x="1238" y="430"/>
                  <a:pt x="1244" y="450"/>
                </a:cubicBezTo>
                <a:cubicBezTo>
                  <a:pt x="1250" y="470"/>
                  <a:pt x="1255" y="490"/>
                  <a:pt x="1259" y="511"/>
                </a:cubicBezTo>
                <a:cubicBezTo>
                  <a:pt x="1263" y="531"/>
                  <a:pt x="1266" y="552"/>
                  <a:pt x="1268" y="572"/>
                </a:cubicBezTo>
                <a:cubicBezTo>
                  <a:pt x="1270" y="593"/>
                  <a:pt x="1271" y="614"/>
                  <a:pt x="1271" y="635"/>
                </a:cubicBezTo>
                <a:close/>
              </a:path>
            </a:pathLst>
          </a:custGeom>
          <a:solidFill>
            <a:srgbClr val="E6F0F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任意形状 389"/>
          <p:cNvSpPr/>
          <p:nvPr/>
        </p:nvSpPr>
        <p:spPr>
          <a:xfrm>
            <a:off x="7181640" y="5467320"/>
            <a:ext cx="171720" cy="171720"/>
          </a:xfrm>
          <a:custGeom>
            <a:avLst/>
            <a:gdLst/>
            <a:ahLst/>
            <a:cxnLst/>
            <a:rect l="0" t="0" r="r" b="b"/>
            <a:pathLst>
              <a:path w="477" h="477" fill="none">
                <a:moveTo>
                  <a:pt x="0" y="52"/>
                </a:moveTo>
                <a:cubicBezTo>
                  <a:pt x="0" y="45"/>
                  <a:pt x="1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lnTo>
                  <a:pt x="140" y="0"/>
                </a:lnTo>
                <a:cubicBezTo>
                  <a:pt x="145" y="0"/>
                  <a:pt x="151" y="1"/>
                  <a:pt x="155" y="5"/>
                </a:cubicBezTo>
                <a:cubicBezTo>
                  <a:pt x="160" y="8"/>
                  <a:pt x="163" y="12"/>
                  <a:pt x="165" y="18"/>
                </a:cubicBezTo>
                <a:lnTo>
                  <a:pt x="204" y="137"/>
                </a:lnTo>
                <a:cubicBezTo>
                  <a:pt x="207" y="143"/>
                  <a:pt x="206" y="149"/>
                  <a:pt x="204" y="155"/>
                </a:cubicBezTo>
                <a:cubicBezTo>
                  <a:pt x="201" y="161"/>
                  <a:pt x="197" y="166"/>
                  <a:pt x="191" y="169"/>
                </a:cubicBezTo>
                <a:lnTo>
                  <a:pt x="132" y="198"/>
                </a:lnTo>
                <a:cubicBezTo>
                  <a:pt x="146" y="231"/>
                  <a:pt x="166" y="260"/>
                  <a:pt x="191" y="286"/>
                </a:cubicBezTo>
                <a:cubicBezTo>
                  <a:pt x="216" y="311"/>
                  <a:pt x="245" y="331"/>
                  <a:pt x="277" y="345"/>
                </a:cubicBezTo>
                <a:lnTo>
                  <a:pt x="308" y="286"/>
                </a:lnTo>
                <a:cubicBezTo>
                  <a:pt x="311" y="279"/>
                  <a:pt x="316" y="275"/>
                  <a:pt x="322" y="272"/>
                </a:cubicBezTo>
                <a:cubicBezTo>
                  <a:pt x="328" y="270"/>
                  <a:pt x="334" y="269"/>
                  <a:pt x="340" y="271"/>
                </a:cubicBezTo>
                <a:lnTo>
                  <a:pt x="459" y="312"/>
                </a:lnTo>
                <a:cubicBezTo>
                  <a:pt x="465" y="314"/>
                  <a:pt x="469" y="317"/>
                  <a:pt x="472" y="322"/>
                </a:cubicBezTo>
                <a:cubicBezTo>
                  <a:pt x="476" y="326"/>
                  <a:pt x="477" y="331"/>
                  <a:pt x="477" y="337"/>
                </a:cubicBezTo>
                <a:lnTo>
                  <a:pt x="477" y="424"/>
                </a:lnTo>
                <a:cubicBezTo>
                  <a:pt x="477" y="431"/>
                  <a:pt x="476" y="438"/>
                  <a:pt x="473" y="444"/>
                </a:cubicBezTo>
                <a:cubicBezTo>
                  <a:pt x="471" y="451"/>
                  <a:pt x="467" y="456"/>
                  <a:pt x="462" y="461"/>
                </a:cubicBezTo>
                <a:cubicBezTo>
                  <a:pt x="457" y="466"/>
                  <a:pt x="451" y="470"/>
                  <a:pt x="445" y="473"/>
                </a:cubicBezTo>
                <a:cubicBezTo>
                  <a:pt x="438" y="475"/>
                  <a:pt x="431" y="477"/>
                  <a:pt x="424" y="477"/>
                </a:cubicBezTo>
                <a:lnTo>
                  <a:pt x="398" y="477"/>
                </a:lnTo>
                <a:cubicBezTo>
                  <a:pt x="178" y="477"/>
                  <a:pt x="0" y="299"/>
                  <a:pt x="0" y="79"/>
                </a:cubicBezTo>
                <a:lnTo>
                  <a:pt x="0" y="52"/>
                </a:lnTo>
              </a:path>
            </a:pathLst>
          </a:custGeom>
          <a:ln w="18720" cap="rnd">
            <a:solidFill>
              <a:srgbClr val="1A66C2"/>
            </a:solidFill>
            <a:round/>
          </a:ln>
        </p:spPr>
        <p:txBody>
          <a:bodyPr lIns="9360" tIns="9360" rIns="9360" bIns="936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文本框 390"/>
          <p:cNvSpPr txBox="1"/>
          <p:nvPr/>
        </p:nvSpPr>
        <p:spPr>
          <a:xfrm>
            <a:off x="3805200" y="5425560"/>
            <a:ext cx="2034211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 dirty="0" err="1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chuandonglei@gmail.com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文本框 391"/>
          <p:cNvSpPr txBox="1"/>
          <p:nvPr/>
        </p:nvSpPr>
        <p:spPr>
          <a:xfrm>
            <a:off x="7648560" y="5425560"/>
            <a:ext cx="1194238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dirty="0">
                <a:solidFill>
                  <a:srgbClr val="1A4471"/>
                </a:solidFill>
                <a:latin typeface="NotoSansSC"/>
                <a:ea typeface="NotoSansSC"/>
              </a:rPr>
              <a:t>153</a:t>
            </a:r>
            <a:r>
              <a:rPr lang="en-US" sz="1500" b="0" u="none" strike="noStrike" dirty="0">
                <a:solidFill>
                  <a:srgbClr val="1A4471"/>
                </a:solidFill>
                <a:effectLst/>
                <a:uFillTx/>
                <a:latin typeface="NotoSansSC"/>
                <a:ea typeface="NotoSansSC"/>
              </a:rPr>
              <a:t>-7764-5337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871</Words>
  <Application>Microsoft Macintosh PowerPoint</Application>
  <PresentationFormat>宽屏</PresentationFormat>
  <Paragraphs>229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NotoSansCJKsc</vt:lpstr>
      <vt:lpstr>NotoSansSC</vt:lpstr>
      <vt:lpstr>Arial</vt:lpstr>
      <vt:lpstr>Courier New</vt:lpstr>
      <vt:lpstr>Roboto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T160978</cp:lastModifiedBy>
  <cp:revision>3</cp:revision>
  <dcterms:modified xsi:type="dcterms:W3CDTF">2026-03-12T11:52:08Z</dcterms:modified>
  <dc:language>en-US</dc:language>
</cp:coreProperties>
</file>