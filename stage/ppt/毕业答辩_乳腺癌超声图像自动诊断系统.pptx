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257.png" ContentType="image/png"/>
  <Override PartName="/ppt/media/image256.png" ContentType="image/png"/>
  <Override PartName="/ppt/media/image255.png" ContentType="image/png"/>
  <Override PartName="/ppt/media/image254.png" ContentType="image/png"/>
  <Override PartName="/ppt/media/image253.png" ContentType="image/png"/>
  <Override PartName="/ppt/media/image252.png" ContentType="image/png"/>
  <Override PartName="/ppt/media/image251.png" ContentType="image/png"/>
  <Override PartName="/ppt/media/image250.png" ContentType="image/png"/>
  <Override PartName="/ppt/media/image249.png" ContentType="image/png"/>
  <Override PartName="/ppt/media/image248.png" ContentType="image/png"/>
  <Override PartName="/ppt/media/image247.png" ContentType="image/png"/>
  <Override PartName="/ppt/media/image246.png" ContentType="image/png"/>
  <Override PartName="/ppt/media/image245.png" ContentType="image/png"/>
  <Override PartName="/ppt/media/image244.png" ContentType="image/png"/>
  <Override PartName="/ppt/media/image243.png" ContentType="image/png"/>
  <Override PartName="/ppt/media/image242.png" ContentType="image/png"/>
  <Override PartName="/ppt/media/image241.png" ContentType="image/png"/>
  <Override PartName="/ppt/media/image240.png" ContentType="image/png"/>
  <Override PartName="/ppt/media/image239.png" ContentType="image/png"/>
  <Override PartName="/ppt/media/image238.png" ContentType="image/png"/>
  <Override PartName="/ppt/media/image237.png" ContentType="image/png"/>
  <Override PartName="/ppt/media/image236.png" ContentType="image/png"/>
  <Override PartName="/ppt/media/image235.png" ContentType="image/png"/>
  <Override PartName="/ppt/media/image234.png" ContentType="image/png"/>
  <Override PartName="/ppt/media/image233.png" ContentType="image/png"/>
  <Override PartName="/ppt/media/image232.png" ContentType="image/png"/>
  <Override PartName="/ppt/media/image231.png" ContentType="image/png"/>
  <Override PartName="/ppt/media/image230.png" ContentType="image/png"/>
  <Override PartName="/ppt/media/image229.png" ContentType="image/png"/>
  <Override PartName="/ppt/media/image228.png" ContentType="image/png"/>
  <Override PartName="/ppt/media/image227.png" ContentType="image/png"/>
  <Override PartName="/ppt/media/image226.png" ContentType="image/png"/>
  <Override PartName="/ppt/media/image225.png" ContentType="image/png"/>
  <Override PartName="/ppt/media/image224.png" ContentType="image/png"/>
  <Override PartName="/ppt/media/image223.png" ContentType="image/png"/>
  <Override PartName="/ppt/media/image222.png" ContentType="image/png"/>
  <Override PartName="/ppt/media/image221.png" ContentType="image/png"/>
  <Override PartName="/ppt/media/image220.png" ContentType="image/png"/>
  <Override PartName="/ppt/media/image219.png" ContentType="image/png"/>
  <Override PartName="/ppt/media/image190.png" ContentType="image/png"/>
  <Override PartName="/ppt/media/image218.png" ContentType="image/png"/>
  <Override PartName="/ppt/media/image217.png" ContentType="image/png"/>
  <Override PartName="/ppt/media/image216.png" ContentType="image/png"/>
  <Override PartName="/ppt/media/image215.png" ContentType="image/png"/>
  <Override PartName="/ppt/media/image214.png" ContentType="image/png"/>
  <Override PartName="/ppt/media/image213.png" ContentType="image/png"/>
  <Override PartName="/ppt/media/image212.png" ContentType="image/png"/>
  <Override PartName="/ppt/media/image211.png" ContentType="image/png"/>
  <Override PartName="/ppt/media/image210.png" ContentType="image/png"/>
  <Override PartName="/ppt/media/image209.png" ContentType="image/png"/>
  <Override PartName="/ppt/media/image180.png" ContentType="image/png"/>
  <Override PartName="/ppt/media/image208.png" ContentType="image/png"/>
  <Override PartName="/ppt/media/image207.png" ContentType="image/png"/>
  <Override PartName="/ppt/media/image206.png" ContentType="image/png"/>
  <Override PartName="/ppt/media/image205.png" ContentType="image/png"/>
  <Override PartName="/ppt/media/image204.png" ContentType="image/png"/>
  <Override PartName="/ppt/media/image203.png" ContentType="image/png"/>
  <Override PartName="/ppt/media/image202.png" ContentType="image/png"/>
  <Override PartName="/ppt/media/image156.png" ContentType="image/png"/>
  <Override PartName="/ppt/media/image56.png" ContentType="image/png"/>
  <Override PartName="/ppt/media/image101.png" ContentType="image/png"/>
  <Override PartName="/ppt/media/image100.png" ContentType="image/png"/>
  <Override PartName="/ppt/media/image146.png" ContentType="image/png"/>
  <Override PartName="/ppt/media/image46.png" ContentType="image/png"/>
  <Override PartName="/ppt/media/image145.png" ContentType="image/png"/>
  <Override PartName="/ppt/media/image339.png" ContentType="image/png"/>
  <Override PartName="/ppt/media/image45.png" ContentType="image/png"/>
  <Override PartName="/ppt/media/image144.png" ContentType="image/png"/>
  <Override PartName="/ppt/media/image338.png" ContentType="image/png"/>
  <Override PartName="/ppt/media/image44.png" ContentType="image/png"/>
  <Override PartName="/ppt/media/image143.png" ContentType="image/png"/>
  <Override PartName="/ppt/media/image337.png" ContentType="image/png"/>
  <Override PartName="/ppt/media/image43.png" ContentType="image/png"/>
  <Override PartName="/ppt/media/image142.png" ContentType="image/png"/>
  <Override PartName="/ppt/media/image336.png" ContentType="image/png"/>
  <Override PartName="/ppt/media/image42.png" ContentType="image/png"/>
  <Override PartName="/ppt/media/image141.png" ContentType="image/png"/>
  <Override PartName="/ppt/media/image335.png" ContentType="image/png"/>
  <Override PartName="/ppt/media/image41.png" ContentType="image/png"/>
  <Override PartName="/ppt/media/image140.png" ContentType="image/png"/>
  <Override PartName="/ppt/media/image334.png" ContentType="image/png"/>
  <Override PartName="/ppt/media/image40.png" ContentType="image/png"/>
  <Override PartName="/ppt/media/image132.png" ContentType="image/png"/>
  <Override PartName="/ppt/media/image326.png" ContentType="image/png"/>
  <Override PartName="/ppt/media/image32.png" ContentType="image/png"/>
  <Override PartName="/ppt/media/image131.png" ContentType="image/png"/>
  <Override PartName="/ppt/media/image325.png" ContentType="image/png"/>
  <Override PartName="/ppt/media/image31.png" ContentType="image/png"/>
  <Override PartName="/ppt/media/image130.png" ContentType="image/png"/>
  <Override PartName="/ppt/media/image324.png" ContentType="image/png"/>
  <Override PartName="/ppt/media/image30.png" ContentType="image/png"/>
  <Override PartName="/ppt/media/image150.png" ContentType="image/png"/>
  <Override PartName="/ppt/media/image344.png" ContentType="image/png"/>
  <Override PartName="/ppt/media/image50.png" ContentType="image/png"/>
  <Override PartName="/ppt/media/image4.png" ContentType="image/png"/>
  <Override PartName="/ppt/media/image136.png" ContentType="image/png"/>
  <Override PartName="/ppt/media/image36.png" ContentType="image/png"/>
  <Override PartName="/ppt/media/image155.png" ContentType="image/png"/>
  <Override PartName="/ppt/media/image349.png" ContentType="image/png"/>
  <Override PartName="/ppt/media/image55.png" ContentType="image/png"/>
  <Override PartName="/ppt/media/image9.png" ContentType="image/png"/>
  <Override PartName="/ppt/media/image157.png" ContentType="image/png"/>
  <Override PartName="/ppt/media/image75.png" ContentType="image/png"/>
  <Override PartName="/ppt/media/image175.png" ContentType="image/png"/>
  <Override PartName="/ppt/media/image107.png" ContentType="image/png"/>
  <Override PartName="/ppt/media/image272.png" ContentType="image/png"/>
  <Override PartName="/ppt/media/image191.png" ContentType="image/png"/>
  <Override PartName="/ppt/media/image91.png" ContentType="image/png"/>
  <Override PartName="/ppt/media/image23.png" ContentType="image/png"/>
  <Override PartName="/ppt/media/image178.png" ContentType="image/png"/>
  <Override PartName="/ppt/media/image78.png" ContentType="image/png"/>
  <Override PartName="/ppt/media/image194.png" ContentType="image/png"/>
  <Override PartName="/ppt/media/image26.png" ContentType="image/png"/>
  <Override PartName="/ppt/media/image94.png" ContentType="image/png"/>
  <Override PartName="/ppt/media/image126.png" ContentType="image/png"/>
  <Override PartName="/ppt/media/image291.png" ContentType="image/png"/>
  <Override PartName="/ppt/media/image179.png" ContentType="image/png"/>
  <Override PartName="/ppt/media/image79.png" ContentType="image/png"/>
  <Override PartName="/ppt/media/image185.png" ContentType="image/png"/>
  <Override PartName="/ppt/media/image85.png" ContentType="image/png"/>
  <Override PartName="/ppt/media/image17.png" ContentType="image/png"/>
  <Override PartName="/ppt/media/image117.png" ContentType="image/png"/>
  <Override PartName="/ppt/media/image282.png" ContentType="image/png"/>
  <Override PartName="/ppt/media/image188.png" ContentType="image/png"/>
  <Override PartName="/ppt/media/image88.png" ContentType="image/png"/>
  <Override PartName="/ppt/media/image189.png" ContentType="image/png"/>
  <Override PartName="/ppt/media/image89.png" ContentType="image/png"/>
  <Override PartName="/ppt/media/image195.png" ContentType="image/png"/>
  <Override PartName="/ppt/media/image95.png" ContentType="image/png"/>
  <Override PartName="/ppt/media/image27.png" ContentType="image/png"/>
  <Override PartName="/ppt/media/image192.png" ContentType="image/png"/>
  <Override PartName="/ppt/media/image24.png" ContentType="image/png"/>
  <Override PartName="/ppt/media/image92.png" ContentType="image/png"/>
  <Override PartName="/ppt/media/image127.png" ContentType="image/png"/>
  <Override PartName="/ppt/media/image292.png" ContentType="image/png"/>
  <Override PartName="/ppt/media/image196.png" ContentType="image/png"/>
  <Override PartName="/ppt/media/image96.png" ContentType="image/png"/>
  <Override PartName="/ppt/media/image28.png" ContentType="image/png"/>
  <Override PartName="/ppt/media/image193.png" ContentType="image/png"/>
  <Override PartName="/ppt/media/image319.png" ContentType="image/png"/>
  <Override PartName="/ppt/media/image290.png" ContentType="image/png"/>
  <Override PartName="/ppt/media/image125.png" ContentType="image/png"/>
  <Override PartName="/ppt/media/image25.png" ContentType="image/png"/>
  <Override PartName="/ppt/media/image93.png" ContentType="image/png"/>
  <Override PartName="/ppt/media/image128.png" ContentType="image/png"/>
  <Override PartName="/ppt/media/image293.png" ContentType="image/png"/>
  <Override PartName="/ppt/media/image197.png" ContentType="image/png"/>
  <Override PartName="/ppt/media/image97.png" ContentType="image/png"/>
  <Override PartName="/ppt/media/image29.png" ContentType="image/png"/>
  <Override PartName="/ppt/media/image200.png" ContentType="image/png"/>
  <Override PartName="/ppt/media/image198.png" ContentType="image/png"/>
  <Override PartName="/ppt/media/image98.png" ContentType="image/png"/>
  <Override PartName="/ppt/media/image201.png" ContentType="image/png"/>
  <Override PartName="/ppt/media/image199.png" ContentType="image/png"/>
  <Override PartName="/ppt/media/image99.png" ContentType="image/png"/>
  <Override PartName="/ppt/media/image176.png" ContentType="image/png"/>
  <Override PartName="/ppt/media/image76.png" ContentType="image/png"/>
  <Override PartName="/ppt/media/image108.png" ContentType="image/png"/>
  <Override PartName="/ppt/media/image273.png" ContentType="image/png"/>
  <Override PartName="/ppt/media/image177.png" ContentType="image/png"/>
  <Override PartName="/ppt/media/image77.png" ContentType="image/png"/>
  <Override PartName="/ppt/media/image186.png" ContentType="image/png"/>
  <Override PartName="/ppt/media/image86.png" ContentType="image/png"/>
  <Override PartName="/ppt/media/image18.png" ContentType="image/png"/>
  <Override PartName="/ppt/media/image343.png" ContentType="image/png"/>
  <Override PartName="/ppt/media/image260.png" ContentType="image/png"/>
  <Override PartName="/ppt/media/image109.png" ContentType="image/png"/>
  <Override PartName="/ppt/media/image274.png" ContentType="image/png"/>
  <Override PartName="/ppt/media/image310.png" ContentType="image/png"/>
  <Override PartName="/ppt/media/image300.png" ContentType="image/png"/>
  <Override PartName="/ppt/media/image298.png" ContentType="image/png"/>
  <Override PartName="/ppt/media/image264.png" ContentType="image/png"/>
  <Override PartName="/ppt/media/image301.png" ContentType="image/png"/>
  <Override PartName="/ppt/media/image299.png" ContentType="image/png"/>
  <Override PartName="/ppt/media/image265.png" ContentType="image/png"/>
  <Override PartName="/ppt/media/image302.png" ContentType="image/png"/>
  <Override PartName="/ppt/media/image266.png" ContentType="image/png"/>
  <Override PartName="/ppt/media/image261.png" ContentType="image/png"/>
  <Override PartName="/ppt/media/image262.png" ContentType="image/png"/>
  <Override PartName="/ppt/media/image311.png" ContentType="image/png"/>
  <Override PartName="/ppt/media/image275.png" ContentType="image/png"/>
  <Override PartName="/ppt/media/image312.png" ContentType="image/png"/>
  <Override PartName="/ppt/media/image276.png" ContentType="image/png"/>
  <Override PartName="/ppt/media/image342.png" ContentType="image/png"/>
  <Override PartName="/ppt/media/image353.png" ContentType="image/png"/>
  <Override PartName="/ppt/media/image124.png" ContentType="image/png"/>
  <Override PartName="/ppt/media/image318.png" ContentType="image/png"/>
  <Override PartName="/ppt/media/image87.png" ContentType="image/png"/>
  <Override PartName="/ppt/media/image19.png" ContentType="image/png"/>
  <Override PartName="/ppt/media/image187.png" ContentType="image/png"/>
  <Override PartName="/ppt/media/image341.png" ContentType="image/png"/>
  <Override PartName="/ppt/media/image352.png" ContentType="image/png"/>
  <Override PartName="/ppt/media/image123.png" ContentType="image/png"/>
  <Override PartName="/ppt/media/image317.png" ContentType="image/png"/>
  <Override PartName="/ppt/media/image340.png" ContentType="image/png"/>
  <Override PartName="/ppt/media/image351.png" ContentType="image/png"/>
  <Override PartName="/ppt/media/image303.png" ContentType="image/png"/>
  <Override PartName="/ppt/media/image267.png" ContentType="image/png"/>
  <Override PartName="/ppt/media/image350.png" ContentType="image/png"/>
  <Override PartName="/ppt/media/image295.png" ContentType="image/png"/>
  <Override PartName="/ppt/media/image331.png" ContentType="image/png"/>
  <Override PartName="/ppt/media/image321.png" ContentType="image/png"/>
  <Override PartName="/ppt/media/image285.png" ContentType="image/png"/>
  <Override PartName="/ppt/media/image129.png" ContentType="image/png"/>
  <Override PartName="/ppt/media/image294.png" ContentType="image/png"/>
  <Override PartName="/ppt/media/image330.png" ContentType="image/png"/>
  <Override PartName="/ppt/media/image320.png" ContentType="image/png"/>
  <Override PartName="/ppt/media/image119.png" ContentType="image/png"/>
  <Override PartName="/ppt/media/image284.png" ContentType="image/png"/>
  <Override PartName="/ppt/media/image297.png" ContentType="image/png"/>
  <Override PartName="/ppt/media/image333.png" ContentType="image/png"/>
  <Override PartName="/ppt/media/image296.png" ContentType="image/png"/>
  <Override PartName="/ppt/media/image332.png" ContentType="image/png"/>
  <Override PartName="/ppt/media/image322.png" ContentType="image/png"/>
  <Override PartName="/ppt/media/image286.png" ContentType="image/png"/>
  <Override PartName="/ppt/media/image287.png" ContentType="image/png"/>
  <Override PartName="/ppt/media/image323.png" ContentType="image/png"/>
  <Override PartName="/ppt/media/image313.png" ContentType="image/png"/>
  <Override PartName="/ppt/media/image277.png" ContentType="image/png"/>
  <Override PartName="/ppt/media/image289.png" ContentType="image/png"/>
  <Override PartName="/ppt/media/image288.png" ContentType="image/png"/>
  <Override PartName="/ppt/media/image278.png" ContentType="image/png"/>
  <Override PartName="/ppt/media/image269.png" ContentType="image/png"/>
  <Override PartName="/ppt/media/image268.png" ContentType="image/png"/>
  <Override PartName="/ppt/media/image263.png" ContentType="image/png"/>
  <Override PartName="/ppt/media/image259.png" ContentType="image/png"/>
  <Override PartName="/ppt/media/image258.png" ContentType="image/png"/>
  <Override PartName="/ppt/media/image279.png" ContentType="image/png"/>
  <Override PartName="/ppt/media/image118.png" ContentType="image/png"/>
  <Override PartName="/ppt/media/image283.png" ContentType="image/png"/>
  <Override PartName="/ppt/media/image316.png" ContentType="image/png"/>
  <Override PartName="/ppt/media/image122.png" ContentType="image/png"/>
  <Override PartName="/ppt/media/image90.png" ContentType="image/png"/>
  <Override PartName="/ppt/media/image22.png" ContentType="image/png"/>
  <Override PartName="/ppt/media/image74.png" ContentType="image/png"/>
  <Override PartName="/ppt/media/image174.png" ContentType="image/png"/>
  <Override PartName="/ppt/media/image106.png" ContentType="image/png"/>
  <Override PartName="/ppt/media/image271.png" ContentType="image/png"/>
  <Override PartName="/ppt/media/image315.png" ContentType="image/png"/>
  <Override PartName="/ppt/media/image121.png" ContentType="image/png"/>
  <Override PartName="/ppt/media/image21.png" ContentType="image/png"/>
  <Override PartName="/ppt/media/image73.png" ContentType="image/png"/>
  <Override PartName="/ppt/media/image173.png" ContentType="image/png"/>
  <Override PartName="/ppt/media/image105.png" ContentType="image/png"/>
  <Override PartName="/ppt/media/image270.png" ContentType="image/png"/>
  <Override PartName="/ppt/media/image314.png" ContentType="image/png"/>
  <Override PartName="/ppt/media/image120.png" ContentType="image/png"/>
  <Override PartName="/ppt/media/image20.png" ContentType="image/png"/>
  <Override PartName="/ppt/media/image72.png" ContentType="image/png"/>
  <Override PartName="/ppt/media/image104.png" ContentType="image/png"/>
  <Override PartName="/ppt/media/image172.png" ContentType="image/png"/>
  <Override PartName="/ppt/media/image71.png" ContentType="image/png"/>
  <Override PartName="/ppt/media/image103.png" ContentType="image/png"/>
  <Override PartName="/ppt/media/image171.png" ContentType="image/png"/>
  <Override PartName="/ppt/media/image70.png" ContentType="image/png"/>
  <Override PartName="/ppt/media/image102.png" ContentType="image/png"/>
  <Override PartName="/ppt/media/image170.png" ContentType="image/png"/>
  <Override PartName="/ppt/media/image69.png" ContentType="image/png"/>
  <Override PartName="/ppt/media/image169.png" ContentType="image/png"/>
  <Override PartName="/ppt/media/image281.png" ContentType="image/png"/>
  <Override PartName="/ppt/media/image116.png" ContentType="image/png"/>
  <Override PartName="/ppt/media/image84.png" ContentType="image/png"/>
  <Override PartName="/ppt/media/image16.png" ContentType="image/png"/>
  <Override PartName="/ppt/media/image184.png" ContentType="image/png"/>
  <Override PartName="/ppt/media/image68.png" ContentType="image/png"/>
  <Override PartName="/ppt/media/image168.png" ContentType="image/png"/>
  <Override PartName="/ppt/media/image309.png" ContentType="image/png"/>
  <Override PartName="/ppt/media/image280.png" ContentType="image/png"/>
  <Override PartName="/ppt/media/image115.png" ContentType="image/png"/>
  <Override PartName="/ppt/media/image15.png" ContentType="image/png"/>
  <Override PartName="/ppt/media/image83.png" ContentType="image/png"/>
  <Override PartName="/ppt/media/image183.png" ContentType="image/png"/>
  <Override PartName="/ppt/media/image67.png" ContentType="image/png"/>
  <Override PartName="/ppt/media/image167.png" ContentType="image/png"/>
  <Override PartName="/ppt/media/image308.png" ContentType="image/png"/>
  <Override PartName="/ppt/media/image114.png" ContentType="image/png"/>
  <Override PartName="/ppt/media/image14.png" ContentType="image/png"/>
  <Override PartName="/ppt/media/image82.png" ContentType="image/png"/>
  <Override PartName="/ppt/media/image182.png" ContentType="image/png"/>
  <Override PartName="/ppt/media/image66.png" ContentType="image/png"/>
  <Override PartName="/ppt/media/image166.png" ContentType="image/png"/>
  <Override PartName="/ppt/media/image307.png" ContentType="image/png"/>
  <Override PartName="/ppt/media/image113.png" ContentType="image/png"/>
  <Override PartName="/ppt/media/image81.png" ContentType="image/png"/>
  <Override PartName="/ppt/media/image13.png" ContentType="image/png"/>
  <Override PartName="/ppt/media/image181.png" ContentType="image/png"/>
  <Override PartName="/ppt/media/image65.png" ContentType="image/png"/>
  <Override PartName="/ppt/media/image165.png" ContentType="image/png"/>
  <Override PartName="/ppt/media/image359.png" ContentType="image/png"/>
  <Override PartName="/ppt/media/image306.png" ContentType="image/png"/>
  <Override PartName="/ppt/media/image112.png" ContentType="image/png"/>
  <Override PartName="/ppt/media/image80.png" ContentType="image/png"/>
  <Override PartName="/ppt/media/image12.png" ContentType="image/png"/>
  <Override PartName="/ppt/media/image64.png" ContentType="image/png"/>
  <Override PartName="/ppt/media/image164.png" ContentType="image/png"/>
  <Override PartName="/ppt/media/image358.png" ContentType="image/png"/>
  <Override PartName="/ppt/media/image305.png" ContentType="image/png"/>
  <Override PartName="/ppt/media/image111.png" ContentType="image/png"/>
  <Override PartName="/ppt/media/image11.png" ContentType="image/png"/>
  <Override PartName="/ppt/media/image63.png" ContentType="image/png"/>
  <Override PartName="/ppt/media/image163.png" ContentType="image/png"/>
  <Override PartName="/ppt/media/image357.png" ContentType="image/png"/>
  <Override PartName="/ppt/media/image304.png" ContentType="image/png"/>
  <Override PartName="/ppt/media/image110.png" ContentType="image/png"/>
  <Override PartName="/ppt/media/image10.png" ContentType="image/png"/>
  <Override PartName="/ppt/media/image62.png" ContentType="image/png"/>
  <Override PartName="/ppt/media/image162.png" ContentType="image/png"/>
  <Override PartName="/ppt/media/image356.png" ContentType="image/png"/>
  <Override PartName="/ppt/media/image61.png" ContentType="image/png"/>
  <Override PartName="/ppt/media/image161.png" ContentType="image/png"/>
  <Override PartName="/ppt/media/image355.png" ContentType="image/png"/>
  <Override PartName="/ppt/media/image60.png" ContentType="image/png"/>
  <Override PartName="/ppt/media/image160.png" ContentType="image/png"/>
  <Override PartName="/ppt/media/image354.png" ContentType="image/png"/>
  <Override PartName="/ppt/media/image59.png" ContentType="image/png"/>
  <Override PartName="/ppt/media/image159.png" ContentType="image/png"/>
  <Override PartName="/ppt/media/image58.png" ContentType="image/png"/>
  <Override PartName="/ppt/media/image158.png" ContentType="image/png"/>
  <Override PartName="/ppt/media/image5.png" ContentType="image/png"/>
  <Override PartName="/ppt/media/image51.png" ContentType="image/png"/>
  <Override PartName="/ppt/media/image151.png" ContentType="image/png"/>
  <Override PartName="/ppt/media/image345.png" ContentType="image/png"/>
  <Override PartName="/ppt/media/image37.png" ContentType="image/png"/>
  <Override PartName="/ppt/media/image137.png" ContentType="image/png"/>
  <Override PartName="/ppt/media/image6.png" ContentType="image/png"/>
  <Override PartName="/ppt/media/image52.png" ContentType="image/png"/>
  <Override PartName="/ppt/media/image152.png" ContentType="image/png"/>
  <Override PartName="/ppt/media/image346.png" ContentType="image/png"/>
  <Override PartName="/ppt/media/image38.png" ContentType="image/png"/>
  <Override PartName="/ppt/media/image138.png" ContentType="image/png"/>
  <Override PartName="/ppt/media/image33.png" ContentType="image/png"/>
  <Override PartName="/ppt/media/image133.png" ContentType="image/png"/>
  <Override PartName="/ppt/media/image327.png" ContentType="image/png"/>
  <Override PartName="/ppt/media/image1.png" ContentType="image/png"/>
  <Override PartName="/ppt/media/image47.png" ContentType="image/png"/>
  <Override PartName="/ppt/media/image147.png" ContentType="image/png"/>
  <Override PartName="/ppt/media/image7.png" ContentType="image/png"/>
  <Override PartName="/ppt/media/image53.png" ContentType="image/png"/>
  <Override PartName="/ppt/media/image153.png" ContentType="image/png"/>
  <Override PartName="/ppt/media/image347.png" ContentType="image/png"/>
  <Override PartName="/ppt/media/image39.png" ContentType="image/png"/>
  <Override PartName="/ppt/media/image139.png" ContentType="image/png"/>
  <Override PartName="/ppt/media/image34.png" ContentType="image/png"/>
  <Override PartName="/ppt/media/image134.png" ContentType="image/png"/>
  <Override PartName="/ppt/media/image328.png" ContentType="image/png"/>
  <Override PartName="/ppt/media/image2.png" ContentType="image/png"/>
  <Override PartName="/ppt/media/image48.png" ContentType="image/png"/>
  <Override PartName="/ppt/media/image148.png" ContentType="image/png"/>
  <Override PartName="/ppt/media/image8.png" ContentType="image/png"/>
  <Override PartName="/ppt/media/image54.png" ContentType="image/png"/>
  <Override PartName="/ppt/media/image154.png" ContentType="image/png"/>
  <Override PartName="/ppt/media/image348.png" ContentType="image/png"/>
  <Override PartName="/ppt/media/image35.png" ContentType="image/png"/>
  <Override PartName="/ppt/media/image135.png" ContentType="image/png"/>
  <Override PartName="/ppt/media/image329.png" ContentType="image/png"/>
  <Override PartName="/ppt/media/image3.png" ContentType="image/png"/>
  <Override PartName="/ppt/media/image49.png" ContentType="image/png"/>
  <Override PartName="/ppt/media/image149.png" ContentType="image/png"/>
  <Override PartName="/ppt/media/image5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A5200-DA16-499C-995E-FFE0138843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8D2EAC-0B03-4F84-9BD7-B78EEFA36B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CA5C6CD-6AEC-400C-AE3D-40E5008434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9.png"/><Relationship Id="rId11" Type="http://schemas.openxmlformats.org/officeDocument/2006/relationships/image" Target="../media/image13.png"/><Relationship Id="rId12" Type="http://schemas.openxmlformats.org/officeDocument/2006/relationships/image" Target="../media/image11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17.png"/><Relationship Id="rId21" Type="http://schemas.openxmlformats.org/officeDocument/2006/relationships/image" Target="../media/image21.png"/><Relationship Id="rId22" Type="http://schemas.openxmlformats.org/officeDocument/2006/relationships/image" Target="../media/image9.png"/><Relationship Id="rId23" Type="http://schemas.openxmlformats.org/officeDocument/2006/relationships/image" Target="../media/image16.png"/><Relationship Id="rId24" Type="http://schemas.openxmlformats.org/officeDocument/2006/relationships/image" Target="../media/image11.png"/><Relationship Id="rId25" Type="http://schemas.openxmlformats.org/officeDocument/2006/relationships/image" Target="../media/image22.png"/><Relationship Id="rId26" Type="http://schemas.openxmlformats.org/officeDocument/2006/relationships/image" Target="../media/image9.png"/><Relationship Id="rId27" Type="http://schemas.openxmlformats.org/officeDocument/2006/relationships/image" Target="../media/image20.png"/><Relationship Id="rId28" Type="http://schemas.openxmlformats.org/officeDocument/2006/relationships/image" Target="../media/image11.png"/><Relationship Id="rId29" Type="http://schemas.openxmlformats.org/officeDocument/2006/relationships/image" Target="../media/image23.png"/><Relationship Id="rId30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1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5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40.png"/><Relationship Id="rId23" Type="http://schemas.openxmlformats.org/officeDocument/2006/relationships/image" Target="../media/image40.png"/><Relationship Id="rId2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3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Relationship Id="rId17" Type="http://schemas.openxmlformats.org/officeDocument/2006/relationships/image" Target="../media/image83.png"/><Relationship Id="rId18" Type="http://schemas.openxmlformats.org/officeDocument/2006/relationships/image" Target="../media/image84.png"/><Relationship Id="rId19" Type="http://schemas.openxmlformats.org/officeDocument/2006/relationships/image" Target="../media/image85.png"/><Relationship Id="rId20" Type="http://schemas.openxmlformats.org/officeDocument/2006/relationships/image" Target="../media/image86.png"/><Relationship Id="rId21" Type="http://schemas.openxmlformats.org/officeDocument/2006/relationships/image" Target="../media/image87.png"/><Relationship Id="rId22" Type="http://schemas.openxmlformats.org/officeDocument/2006/relationships/image" Target="../media/image88.png"/><Relationship Id="rId2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Relationship Id="rId13" Type="http://schemas.openxmlformats.org/officeDocument/2006/relationships/image" Target="../media/image100.png"/><Relationship Id="rId14" Type="http://schemas.openxmlformats.org/officeDocument/2006/relationships/image" Target="../media/image101.png"/><Relationship Id="rId15" Type="http://schemas.openxmlformats.org/officeDocument/2006/relationships/image" Target="../media/image102.png"/><Relationship Id="rId16" Type="http://schemas.openxmlformats.org/officeDocument/2006/relationships/image" Target="../media/image103.png"/><Relationship Id="rId17" Type="http://schemas.openxmlformats.org/officeDocument/2006/relationships/image" Target="../media/image104.png"/><Relationship Id="rId18" Type="http://schemas.openxmlformats.org/officeDocument/2006/relationships/image" Target="../media/image105.png"/><Relationship Id="rId19" Type="http://schemas.openxmlformats.org/officeDocument/2006/relationships/image" Target="../media/image105.png"/><Relationship Id="rId20" Type="http://schemas.openxmlformats.org/officeDocument/2006/relationships/image" Target="../media/image106.png"/><Relationship Id="rId21" Type="http://schemas.openxmlformats.org/officeDocument/2006/relationships/image" Target="../media/image107.png"/><Relationship Id="rId22" Type="http://schemas.openxmlformats.org/officeDocument/2006/relationships/image" Target="../media/image108.png"/><Relationship Id="rId23" Type="http://schemas.openxmlformats.org/officeDocument/2006/relationships/image" Target="../media/image109.png"/><Relationship Id="rId24" Type="http://schemas.openxmlformats.org/officeDocument/2006/relationships/image" Target="../media/image110.png"/><Relationship Id="rId25" Type="http://schemas.openxmlformats.org/officeDocument/2006/relationships/image" Target="../media/image111.png"/><Relationship Id="rId26" Type="http://schemas.openxmlformats.org/officeDocument/2006/relationships/image" Target="../media/image110.png"/><Relationship Id="rId27" Type="http://schemas.openxmlformats.org/officeDocument/2006/relationships/image" Target="../media/image112.png"/><Relationship Id="rId28" Type="http://schemas.openxmlformats.org/officeDocument/2006/relationships/image" Target="../media/image113.png"/><Relationship Id="rId2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9" Type="http://schemas.openxmlformats.org/officeDocument/2006/relationships/image" Target="../media/image120.png"/><Relationship Id="rId10" Type="http://schemas.openxmlformats.org/officeDocument/2006/relationships/image" Target="../media/image117.png"/><Relationship Id="rId11" Type="http://schemas.openxmlformats.org/officeDocument/2006/relationships/image" Target="../media/image121.png"/><Relationship Id="rId12" Type="http://schemas.openxmlformats.org/officeDocument/2006/relationships/image" Target="../media/image122.png"/><Relationship Id="rId13" Type="http://schemas.openxmlformats.org/officeDocument/2006/relationships/image" Target="../media/image123.png"/><Relationship Id="rId14" Type="http://schemas.openxmlformats.org/officeDocument/2006/relationships/image" Target="../media/image124.png"/><Relationship Id="rId15" Type="http://schemas.openxmlformats.org/officeDocument/2006/relationships/image" Target="../media/image125.png"/><Relationship Id="rId16" Type="http://schemas.openxmlformats.org/officeDocument/2006/relationships/image" Target="../media/image126.png"/><Relationship Id="rId17" Type="http://schemas.openxmlformats.org/officeDocument/2006/relationships/image" Target="../media/image127.png"/><Relationship Id="rId18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8.png"/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Relationship Id="rId10" Type="http://schemas.openxmlformats.org/officeDocument/2006/relationships/image" Target="../media/image137.png"/><Relationship Id="rId11" Type="http://schemas.openxmlformats.org/officeDocument/2006/relationships/image" Target="../media/image138.png"/><Relationship Id="rId12" Type="http://schemas.openxmlformats.org/officeDocument/2006/relationships/image" Target="../media/image139.png"/><Relationship Id="rId1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0.png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5.png"/><Relationship Id="rId8" Type="http://schemas.openxmlformats.org/officeDocument/2006/relationships/image" Target="../media/image142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154.png"/><Relationship Id="rId18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5.png"/><Relationship Id="rId2" Type="http://schemas.openxmlformats.org/officeDocument/2006/relationships/image" Target="../media/image156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161.png"/><Relationship Id="rId8" Type="http://schemas.openxmlformats.org/officeDocument/2006/relationships/image" Target="../media/image162.png"/><Relationship Id="rId9" Type="http://schemas.openxmlformats.org/officeDocument/2006/relationships/image" Target="../media/image163.png"/><Relationship Id="rId10" Type="http://schemas.openxmlformats.org/officeDocument/2006/relationships/image" Target="../media/image164.png"/><Relationship Id="rId11" Type="http://schemas.openxmlformats.org/officeDocument/2006/relationships/image" Target="../media/image165.png"/><Relationship Id="rId12" Type="http://schemas.openxmlformats.org/officeDocument/2006/relationships/image" Target="../media/image166.png"/><Relationship Id="rId13" Type="http://schemas.openxmlformats.org/officeDocument/2006/relationships/image" Target="../media/image167.png"/><Relationship Id="rId14" Type="http://schemas.openxmlformats.org/officeDocument/2006/relationships/image" Target="../media/image168.png"/><Relationship Id="rId15" Type="http://schemas.openxmlformats.org/officeDocument/2006/relationships/image" Target="../media/image169.png"/><Relationship Id="rId16" Type="http://schemas.openxmlformats.org/officeDocument/2006/relationships/image" Target="../media/image170.png"/><Relationship Id="rId17" Type="http://schemas.openxmlformats.org/officeDocument/2006/relationships/image" Target="../media/image171.png"/><Relationship Id="rId18" Type="http://schemas.openxmlformats.org/officeDocument/2006/relationships/image" Target="../media/image172.png"/><Relationship Id="rId19" Type="http://schemas.openxmlformats.org/officeDocument/2006/relationships/image" Target="../media/image173.png"/><Relationship Id="rId20" Type="http://schemas.openxmlformats.org/officeDocument/2006/relationships/image" Target="../media/image174.png"/><Relationship Id="rId21" Type="http://schemas.openxmlformats.org/officeDocument/2006/relationships/image" Target="../media/image175.png"/><Relationship Id="rId22" Type="http://schemas.openxmlformats.org/officeDocument/2006/relationships/image" Target="../media/image176.png"/><Relationship Id="rId23" Type="http://schemas.openxmlformats.org/officeDocument/2006/relationships/image" Target="../media/image177.png"/><Relationship Id="rId24" Type="http://schemas.openxmlformats.org/officeDocument/2006/relationships/image" Target="../media/image178.png"/><Relationship Id="rId25" Type="http://schemas.openxmlformats.org/officeDocument/2006/relationships/image" Target="../media/image179.png"/><Relationship Id="rId26" Type="http://schemas.openxmlformats.org/officeDocument/2006/relationships/image" Target="../media/image180.png"/><Relationship Id="rId27" Type="http://schemas.openxmlformats.org/officeDocument/2006/relationships/image" Target="../media/image181.png"/><Relationship Id="rId28" Type="http://schemas.openxmlformats.org/officeDocument/2006/relationships/image" Target="../media/image182.png"/><Relationship Id="rId29" Type="http://schemas.openxmlformats.org/officeDocument/2006/relationships/image" Target="../media/image183.png"/><Relationship Id="rId30" Type="http://schemas.openxmlformats.org/officeDocument/2006/relationships/image" Target="../media/image184.png"/><Relationship Id="rId3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5.png"/><Relationship Id="rId2" Type="http://schemas.openxmlformats.org/officeDocument/2006/relationships/image" Target="../media/image59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0.png"/><Relationship Id="rId9" Type="http://schemas.openxmlformats.org/officeDocument/2006/relationships/image" Target="../media/image191.png"/><Relationship Id="rId10" Type="http://schemas.openxmlformats.org/officeDocument/2006/relationships/image" Target="../media/image192.png"/><Relationship Id="rId11" Type="http://schemas.openxmlformats.org/officeDocument/2006/relationships/image" Target="../media/image193.png"/><Relationship Id="rId12" Type="http://schemas.openxmlformats.org/officeDocument/2006/relationships/image" Target="../media/image194.png"/><Relationship Id="rId13" Type="http://schemas.openxmlformats.org/officeDocument/2006/relationships/image" Target="../media/image195.png"/><Relationship Id="rId14" Type="http://schemas.openxmlformats.org/officeDocument/2006/relationships/image" Target="../media/image195.png"/><Relationship Id="rId15" Type="http://schemas.openxmlformats.org/officeDocument/2006/relationships/image" Target="../media/image196.png"/><Relationship Id="rId16" Type="http://schemas.openxmlformats.org/officeDocument/2006/relationships/image" Target="../media/image197.png"/><Relationship Id="rId17" Type="http://schemas.openxmlformats.org/officeDocument/2006/relationships/image" Target="../media/image198.png"/><Relationship Id="rId18" Type="http://schemas.openxmlformats.org/officeDocument/2006/relationships/image" Target="../media/image199.png"/><Relationship Id="rId19" Type="http://schemas.openxmlformats.org/officeDocument/2006/relationships/image" Target="../media/image200.png"/><Relationship Id="rId20" Type="http://schemas.openxmlformats.org/officeDocument/2006/relationships/image" Target="../media/image201.png"/><Relationship Id="rId21" Type="http://schemas.openxmlformats.org/officeDocument/2006/relationships/image" Target="../media/image152.png"/><Relationship Id="rId22" Type="http://schemas.openxmlformats.org/officeDocument/2006/relationships/image" Target="../media/image202.png"/><Relationship Id="rId23" Type="http://schemas.openxmlformats.org/officeDocument/2006/relationships/image" Target="../media/image203.png"/><Relationship Id="rId24" Type="http://schemas.openxmlformats.org/officeDocument/2006/relationships/image" Target="../media/image204.png"/><Relationship Id="rId2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5.png"/><Relationship Id="rId2" Type="http://schemas.openxmlformats.org/officeDocument/2006/relationships/image" Target="../media/image206.png"/><Relationship Id="rId3" Type="http://schemas.openxmlformats.org/officeDocument/2006/relationships/image" Target="../media/image207.png"/><Relationship Id="rId4" Type="http://schemas.openxmlformats.org/officeDocument/2006/relationships/image" Target="../media/image208.png"/><Relationship Id="rId5" Type="http://schemas.openxmlformats.org/officeDocument/2006/relationships/image" Target="../media/image209.png"/><Relationship Id="rId6" Type="http://schemas.openxmlformats.org/officeDocument/2006/relationships/image" Target="../media/image210.png"/><Relationship Id="rId7" Type="http://schemas.openxmlformats.org/officeDocument/2006/relationships/image" Target="../media/image211.png"/><Relationship Id="rId8" Type="http://schemas.openxmlformats.org/officeDocument/2006/relationships/image" Target="../media/image212.png"/><Relationship Id="rId9" Type="http://schemas.openxmlformats.org/officeDocument/2006/relationships/image" Target="../media/image213.png"/><Relationship Id="rId10" Type="http://schemas.openxmlformats.org/officeDocument/2006/relationships/image" Target="../media/image214.png"/><Relationship Id="rId11" Type="http://schemas.openxmlformats.org/officeDocument/2006/relationships/image" Target="../media/image215.png"/><Relationship Id="rId12" Type="http://schemas.openxmlformats.org/officeDocument/2006/relationships/image" Target="../media/image216.png"/><Relationship Id="rId13" Type="http://schemas.openxmlformats.org/officeDocument/2006/relationships/image" Target="../media/image217.png"/><Relationship Id="rId14" Type="http://schemas.openxmlformats.org/officeDocument/2006/relationships/image" Target="../media/image218.png"/><Relationship Id="rId15" Type="http://schemas.openxmlformats.org/officeDocument/2006/relationships/image" Target="../media/image219.png"/><Relationship Id="rId16" Type="http://schemas.openxmlformats.org/officeDocument/2006/relationships/image" Target="../media/image220.png"/><Relationship Id="rId17" Type="http://schemas.openxmlformats.org/officeDocument/2006/relationships/image" Target="../media/image221.png"/><Relationship Id="rId18" Type="http://schemas.openxmlformats.org/officeDocument/2006/relationships/image" Target="../media/image222.png"/><Relationship Id="rId19" Type="http://schemas.openxmlformats.org/officeDocument/2006/relationships/image" Target="../media/image223.png"/><Relationship Id="rId20" Type="http://schemas.openxmlformats.org/officeDocument/2006/relationships/image" Target="../media/image224.png"/><Relationship Id="rId21" Type="http://schemas.openxmlformats.org/officeDocument/2006/relationships/image" Target="../media/image225.png"/><Relationship Id="rId22" Type="http://schemas.openxmlformats.org/officeDocument/2006/relationships/image" Target="../media/image226.png"/><Relationship Id="rId23" Type="http://schemas.openxmlformats.org/officeDocument/2006/relationships/image" Target="../media/image227.png"/><Relationship Id="rId2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8.png"/><Relationship Id="rId2" Type="http://schemas.openxmlformats.org/officeDocument/2006/relationships/image" Target="../media/image229.png"/><Relationship Id="rId3" Type="http://schemas.openxmlformats.org/officeDocument/2006/relationships/image" Target="../media/image230.png"/><Relationship Id="rId4" Type="http://schemas.openxmlformats.org/officeDocument/2006/relationships/image" Target="../media/image231.png"/><Relationship Id="rId5" Type="http://schemas.openxmlformats.org/officeDocument/2006/relationships/image" Target="../media/image232.png"/><Relationship Id="rId6" Type="http://schemas.openxmlformats.org/officeDocument/2006/relationships/image" Target="../media/image233.png"/><Relationship Id="rId7" Type="http://schemas.openxmlformats.org/officeDocument/2006/relationships/image" Target="../media/image234.png"/><Relationship Id="rId8" Type="http://schemas.openxmlformats.org/officeDocument/2006/relationships/image" Target="../media/image235.png"/><Relationship Id="rId9" Type="http://schemas.openxmlformats.org/officeDocument/2006/relationships/image" Target="../media/image236.png"/><Relationship Id="rId10" Type="http://schemas.openxmlformats.org/officeDocument/2006/relationships/image" Target="../media/image237.png"/><Relationship Id="rId11" Type="http://schemas.openxmlformats.org/officeDocument/2006/relationships/image" Target="../media/image238.png"/><Relationship Id="rId12" Type="http://schemas.openxmlformats.org/officeDocument/2006/relationships/image" Target="../media/image239.png"/><Relationship Id="rId13" Type="http://schemas.openxmlformats.org/officeDocument/2006/relationships/image" Target="../media/image240.png"/><Relationship Id="rId14" Type="http://schemas.openxmlformats.org/officeDocument/2006/relationships/image" Target="../media/image241.png"/><Relationship Id="rId15" Type="http://schemas.openxmlformats.org/officeDocument/2006/relationships/image" Target="../media/image242.png"/><Relationship Id="rId16" Type="http://schemas.openxmlformats.org/officeDocument/2006/relationships/image" Target="../media/image243.png"/><Relationship Id="rId17" Type="http://schemas.openxmlformats.org/officeDocument/2006/relationships/image" Target="../media/image244.png"/><Relationship Id="rId18" Type="http://schemas.openxmlformats.org/officeDocument/2006/relationships/image" Target="../media/image245.png"/><Relationship Id="rId19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6.png"/><Relationship Id="rId2" Type="http://schemas.openxmlformats.org/officeDocument/2006/relationships/image" Target="../media/image247.png"/><Relationship Id="rId3" Type="http://schemas.openxmlformats.org/officeDocument/2006/relationships/image" Target="../media/image248.png"/><Relationship Id="rId4" Type="http://schemas.openxmlformats.org/officeDocument/2006/relationships/image" Target="../media/image249.png"/><Relationship Id="rId5" Type="http://schemas.openxmlformats.org/officeDocument/2006/relationships/image" Target="../media/image250.png"/><Relationship Id="rId6" Type="http://schemas.openxmlformats.org/officeDocument/2006/relationships/image" Target="../media/image251.png"/><Relationship Id="rId7" Type="http://schemas.openxmlformats.org/officeDocument/2006/relationships/image" Target="../media/image247.png"/><Relationship Id="rId8" Type="http://schemas.openxmlformats.org/officeDocument/2006/relationships/image" Target="../media/image248.png"/><Relationship Id="rId9" Type="http://schemas.openxmlformats.org/officeDocument/2006/relationships/image" Target="../media/image252.png"/><Relationship Id="rId10" Type="http://schemas.openxmlformats.org/officeDocument/2006/relationships/image" Target="../media/image253.png"/><Relationship Id="rId11" Type="http://schemas.openxmlformats.org/officeDocument/2006/relationships/image" Target="../media/image254.png"/><Relationship Id="rId12" Type="http://schemas.openxmlformats.org/officeDocument/2006/relationships/image" Target="../media/image255.png"/><Relationship Id="rId13" Type="http://schemas.openxmlformats.org/officeDocument/2006/relationships/image" Target="../media/image256.png"/><Relationship Id="rId1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7.png"/><Relationship Id="rId2" Type="http://schemas.openxmlformats.org/officeDocument/2006/relationships/image" Target="../media/image5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Relationship Id="rId8" Type="http://schemas.openxmlformats.org/officeDocument/2006/relationships/image" Target="../media/image263.png"/><Relationship Id="rId9" Type="http://schemas.openxmlformats.org/officeDocument/2006/relationships/image" Target="../media/image264.png"/><Relationship Id="rId10" Type="http://schemas.openxmlformats.org/officeDocument/2006/relationships/image" Target="../media/image264.png"/><Relationship Id="rId11" Type="http://schemas.openxmlformats.org/officeDocument/2006/relationships/image" Target="../media/image265.png"/><Relationship Id="rId12" Type="http://schemas.openxmlformats.org/officeDocument/2006/relationships/image" Target="../media/image266.png"/><Relationship Id="rId13" Type="http://schemas.openxmlformats.org/officeDocument/2006/relationships/image" Target="../media/image267.png"/><Relationship Id="rId14" Type="http://schemas.openxmlformats.org/officeDocument/2006/relationships/image" Target="../media/image268.png"/><Relationship Id="rId15" Type="http://schemas.openxmlformats.org/officeDocument/2006/relationships/image" Target="../media/image269.png"/><Relationship Id="rId16" Type="http://schemas.openxmlformats.org/officeDocument/2006/relationships/image" Target="../media/image270.png"/><Relationship Id="rId17" Type="http://schemas.openxmlformats.org/officeDocument/2006/relationships/image" Target="../media/image271.png"/><Relationship Id="rId18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72.png"/><Relationship Id="rId2" Type="http://schemas.openxmlformats.org/officeDocument/2006/relationships/image" Target="../media/image273.png"/><Relationship Id="rId3" Type="http://schemas.openxmlformats.org/officeDocument/2006/relationships/image" Target="../media/image141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Relationship Id="rId7" Type="http://schemas.openxmlformats.org/officeDocument/2006/relationships/image" Target="../media/image277.png"/><Relationship Id="rId8" Type="http://schemas.openxmlformats.org/officeDocument/2006/relationships/image" Target="../media/image278.png"/><Relationship Id="rId9" Type="http://schemas.openxmlformats.org/officeDocument/2006/relationships/image" Target="../media/image279.png"/><Relationship Id="rId10" Type="http://schemas.openxmlformats.org/officeDocument/2006/relationships/image" Target="../media/image280.png"/><Relationship Id="rId1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81.png"/><Relationship Id="rId2" Type="http://schemas.openxmlformats.org/officeDocument/2006/relationships/image" Target="../media/image282.png"/><Relationship Id="rId3" Type="http://schemas.openxmlformats.org/officeDocument/2006/relationships/image" Target="../media/image283.png"/><Relationship Id="rId4" Type="http://schemas.openxmlformats.org/officeDocument/2006/relationships/image" Target="../media/image284.png"/><Relationship Id="rId5" Type="http://schemas.openxmlformats.org/officeDocument/2006/relationships/image" Target="../media/image285.png"/><Relationship Id="rId6" Type="http://schemas.openxmlformats.org/officeDocument/2006/relationships/image" Target="../media/image286.png"/><Relationship Id="rId7" Type="http://schemas.openxmlformats.org/officeDocument/2006/relationships/image" Target="../media/image287.png"/><Relationship Id="rId8" Type="http://schemas.openxmlformats.org/officeDocument/2006/relationships/image" Target="../media/image284.png"/><Relationship Id="rId9" Type="http://schemas.openxmlformats.org/officeDocument/2006/relationships/image" Target="../media/image288.png"/><Relationship Id="rId10" Type="http://schemas.openxmlformats.org/officeDocument/2006/relationships/image" Target="../media/image289.png"/><Relationship Id="rId11" Type="http://schemas.openxmlformats.org/officeDocument/2006/relationships/image" Target="../media/image290.png"/><Relationship Id="rId12" Type="http://schemas.openxmlformats.org/officeDocument/2006/relationships/image" Target="../media/image291.png"/><Relationship Id="rId13" Type="http://schemas.openxmlformats.org/officeDocument/2006/relationships/image" Target="../media/image292.png"/><Relationship Id="rId14" Type="http://schemas.openxmlformats.org/officeDocument/2006/relationships/image" Target="../media/image293.png"/><Relationship Id="rId15" Type="http://schemas.openxmlformats.org/officeDocument/2006/relationships/image" Target="../media/image294.png"/><Relationship Id="rId16" Type="http://schemas.openxmlformats.org/officeDocument/2006/relationships/image" Target="../media/image295.png"/><Relationship Id="rId17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5.png"/><Relationship Id="rId2" Type="http://schemas.openxmlformats.org/officeDocument/2006/relationships/image" Target="../media/image296.png"/><Relationship Id="rId3" Type="http://schemas.openxmlformats.org/officeDocument/2006/relationships/image" Target="../media/image297.png"/><Relationship Id="rId4" Type="http://schemas.openxmlformats.org/officeDocument/2006/relationships/image" Target="../media/image298.png"/><Relationship Id="rId5" Type="http://schemas.openxmlformats.org/officeDocument/2006/relationships/image" Target="../media/image299.png"/><Relationship Id="rId6" Type="http://schemas.openxmlformats.org/officeDocument/2006/relationships/image" Target="../media/image300.png"/><Relationship Id="rId7" Type="http://schemas.openxmlformats.org/officeDocument/2006/relationships/image" Target="../media/image297.png"/><Relationship Id="rId8" Type="http://schemas.openxmlformats.org/officeDocument/2006/relationships/image" Target="../media/image301.png"/><Relationship Id="rId9" Type="http://schemas.openxmlformats.org/officeDocument/2006/relationships/image" Target="../media/image302.png"/><Relationship Id="rId10" Type="http://schemas.openxmlformats.org/officeDocument/2006/relationships/image" Target="../media/image303.png"/><Relationship Id="rId11" Type="http://schemas.openxmlformats.org/officeDocument/2006/relationships/image" Target="../media/image304.png"/><Relationship Id="rId12" Type="http://schemas.openxmlformats.org/officeDocument/2006/relationships/image" Target="../media/image5.png"/><Relationship Id="rId13" Type="http://schemas.openxmlformats.org/officeDocument/2006/relationships/image" Target="../media/image305.png"/><Relationship Id="rId1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5.png"/><Relationship Id="rId2" Type="http://schemas.openxmlformats.org/officeDocument/2006/relationships/image" Target="../media/image306.png"/><Relationship Id="rId3" Type="http://schemas.openxmlformats.org/officeDocument/2006/relationships/image" Target="../media/image307.png"/><Relationship Id="rId4" Type="http://schemas.openxmlformats.org/officeDocument/2006/relationships/image" Target="../media/image308.png"/><Relationship Id="rId5" Type="http://schemas.openxmlformats.org/officeDocument/2006/relationships/image" Target="../media/image309.png"/><Relationship Id="rId6" Type="http://schemas.openxmlformats.org/officeDocument/2006/relationships/image" Target="../media/image310.png"/><Relationship Id="rId7" Type="http://schemas.openxmlformats.org/officeDocument/2006/relationships/image" Target="../media/image311.png"/><Relationship Id="rId8" Type="http://schemas.openxmlformats.org/officeDocument/2006/relationships/image" Target="../media/image312.png"/><Relationship Id="rId9" Type="http://schemas.openxmlformats.org/officeDocument/2006/relationships/image" Target="../media/image313.png"/><Relationship Id="rId10" Type="http://schemas.openxmlformats.org/officeDocument/2006/relationships/image" Target="../media/image314.png"/><Relationship Id="rId11" Type="http://schemas.openxmlformats.org/officeDocument/2006/relationships/image" Target="../media/image312.png"/><Relationship Id="rId12" Type="http://schemas.openxmlformats.org/officeDocument/2006/relationships/image" Target="../media/image315.png"/><Relationship Id="rId13" Type="http://schemas.openxmlformats.org/officeDocument/2006/relationships/image" Target="../media/image316.png"/><Relationship Id="rId14" Type="http://schemas.openxmlformats.org/officeDocument/2006/relationships/image" Target="../media/image312.png"/><Relationship Id="rId15" Type="http://schemas.openxmlformats.org/officeDocument/2006/relationships/image" Target="../media/image317.png"/><Relationship Id="rId16" Type="http://schemas.openxmlformats.org/officeDocument/2006/relationships/image" Target="../media/image318.png"/><Relationship Id="rId17" Type="http://schemas.openxmlformats.org/officeDocument/2006/relationships/image" Target="../media/image312.png"/><Relationship Id="rId18" Type="http://schemas.openxmlformats.org/officeDocument/2006/relationships/image" Target="../media/image319.png"/><Relationship Id="rId19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0.png"/><Relationship Id="rId2" Type="http://schemas.openxmlformats.org/officeDocument/2006/relationships/image" Target="../media/image321.png"/><Relationship Id="rId3" Type="http://schemas.openxmlformats.org/officeDocument/2006/relationships/image" Target="../media/image322.png"/><Relationship Id="rId4" Type="http://schemas.openxmlformats.org/officeDocument/2006/relationships/image" Target="../media/image323.png"/><Relationship Id="rId5" Type="http://schemas.openxmlformats.org/officeDocument/2006/relationships/image" Target="../media/image324.png"/><Relationship Id="rId6" Type="http://schemas.openxmlformats.org/officeDocument/2006/relationships/image" Target="../media/image325.png"/><Relationship Id="rId7" Type="http://schemas.openxmlformats.org/officeDocument/2006/relationships/image" Target="../media/image326.png"/><Relationship Id="rId8" Type="http://schemas.openxmlformats.org/officeDocument/2006/relationships/image" Target="../media/image327.png"/><Relationship Id="rId9" Type="http://schemas.openxmlformats.org/officeDocument/2006/relationships/image" Target="../media/image328.png"/><Relationship Id="rId10" Type="http://schemas.openxmlformats.org/officeDocument/2006/relationships/image" Target="../media/image329.png"/><Relationship Id="rId11" Type="http://schemas.openxmlformats.org/officeDocument/2006/relationships/image" Target="../media/image330.png"/><Relationship Id="rId12" Type="http://schemas.openxmlformats.org/officeDocument/2006/relationships/image" Target="../media/image331.png"/><Relationship Id="rId13" Type="http://schemas.openxmlformats.org/officeDocument/2006/relationships/image" Target="../media/image332.png"/><Relationship Id="rId14" Type="http://schemas.openxmlformats.org/officeDocument/2006/relationships/image" Target="../media/image333.png"/><Relationship Id="rId15" Type="http://schemas.openxmlformats.org/officeDocument/2006/relationships/image" Target="../media/image334.png"/><Relationship Id="rId16" Type="http://schemas.openxmlformats.org/officeDocument/2006/relationships/image" Target="../media/image335.png"/><Relationship Id="rId17" Type="http://schemas.openxmlformats.org/officeDocument/2006/relationships/image" Target="../media/image336.png"/><Relationship Id="rId18" Type="http://schemas.openxmlformats.org/officeDocument/2006/relationships/image" Target="../media/image337.png"/><Relationship Id="rId19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38.png"/><Relationship Id="rId2" Type="http://schemas.openxmlformats.org/officeDocument/2006/relationships/image" Target="../media/image339.png"/><Relationship Id="rId3" Type="http://schemas.openxmlformats.org/officeDocument/2006/relationships/image" Target="../media/image340.png"/><Relationship Id="rId4" Type="http://schemas.openxmlformats.org/officeDocument/2006/relationships/image" Target="../media/image341.png"/><Relationship Id="rId5" Type="http://schemas.openxmlformats.org/officeDocument/2006/relationships/image" Target="../media/image342.png"/><Relationship Id="rId6" Type="http://schemas.openxmlformats.org/officeDocument/2006/relationships/image" Target="../media/image343.png"/><Relationship Id="rId7" Type="http://schemas.openxmlformats.org/officeDocument/2006/relationships/image" Target="../media/image344.png"/><Relationship Id="rId8" Type="http://schemas.openxmlformats.org/officeDocument/2006/relationships/image" Target="../media/image345.png"/><Relationship Id="rId9" Type="http://schemas.openxmlformats.org/officeDocument/2006/relationships/image" Target="../media/image346.png"/><Relationship Id="rId10" Type="http://schemas.openxmlformats.org/officeDocument/2006/relationships/image" Target="../media/image182.png"/><Relationship Id="rId11" Type="http://schemas.openxmlformats.org/officeDocument/2006/relationships/image" Target="../media/image347.png"/><Relationship Id="rId12" Type="http://schemas.openxmlformats.org/officeDocument/2006/relationships/image" Target="../media/image348.png"/><Relationship Id="rId13" Type="http://schemas.openxmlformats.org/officeDocument/2006/relationships/image" Target="../media/image182.png"/><Relationship Id="rId14" Type="http://schemas.openxmlformats.org/officeDocument/2006/relationships/image" Target="../media/image349.png"/><Relationship Id="rId15" Type="http://schemas.openxmlformats.org/officeDocument/2006/relationships/image" Target="../media/image350.png"/><Relationship Id="rId16" Type="http://schemas.openxmlformats.org/officeDocument/2006/relationships/image" Target="../media/image351.png"/><Relationship Id="rId17" Type="http://schemas.openxmlformats.org/officeDocument/2006/relationships/image" Target="../media/image352.png"/><Relationship Id="rId18" Type="http://schemas.openxmlformats.org/officeDocument/2006/relationships/image" Target="../media/image353.png"/><Relationship Id="rId19" Type="http://schemas.openxmlformats.org/officeDocument/2006/relationships/image" Target="../media/image190.png"/><Relationship Id="rId20" Type="http://schemas.openxmlformats.org/officeDocument/2006/relationships/image" Target="../media/image354.png"/><Relationship Id="rId21" Type="http://schemas.openxmlformats.org/officeDocument/2006/relationships/image" Target="../media/image355.png"/><Relationship Id="rId22" Type="http://schemas.openxmlformats.org/officeDocument/2006/relationships/image" Target="../media/image190.png"/><Relationship Id="rId2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6.png"/><Relationship Id="rId2" Type="http://schemas.openxmlformats.org/officeDocument/2006/relationships/image" Target="../media/image70.png"/><Relationship Id="rId3" Type="http://schemas.openxmlformats.org/officeDocument/2006/relationships/image" Target="../media/image357.png"/><Relationship Id="rId4" Type="http://schemas.openxmlformats.org/officeDocument/2006/relationships/image" Target="../media/image358.png"/><Relationship Id="rId5" Type="http://schemas.openxmlformats.org/officeDocument/2006/relationships/image" Target="../media/image358.png"/><Relationship Id="rId6" Type="http://schemas.openxmlformats.org/officeDocument/2006/relationships/image" Target="../media/image358.png"/><Relationship Id="rId7" Type="http://schemas.openxmlformats.org/officeDocument/2006/relationships/image" Target="../media/image359.png"/><Relationship Id="rId8" Type="http://schemas.openxmlformats.org/officeDocument/2006/relationships/image" Target="../media/image359.png"/><Relationship Id="rId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" descr=""/>
          <p:cNvPicPr/>
          <p:nvPr/>
        </p:nvPicPr>
        <p:blipFill>
          <a:blip r:embed="rId2"/>
          <a:stretch/>
        </p:blipFill>
        <p:spPr>
          <a:xfrm>
            <a:off x="1218960" y="199800"/>
            <a:ext cx="204444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" descr=""/>
          <p:cNvPicPr/>
          <p:nvPr/>
        </p:nvPicPr>
        <p:blipFill>
          <a:blip r:embed="rId3"/>
          <a:stretch/>
        </p:blipFill>
        <p:spPr>
          <a:xfrm>
            <a:off x="1218960" y="2885760"/>
            <a:ext cx="1218960" cy="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1218960" y="199800"/>
            <a:ext cx="2741040" cy="302400"/>
          </a:xfrm>
          <a:prstGeom prst="rect">
            <a:avLst/>
          </a:prstGeom>
          <a:noFill/>
          <a:ln w="0">
            <a:noFill/>
          </a:ln>
        </p:spPr>
        <p:txBody>
          <a:bodyPr lIns="152280" rIns="152280" tIns="37800" bIns="37800" anchor="ctr">
            <a:noAutofit/>
          </a:bodyPr>
          <a:p>
            <a:pPr>
              <a:lnSpc>
                <a:spcPts val="1500"/>
              </a:lnSpc>
            </a:pPr>
            <a:r>
              <a:rPr b="1" lang="en-US" sz="1050" spc="105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GRADUATION DEFENSE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416040" y="218880"/>
            <a:ext cx="160920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pc="60" strike="noStrike" u="none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本科毕业设计答辩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218960" y="695160"/>
            <a:ext cx="123249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0" lang="zh-CN" sz="2700" spc="65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基于深度学习的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218960" y="1152360"/>
            <a:ext cx="10414800" cy="14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5624"/>
              </a:lnSpc>
            </a:pPr>
            <a:r>
              <a:rPr b="1" lang="zh-CN" sz="4500" spc="111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乳腺癌超声图像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5624"/>
              </a:lnSpc>
            </a:pPr>
            <a:r>
              <a:rPr b="1" lang="zh-CN" sz="4500" spc="111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自动诊断系统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218960" y="357156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答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493280" y="357156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767600" y="357156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人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171520" y="3571560"/>
            <a:ext cx="1110960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0" lang="zh-CN" sz="1800" strike="noStrike" u="non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雷传栋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218960" y="406692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767600" y="406692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号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171520" y="4066920"/>
            <a:ext cx="1110960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U202211999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218960" y="456228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班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767600" y="456228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171520" y="4562280"/>
            <a:ext cx="1110960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CS2202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18960" y="5057640"/>
            <a:ext cx="815760" cy="60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指导老师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171520" y="5209920"/>
            <a:ext cx="1110960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0" lang="zh-CN" sz="1800" strike="noStrike" u="non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陆枫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218960" y="585756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767600" y="585756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院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171520" y="5857560"/>
            <a:ext cx="1110960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0" lang="zh-CN" sz="1800" strike="noStrike" u="none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华中科技大学计算机科学与技术学院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218960" y="635292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日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767600" y="6352920"/>
            <a:ext cx="329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179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期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171520" y="6352920"/>
            <a:ext cx="1110960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2026</a:t>
            </a:r>
            <a:r>
              <a:rPr b="0" lang="zh-CN" sz="1800" strike="noStrike" u="none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年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4</a:t>
            </a:r>
            <a:r>
              <a:rPr b="0" lang="zh-CN" sz="1800" strike="noStrike" u="none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月</a:t>
            </a:r>
            <a:r>
              <a:rPr b="0" lang="en-US" sz="1800" strike="noStrike" u="none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26</a:t>
            </a:r>
            <a:r>
              <a:rPr b="0" lang="zh-CN" sz="1800" strike="noStrike" u="none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日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 descr=""/>
          <p:cNvPicPr/>
          <p:nvPr/>
        </p:nvPicPr>
        <p:blipFill>
          <a:blip r:embed="rId2"/>
          <a:stretch/>
        </p:blipFill>
        <p:spPr>
          <a:xfrm>
            <a:off x="761760" y="57132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3"/>
          <a:stretch/>
        </p:blipFill>
        <p:spPr>
          <a:xfrm>
            <a:off x="10956960" y="1164960"/>
            <a:ext cx="107640" cy="10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4"/>
          <a:stretch/>
        </p:blipFill>
        <p:spPr>
          <a:xfrm>
            <a:off x="11147400" y="1164960"/>
            <a:ext cx="107640" cy="10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5"/>
          <a:stretch/>
        </p:blipFill>
        <p:spPr>
          <a:xfrm>
            <a:off x="11337840" y="1164960"/>
            <a:ext cx="107640" cy="10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" descr=""/>
          <p:cNvPicPr/>
          <p:nvPr/>
        </p:nvPicPr>
        <p:blipFill>
          <a:blip r:embed="rId6"/>
          <a:stretch/>
        </p:blipFill>
        <p:spPr>
          <a:xfrm>
            <a:off x="733320" y="2276280"/>
            <a:ext cx="5086080" cy="10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" descr=""/>
          <p:cNvPicPr/>
          <p:nvPr/>
        </p:nvPicPr>
        <p:blipFill>
          <a:blip r:embed="rId7"/>
          <a:stretch/>
        </p:blipFill>
        <p:spPr>
          <a:xfrm>
            <a:off x="4867200" y="23716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8"/>
          <a:stretch/>
        </p:blipFill>
        <p:spPr>
          <a:xfrm>
            <a:off x="771480" y="2314440"/>
            <a:ext cx="56880" cy="9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9"/>
          <a:stretch/>
        </p:blipFill>
        <p:spPr>
          <a:xfrm>
            <a:off x="5171760" y="260964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10"/>
          <a:stretch/>
        </p:blipFill>
        <p:spPr>
          <a:xfrm>
            <a:off x="6372000" y="2276280"/>
            <a:ext cx="5086080" cy="10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11"/>
          <a:stretch/>
        </p:blipFill>
        <p:spPr>
          <a:xfrm>
            <a:off x="10505880" y="23716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12"/>
          <a:stretch/>
        </p:blipFill>
        <p:spPr>
          <a:xfrm>
            <a:off x="6410160" y="2314440"/>
            <a:ext cx="56880" cy="9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" descr=""/>
          <p:cNvPicPr/>
          <p:nvPr/>
        </p:nvPicPr>
        <p:blipFill>
          <a:blip r:embed="rId13"/>
          <a:stretch/>
        </p:blipFill>
        <p:spPr>
          <a:xfrm>
            <a:off x="10810800" y="260964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" descr=""/>
          <p:cNvPicPr/>
          <p:nvPr/>
        </p:nvPicPr>
        <p:blipFill>
          <a:blip r:embed="rId14"/>
          <a:stretch/>
        </p:blipFill>
        <p:spPr>
          <a:xfrm>
            <a:off x="733320" y="3571560"/>
            <a:ext cx="5086080" cy="10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15"/>
          <a:stretch/>
        </p:blipFill>
        <p:spPr>
          <a:xfrm>
            <a:off x="4867200" y="366696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16"/>
          <a:stretch/>
        </p:blipFill>
        <p:spPr>
          <a:xfrm>
            <a:off x="771480" y="3609720"/>
            <a:ext cx="56880" cy="9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" descr=""/>
          <p:cNvPicPr/>
          <p:nvPr/>
        </p:nvPicPr>
        <p:blipFill>
          <a:blip r:embed="rId17"/>
          <a:stretch/>
        </p:blipFill>
        <p:spPr>
          <a:xfrm>
            <a:off x="5171760" y="39049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" descr=""/>
          <p:cNvPicPr/>
          <p:nvPr/>
        </p:nvPicPr>
        <p:blipFill>
          <a:blip r:embed="rId18"/>
          <a:stretch/>
        </p:blipFill>
        <p:spPr>
          <a:xfrm>
            <a:off x="6372000" y="3571560"/>
            <a:ext cx="5086080" cy="10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19"/>
          <a:stretch/>
        </p:blipFill>
        <p:spPr>
          <a:xfrm>
            <a:off x="10505880" y="366696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 descr=""/>
          <p:cNvPicPr/>
          <p:nvPr/>
        </p:nvPicPr>
        <p:blipFill>
          <a:blip r:embed="rId20"/>
          <a:stretch/>
        </p:blipFill>
        <p:spPr>
          <a:xfrm>
            <a:off x="6410160" y="3609720"/>
            <a:ext cx="56880" cy="9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" descr=""/>
          <p:cNvPicPr/>
          <p:nvPr/>
        </p:nvPicPr>
        <p:blipFill>
          <a:blip r:embed="rId21"/>
          <a:stretch/>
        </p:blipFill>
        <p:spPr>
          <a:xfrm>
            <a:off x="10810800" y="39049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22"/>
          <a:stretch/>
        </p:blipFill>
        <p:spPr>
          <a:xfrm>
            <a:off x="733320" y="4867200"/>
            <a:ext cx="5086080" cy="10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23"/>
          <a:stretch/>
        </p:blipFill>
        <p:spPr>
          <a:xfrm>
            <a:off x="4867200" y="496224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24"/>
          <a:stretch/>
        </p:blipFill>
        <p:spPr>
          <a:xfrm>
            <a:off x="771480" y="4905360"/>
            <a:ext cx="56880" cy="9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" descr=""/>
          <p:cNvPicPr/>
          <p:nvPr/>
        </p:nvPicPr>
        <p:blipFill>
          <a:blip r:embed="rId25"/>
          <a:stretch/>
        </p:blipFill>
        <p:spPr>
          <a:xfrm>
            <a:off x="5171760" y="520056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26"/>
          <a:stretch/>
        </p:blipFill>
        <p:spPr>
          <a:xfrm>
            <a:off x="6372000" y="4867200"/>
            <a:ext cx="5086080" cy="10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7"/>
          <a:stretch/>
        </p:blipFill>
        <p:spPr>
          <a:xfrm>
            <a:off x="10505880" y="496224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28"/>
          <a:stretch/>
        </p:blipFill>
        <p:spPr>
          <a:xfrm>
            <a:off x="6410160" y="4905360"/>
            <a:ext cx="56880" cy="97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9"/>
          <a:stretch/>
        </p:blipFill>
        <p:spPr>
          <a:xfrm>
            <a:off x="10810800" y="520056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"/>
          <p:cNvSpPr txBox="1"/>
          <p:nvPr/>
        </p:nvSpPr>
        <p:spPr>
          <a:xfrm>
            <a:off x="990360" y="533160"/>
            <a:ext cx="13165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zh-CN" sz="3600" spc="36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目录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990360" y="1066680"/>
            <a:ext cx="28047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en-US" sz="1350" spc="133" strike="noStrike" u="none">
                <a:solidFill>
                  <a:srgbClr val="9ca3af"/>
                </a:solidFill>
                <a:effectLst/>
                <a:uFillTx/>
                <a:latin typeface="ui-monospace"/>
                <a:ea typeface="ui-monospace"/>
              </a:rPr>
              <a:t>TABLE OF CONTENTS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000080" y="2571480"/>
            <a:ext cx="7311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pc="-179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01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838160" y="2543040"/>
            <a:ext cx="377388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研究背景与目标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838160" y="2904840"/>
            <a:ext cx="3883680" cy="15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199"/>
              </a:lnSpc>
            </a:pPr>
            <a:r>
              <a:rPr b="0" lang="en-US" sz="900" spc="43" strike="noStrike" u="none">
                <a:solidFill>
                  <a:srgbClr val="9ca3af"/>
                </a:solidFill>
                <a:effectLst/>
                <a:uFillTx/>
                <a:latin typeface="ui-monospace"/>
                <a:ea typeface="ui-monospace"/>
              </a:rPr>
              <a:t>BACKGROUND &amp; OBJECTIVES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638760" y="2571480"/>
            <a:ext cx="7311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pc="-179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02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476840" y="2543040"/>
            <a:ext cx="37670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总体技术路线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476840" y="2904840"/>
            <a:ext cx="3883680" cy="15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199"/>
              </a:lnSpc>
            </a:pPr>
            <a:r>
              <a:rPr b="0" lang="en-US" sz="900" spc="43" strike="noStrike" u="none">
                <a:solidFill>
                  <a:srgbClr val="9ca3af"/>
                </a:solidFill>
                <a:effectLst/>
                <a:uFillTx/>
                <a:latin typeface="ui-monospace"/>
                <a:ea typeface="ui-monospace"/>
              </a:rPr>
              <a:t>OVERALL TECHNICAL ROUTE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000080" y="3867120"/>
            <a:ext cx="7311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pc="-179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03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838160" y="3838320"/>
            <a:ext cx="375300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关键技术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838160" y="4200480"/>
            <a:ext cx="3835440" cy="15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199"/>
              </a:lnSpc>
            </a:pPr>
            <a:r>
              <a:rPr b="0" lang="en-US" sz="900" spc="43" strike="noStrike" u="none">
                <a:solidFill>
                  <a:srgbClr val="9ca3af"/>
                </a:solidFill>
                <a:effectLst/>
                <a:uFillTx/>
                <a:latin typeface="ui-monospace"/>
                <a:ea typeface="ui-monospace"/>
              </a:rPr>
              <a:t>KEY TECHNOLOGIES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638760" y="3867120"/>
            <a:ext cx="7311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pc="-179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04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476840" y="3838320"/>
            <a:ext cx="377388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实验与结果分析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476840" y="4200480"/>
            <a:ext cx="3876480" cy="15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199"/>
              </a:lnSpc>
            </a:pPr>
            <a:r>
              <a:rPr b="0" lang="en-US" sz="900" spc="43" strike="noStrike" u="none">
                <a:solidFill>
                  <a:srgbClr val="9ca3af"/>
                </a:solidFill>
                <a:effectLst/>
                <a:uFillTx/>
                <a:latin typeface="ui-monospace"/>
                <a:ea typeface="ui-monospace"/>
              </a:rPr>
              <a:t>EXPERIMENTS &amp; ANALYSIS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00080" y="5162400"/>
            <a:ext cx="7311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pc="-179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05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838160" y="5133960"/>
            <a:ext cx="377388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en-US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Web</a:t>
            </a:r>
            <a:r>
              <a:rPr b="1" lang="zh-CN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系统演示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838160" y="5495760"/>
            <a:ext cx="3828600" cy="15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199"/>
              </a:lnSpc>
            </a:pPr>
            <a:r>
              <a:rPr b="0" lang="en-US" sz="900" spc="43" strike="noStrike" u="none">
                <a:solidFill>
                  <a:srgbClr val="9ca3af"/>
                </a:solidFill>
                <a:effectLst/>
                <a:uFillTx/>
                <a:latin typeface="ui-monospace"/>
                <a:ea typeface="ui-monospace"/>
              </a:rPr>
              <a:t>WEB SYSTEM DEMO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638760" y="5162400"/>
            <a:ext cx="7311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pc="-179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06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476840" y="5133960"/>
            <a:ext cx="37598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总结与展望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476840" y="5495760"/>
            <a:ext cx="3890520" cy="15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199"/>
              </a:lnSpc>
            </a:pPr>
            <a:r>
              <a:rPr b="0" lang="en-US" sz="900" spc="43" strike="noStrike" u="none">
                <a:solidFill>
                  <a:srgbClr val="9ca3af"/>
                </a:solidFill>
                <a:effectLst/>
                <a:uFillTx/>
                <a:latin typeface="ui-monospace"/>
                <a:ea typeface="ui-monospace"/>
              </a:rPr>
              <a:t>CONCLUSION &amp; FUTURE WORK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3"/>
          <a:stretch/>
        </p:blipFill>
        <p:spPr>
          <a:xfrm>
            <a:off x="457200" y="39996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4"/>
          <a:stretch/>
        </p:blipFill>
        <p:spPr>
          <a:xfrm>
            <a:off x="428400" y="1618920"/>
            <a:ext cx="8591400" cy="91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5"/>
          <a:stretch/>
        </p:blipFill>
        <p:spPr>
          <a:xfrm>
            <a:off x="457200" y="2890800"/>
            <a:ext cx="3555720" cy="350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6"/>
          <a:stretch/>
        </p:blipFill>
        <p:spPr>
          <a:xfrm>
            <a:off x="466560" y="2900160"/>
            <a:ext cx="353664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7"/>
          <a:stretch/>
        </p:blipFill>
        <p:spPr>
          <a:xfrm>
            <a:off x="771480" y="3205080"/>
            <a:ext cx="5331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8"/>
          <a:stretch/>
        </p:blipFill>
        <p:spPr>
          <a:xfrm>
            <a:off x="771480" y="446220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9"/>
          <a:stretch/>
        </p:blipFill>
        <p:spPr>
          <a:xfrm>
            <a:off x="771480" y="484344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10"/>
          <a:stretch/>
        </p:blipFill>
        <p:spPr>
          <a:xfrm>
            <a:off x="771480" y="522432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11"/>
          <a:stretch/>
        </p:blipFill>
        <p:spPr>
          <a:xfrm>
            <a:off x="4317840" y="2890800"/>
            <a:ext cx="3555720" cy="350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12"/>
          <a:stretch/>
        </p:blipFill>
        <p:spPr>
          <a:xfrm>
            <a:off x="4327200" y="2900160"/>
            <a:ext cx="353664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13"/>
          <a:stretch/>
        </p:blipFill>
        <p:spPr>
          <a:xfrm>
            <a:off x="4632120" y="3205080"/>
            <a:ext cx="5331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14"/>
          <a:stretch/>
        </p:blipFill>
        <p:spPr>
          <a:xfrm>
            <a:off x="4632120" y="446220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15"/>
          <a:stretch/>
        </p:blipFill>
        <p:spPr>
          <a:xfrm>
            <a:off x="4632120" y="484344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16"/>
          <a:stretch/>
        </p:blipFill>
        <p:spPr>
          <a:xfrm>
            <a:off x="4632120" y="522432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17"/>
          <a:stretch/>
        </p:blipFill>
        <p:spPr>
          <a:xfrm>
            <a:off x="8178480" y="2890800"/>
            <a:ext cx="3555720" cy="350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18"/>
          <a:stretch/>
        </p:blipFill>
        <p:spPr>
          <a:xfrm>
            <a:off x="8188200" y="2900160"/>
            <a:ext cx="353664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19"/>
          <a:stretch/>
        </p:blipFill>
        <p:spPr>
          <a:xfrm>
            <a:off x="8188200" y="2900160"/>
            <a:ext cx="3536640" cy="349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20"/>
          <a:stretch/>
        </p:blipFill>
        <p:spPr>
          <a:xfrm>
            <a:off x="8492760" y="3205080"/>
            <a:ext cx="5331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1"/>
          <a:stretch/>
        </p:blipFill>
        <p:spPr>
          <a:xfrm>
            <a:off x="8492760" y="446220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2"/>
          <a:stretch/>
        </p:blipFill>
        <p:spPr>
          <a:xfrm>
            <a:off x="8492760" y="484344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3"/>
          <a:stretch/>
        </p:blipFill>
        <p:spPr>
          <a:xfrm>
            <a:off x="8492760" y="5452920"/>
            <a:ext cx="56880" cy="5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 txBox="1"/>
          <p:nvPr/>
        </p:nvSpPr>
        <p:spPr>
          <a:xfrm>
            <a:off x="761760" y="304560"/>
            <a:ext cx="568332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pc="-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研究背景：乳腺癌筛查现状与超声优势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761760" y="685800"/>
            <a:ext cx="58431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0" lang="en-US" sz="1050" spc="26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RESEARCH BACKGROUND &amp; CURRENT CHALLENGES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57200" y="1647720"/>
            <a:ext cx="8704800" cy="897840"/>
          </a:xfrm>
          <a:prstGeom prst="rect">
            <a:avLst/>
          </a:prstGeom>
          <a:noFill/>
          <a:ln w="0">
            <a:noFill/>
          </a:ln>
        </p:spPr>
        <p:txBody>
          <a:bodyPr lIns="228600" rIns="228600" tIns="152280" bIns="152280" anchor="ctr">
            <a:no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乳腺癌是全球女性发病率最高的恶性肿瘤。早期筛查是提高生存率的关键，而超声检查作为一线筛查手段，在临床应用中既展现出显著优势，也面临着传统人工判读的瓶颈。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71480" y="3966840"/>
            <a:ext cx="35125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流行病学现状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942840" y="4386240"/>
            <a:ext cx="26056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全球女性发病率</a:t>
            </a:r>
            <a:r>
              <a:rPr b="1" lang="zh-CN" sz="12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最高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的恶性肿瘤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42840" y="4767120"/>
            <a:ext cx="164592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发病呈现年轻化趋势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42840" y="5148000"/>
            <a:ext cx="28108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早期发现与干预可显著降低死亡率，提升患者生存质量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632120" y="3966840"/>
            <a:ext cx="35125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超声筛查优势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803480" y="4386240"/>
            <a:ext cx="310860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1" lang="zh-CN" sz="12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无创、无辐射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，安全性高，可反复检查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803480" y="4767120"/>
            <a:ext cx="292572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特别适合亚洲女性常见的</a:t>
            </a:r>
            <a:r>
              <a:rPr b="1" lang="zh-CN" sz="12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致密型乳腺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803480" y="5148000"/>
            <a:ext cx="28108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设备普及率高，检查成本相对较低，适合大规模普查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492760" y="3966840"/>
            <a:ext cx="35125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传统人工判读痛点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664120" y="4386240"/>
            <a:ext cx="23770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高度依赖医生经验，</a:t>
            </a:r>
            <a:r>
              <a:rPr b="1" lang="zh-CN" sz="12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主观性强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664120" y="4767120"/>
            <a:ext cx="28108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不同层级医生间的诊断</a:t>
            </a:r>
            <a:r>
              <a:rPr b="1" lang="zh-CN" sz="12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一致性差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，易出现漏诊误诊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8664120" y="5376600"/>
            <a:ext cx="28108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优质医疗资源分布不均，基层医院筛查效率与质量受限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3"/>
          <a:stretch/>
        </p:blipFill>
        <p:spPr>
          <a:xfrm>
            <a:off x="0" y="0"/>
            <a:ext cx="75960" cy="89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4"/>
          <a:stretch/>
        </p:blipFill>
        <p:spPr>
          <a:xfrm>
            <a:off x="0" y="914400"/>
            <a:ext cx="12191760" cy="594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5"/>
          <a:stretch/>
        </p:blipFill>
        <p:spPr>
          <a:xfrm>
            <a:off x="514080" y="142848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6"/>
          <a:stretch/>
        </p:blipFill>
        <p:spPr>
          <a:xfrm>
            <a:off x="428400" y="1800000"/>
            <a:ext cx="5229000" cy="14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7"/>
          <a:stretch/>
        </p:blipFill>
        <p:spPr>
          <a:xfrm>
            <a:off x="514080" y="359568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8"/>
          <a:stretch/>
        </p:blipFill>
        <p:spPr>
          <a:xfrm>
            <a:off x="428400" y="3966840"/>
            <a:ext cx="1679400" cy="8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9"/>
          <a:stretch/>
        </p:blipFill>
        <p:spPr>
          <a:xfrm>
            <a:off x="2203200" y="3966840"/>
            <a:ext cx="1679400" cy="8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10"/>
          <a:stretch/>
        </p:blipFill>
        <p:spPr>
          <a:xfrm>
            <a:off x="3978000" y="3966840"/>
            <a:ext cx="1679400" cy="8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11"/>
          <a:stretch/>
        </p:blipFill>
        <p:spPr>
          <a:xfrm>
            <a:off x="190440" y="4852800"/>
            <a:ext cx="5705280" cy="18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12"/>
          <a:stretch/>
        </p:blipFill>
        <p:spPr>
          <a:xfrm>
            <a:off x="4790880" y="5119560"/>
            <a:ext cx="838080" cy="83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13"/>
          <a:stretch/>
        </p:blipFill>
        <p:spPr>
          <a:xfrm>
            <a:off x="3952800" y="5867280"/>
            <a:ext cx="91440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14"/>
          <a:stretch/>
        </p:blipFill>
        <p:spPr>
          <a:xfrm>
            <a:off x="6057720" y="1342800"/>
            <a:ext cx="5705280" cy="508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15"/>
          <a:stretch/>
        </p:blipFill>
        <p:spPr>
          <a:xfrm>
            <a:off x="6095880" y="1380960"/>
            <a:ext cx="562896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16"/>
          <a:stretch/>
        </p:blipFill>
        <p:spPr>
          <a:xfrm>
            <a:off x="10644480" y="1704960"/>
            <a:ext cx="8521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17"/>
          <a:stretch/>
        </p:blipFill>
        <p:spPr>
          <a:xfrm>
            <a:off x="6324480" y="2104920"/>
            <a:ext cx="5171760" cy="405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"/>
          <p:cNvSpPr txBox="1"/>
          <p:nvPr/>
        </p:nvSpPr>
        <p:spPr>
          <a:xfrm>
            <a:off x="457200" y="276120"/>
            <a:ext cx="504036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pc="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研究目标：高精度自动诊断系统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876240" y="1371600"/>
            <a:ext cx="246888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系统定位与临床价值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23600" y="2066760"/>
            <a:ext cx="4760280" cy="92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435"/>
              </a:lnSpc>
            </a:pPr>
            <a:r>
              <a:rPr b="0" lang="zh-CN" sz="15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开发计算机辅助诊断系统（</a:t>
            </a:r>
            <a:r>
              <a:rPr b="0" lang="en-US" sz="15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CAD</a:t>
            </a:r>
            <a:r>
              <a:rPr b="0" lang="zh-CN" sz="15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）作为医生的</a:t>
            </a:r>
            <a:r>
              <a:rPr b="1" lang="en-US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“第二意见”</a:t>
            </a:r>
            <a:r>
              <a:rPr b="0" lang="zh-CN" sz="15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，旨在有效辅助临床决策，显著减少误诊与漏诊现象，提升整体医疗质量。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876240" y="353844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核心分类任务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42880" y="4157640"/>
            <a:ext cx="14796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zh-CN" sz="1350" strike="noStrike" u="none">
                <a:solidFill>
                  <a:srgbClr val="1f2937"/>
                </a:solidFill>
                <a:effectLst/>
                <a:uFillTx/>
                <a:latin typeface="Inter"/>
                <a:ea typeface="Inter"/>
              </a:rPr>
              <a:t>良性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42880" y="4462200"/>
            <a:ext cx="14796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Benign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317680" y="4157640"/>
            <a:ext cx="14796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zh-CN" sz="1350" strike="noStrike" u="none">
                <a:solidFill>
                  <a:srgbClr val="1f2937"/>
                </a:solidFill>
                <a:effectLst/>
                <a:uFillTx/>
                <a:latin typeface="Inter"/>
                <a:ea typeface="Inter"/>
              </a:rPr>
              <a:t>恶性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317680" y="4462200"/>
            <a:ext cx="14796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Malignant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092120" y="4157640"/>
            <a:ext cx="14796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zh-CN" sz="1350" strike="noStrike" u="none">
                <a:solidFill>
                  <a:srgbClr val="1f2937"/>
                </a:solidFill>
                <a:effectLst/>
                <a:uFillTx/>
                <a:latin typeface="Inter"/>
                <a:ea typeface="Inter"/>
              </a:rPr>
              <a:t>正常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092120" y="4462200"/>
            <a:ext cx="14796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Normal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61760" y="5455440"/>
            <a:ext cx="22557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pc="65" strike="noStrike" u="none">
                <a:solidFill>
                  <a:srgbClr val="d1d5db"/>
                </a:solidFill>
                <a:effectLst/>
                <a:uFillTx/>
                <a:latin typeface="Inter"/>
                <a:ea typeface="Inter"/>
              </a:rPr>
              <a:t>核心性能指标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61760" y="5760000"/>
            <a:ext cx="21945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三分类整体准确率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550680" y="5417280"/>
            <a:ext cx="171108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5400"/>
              </a:lnSpc>
            </a:pPr>
            <a:r>
              <a:rPr b="1" lang="en-US" sz="5400" spc="-269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&gt;93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014800" y="5702760"/>
            <a:ext cx="3708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pc="-269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%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324480" y="1685880"/>
            <a:ext cx="12340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系统架构示意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0644480" y="1704960"/>
            <a:ext cx="1022400" cy="264600"/>
          </a:xfrm>
          <a:prstGeom prst="rect">
            <a:avLst/>
          </a:prstGeom>
          <a:noFill/>
          <a:ln w="0">
            <a:noFill/>
          </a:ln>
        </p:spPr>
        <p:txBody>
          <a:bodyPr lIns="75960" rIns="75960" tIns="37800" bIns="37800" anchor="ctr">
            <a:noAutofit/>
          </a:bodyPr>
          <a:p>
            <a:pPr>
              <a:lnSpc>
                <a:spcPts val="1199"/>
              </a:lnSpc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Architecture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3"/>
          <a:stretch/>
        </p:blipFill>
        <p:spPr>
          <a:xfrm>
            <a:off x="428400" y="1190520"/>
            <a:ext cx="4606920" cy="523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" descr=""/>
          <p:cNvPicPr/>
          <p:nvPr/>
        </p:nvPicPr>
        <p:blipFill>
          <a:blip r:embed="rId4"/>
          <a:stretch/>
        </p:blipFill>
        <p:spPr>
          <a:xfrm>
            <a:off x="1040040" y="1457280"/>
            <a:ext cx="3383640" cy="436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5"/>
          <a:stretch/>
        </p:blipFill>
        <p:spPr>
          <a:xfrm>
            <a:off x="5359680" y="1266480"/>
            <a:ext cx="6403320" cy="150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" descr=""/>
          <p:cNvPicPr/>
          <p:nvPr/>
        </p:nvPicPr>
        <p:blipFill>
          <a:blip r:embed="rId6"/>
          <a:stretch/>
        </p:blipFill>
        <p:spPr>
          <a:xfrm>
            <a:off x="5626440" y="149508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7"/>
          <a:stretch/>
        </p:blipFill>
        <p:spPr>
          <a:xfrm>
            <a:off x="5359680" y="3054960"/>
            <a:ext cx="6403320" cy="15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" descr=""/>
          <p:cNvPicPr/>
          <p:nvPr/>
        </p:nvPicPr>
        <p:blipFill>
          <a:blip r:embed="rId8"/>
          <a:stretch/>
        </p:blipFill>
        <p:spPr>
          <a:xfrm>
            <a:off x="5626440" y="328356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9"/>
          <a:stretch/>
        </p:blipFill>
        <p:spPr>
          <a:xfrm>
            <a:off x="5359680" y="4852800"/>
            <a:ext cx="6403320" cy="150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10"/>
          <a:stretch/>
        </p:blipFill>
        <p:spPr>
          <a:xfrm>
            <a:off x="5626440" y="5081400"/>
            <a:ext cx="361800" cy="36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"/>
          <p:cNvSpPr txBox="1"/>
          <p:nvPr/>
        </p:nvSpPr>
        <p:spPr>
          <a:xfrm>
            <a:off x="723600" y="457200"/>
            <a:ext cx="648072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65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核心挑战：数据、类别与可解释性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95160" y="5972040"/>
            <a:ext cx="42570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0" lang="zh-CN" sz="1050" spc="51" strike="noStrike" u="none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图</a:t>
            </a:r>
            <a:r>
              <a:rPr b="0" lang="en-US" sz="1050" spc="51" strike="noStrike" u="none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1</a:t>
            </a:r>
            <a:r>
              <a:rPr b="0" lang="zh-CN" sz="1050" spc="51" strike="noStrike" u="none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：研究背景与核心挑战示意图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654880" y="1523880"/>
            <a:ext cx="31032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ts val="2098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1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112080" y="1523880"/>
            <a:ext cx="109728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数据量小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654880" y="1942920"/>
            <a:ext cx="5968080" cy="556920"/>
          </a:xfrm>
          <a:prstGeom prst="rect">
            <a:avLst/>
          </a:prstGeom>
          <a:noFill/>
          <a:ln w="0">
            <a:noFill/>
          </a:ln>
        </p:spPr>
        <p:txBody>
          <a:bodyPr lIns="45720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公开的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BUSI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数据集规模有限，仅包含 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780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 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张图像，难以满足深度学习模型对海量数据的需求，极易导致模型在训练过程中出现过拟合现象。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654880" y="3312000"/>
            <a:ext cx="31032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ts val="2098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2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112080" y="3312000"/>
            <a:ext cx="137160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类别不平衡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654880" y="3731400"/>
            <a:ext cx="5968080" cy="556920"/>
          </a:xfrm>
          <a:prstGeom prst="rect">
            <a:avLst/>
          </a:prstGeom>
          <a:noFill/>
          <a:ln w="0">
            <a:noFill/>
          </a:ln>
        </p:spPr>
        <p:txBody>
          <a:bodyPr lIns="45720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数据集中各类别样本比例严重失衡：良性占 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56%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，恶性占 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27%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，正常仅占 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17%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。这种长尾分布会使模型预测偏向多数类。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654880" y="5109840"/>
            <a:ext cx="31032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ts val="2098"/>
              </a:lnSpc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3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112080" y="510984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可解释性缺失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654880" y="5529240"/>
            <a:ext cx="5968080" cy="556920"/>
          </a:xfrm>
          <a:prstGeom prst="rect">
            <a:avLst/>
          </a:prstGeom>
          <a:noFill/>
          <a:ln w="0">
            <a:noFill/>
          </a:ln>
        </p:spPr>
        <p:txBody>
          <a:bodyPr lIns="45720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医疗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AI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若仅作为 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“黑盒”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 模型输出结果，缺乏决策过程的透明度和病理依据，将难以获得临床医生的信任，严重阻碍其实际落地应用。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748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34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" descr=""/>
          <p:cNvPicPr/>
          <p:nvPr/>
        </p:nvPicPr>
        <p:blipFill>
          <a:blip r:embed="rId3"/>
          <a:stretch/>
        </p:blipFill>
        <p:spPr>
          <a:xfrm>
            <a:off x="0" y="0"/>
            <a:ext cx="75960" cy="133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4"/>
          <a:stretch/>
        </p:blipFill>
        <p:spPr>
          <a:xfrm>
            <a:off x="11125080" y="990360"/>
            <a:ext cx="60948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5"/>
          <a:stretch/>
        </p:blipFill>
        <p:spPr>
          <a:xfrm>
            <a:off x="0" y="1342800"/>
            <a:ext cx="12191760" cy="61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" descr=""/>
          <p:cNvPicPr/>
          <p:nvPr/>
        </p:nvPicPr>
        <p:blipFill>
          <a:blip r:embed="rId6"/>
          <a:stretch/>
        </p:blipFill>
        <p:spPr>
          <a:xfrm>
            <a:off x="352080" y="1695240"/>
            <a:ext cx="3734640" cy="117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" descr=""/>
          <p:cNvPicPr/>
          <p:nvPr/>
        </p:nvPicPr>
        <p:blipFill>
          <a:blip r:embed="rId7"/>
          <a:stretch/>
        </p:blipFill>
        <p:spPr>
          <a:xfrm>
            <a:off x="3448440" y="1723680"/>
            <a:ext cx="6098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8"/>
          <a:stretch/>
        </p:blipFill>
        <p:spPr>
          <a:xfrm>
            <a:off x="609480" y="191448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" descr=""/>
          <p:cNvPicPr/>
          <p:nvPr/>
        </p:nvPicPr>
        <p:blipFill>
          <a:blip r:embed="rId9"/>
          <a:stretch/>
        </p:blipFill>
        <p:spPr>
          <a:xfrm>
            <a:off x="352080" y="3043080"/>
            <a:ext cx="3734640" cy="117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" descr=""/>
          <p:cNvPicPr/>
          <p:nvPr/>
        </p:nvPicPr>
        <p:blipFill>
          <a:blip r:embed="rId10"/>
          <a:stretch/>
        </p:blipFill>
        <p:spPr>
          <a:xfrm>
            <a:off x="3448440" y="3071520"/>
            <a:ext cx="6098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11"/>
          <a:stretch/>
        </p:blipFill>
        <p:spPr>
          <a:xfrm>
            <a:off x="609480" y="326196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" descr=""/>
          <p:cNvPicPr/>
          <p:nvPr/>
        </p:nvPicPr>
        <p:blipFill>
          <a:blip r:embed="rId12"/>
          <a:stretch/>
        </p:blipFill>
        <p:spPr>
          <a:xfrm>
            <a:off x="352080" y="4390920"/>
            <a:ext cx="3734640" cy="117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" descr=""/>
          <p:cNvPicPr/>
          <p:nvPr/>
        </p:nvPicPr>
        <p:blipFill>
          <a:blip r:embed="rId13"/>
          <a:stretch/>
        </p:blipFill>
        <p:spPr>
          <a:xfrm>
            <a:off x="3448440" y="4419360"/>
            <a:ext cx="6098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" descr=""/>
          <p:cNvPicPr/>
          <p:nvPr/>
        </p:nvPicPr>
        <p:blipFill>
          <a:blip r:embed="rId14"/>
          <a:stretch/>
        </p:blipFill>
        <p:spPr>
          <a:xfrm>
            <a:off x="609480" y="460980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15"/>
          <a:stretch/>
        </p:blipFill>
        <p:spPr>
          <a:xfrm>
            <a:off x="352080" y="5738760"/>
            <a:ext cx="3734640" cy="139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" descr=""/>
          <p:cNvPicPr/>
          <p:nvPr/>
        </p:nvPicPr>
        <p:blipFill>
          <a:blip r:embed="rId16"/>
          <a:stretch/>
        </p:blipFill>
        <p:spPr>
          <a:xfrm>
            <a:off x="3448440" y="5767200"/>
            <a:ext cx="6098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" descr=""/>
          <p:cNvPicPr/>
          <p:nvPr/>
        </p:nvPicPr>
        <p:blipFill>
          <a:blip r:embed="rId17"/>
          <a:stretch/>
        </p:blipFill>
        <p:spPr>
          <a:xfrm>
            <a:off x="609480" y="595764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18"/>
          <a:stretch/>
        </p:blipFill>
        <p:spPr>
          <a:xfrm>
            <a:off x="4410720" y="1695240"/>
            <a:ext cx="7428600" cy="543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19"/>
          <a:stretch/>
        </p:blipFill>
        <p:spPr>
          <a:xfrm>
            <a:off x="11420280" y="173340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" descr=""/>
          <p:cNvPicPr/>
          <p:nvPr/>
        </p:nvPicPr>
        <p:blipFill>
          <a:blip r:embed="rId20"/>
          <a:stretch/>
        </p:blipFill>
        <p:spPr>
          <a:xfrm>
            <a:off x="4677480" y="200016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21"/>
          <a:stretch/>
        </p:blipFill>
        <p:spPr>
          <a:xfrm>
            <a:off x="10869840" y="1981080"/>
            <a:ext cx="7027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" descr=""/>
          <p:cNvPicPr/>
          <p:nvPr/>
        </p:nvPicPr>
        <p:blipFill>
          <a:blip r:embed="rId22"/>
          <a:stretch/>
        </p:blipFill>
        <p:spPr>
          <a:xfrm>
            <a:off x="4677480" y="2381040"/>
            <a:ext cx="6895080" cy="448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"/>
          <p:cNvSpPr txBox="1"/>
          <p:nvPr/>
        </p:nvSpPr>
        <p:spPr>
          <a:xfrm>
            <a:off x="457200" y="380880"/>
            <a:ext cx="56163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65" strike="noStrike" u="none">
                <a:solidFill>
                  <a:srgbClr val="1f3a68"/>
                </a:solidFill>
                <a:effectLst/>
                <a:uFillTx/>
                <a:latin typeface="-apple-system"/>
                <a:ea typeface="-apple-system"/>
              </a:rPr>
              <a:t>总体技术路线：系统闭环架构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57200" y="838080"/>
            <a:ext cx="54828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从数据预处理到</a:t>
            </a:r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Web</a:t>
            </a:r>
            <a:r>
              <a:rPr b="0" lang="zh-CN" sz="13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应用部署的端到端解决方案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143000" y="1914480"/>
            <a:ext cx="32695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-apple-system"/>
                <a:ea typeface="-apple-system"/>
              </a:rPr>
              <a:t>数据驱动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143000" y="2219040"/>
            <a:ext cx="277920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构建高质量数据集，通过标准化预处理与在线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/</a:t>
            </a: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离线增强技术，夯实模型训练基础。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143000" y="3261960"/>
            <a:ext cx="32695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-apple-system"/>
                <a:ea typeface="-apple-system"/>
              </a:rPr>
              <a:t>模型优化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143000" y="3566880"/>
            <a:ext cx="277920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采用迁移学习架构，结合标签平滑与动态学习率策略，实现高精度分类推理。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143000" y="4609800"/>
            <a:ext cx="32695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-apple-system"/>
                <a:ea typeface="-apple-system"/>
              </a:rPr>
              <a:t>结果可视化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143000" y="4914720"/>
            <a:ext cx="277920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引入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Grad-CAM </a:t>
            </a: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热力图技术，提供直观的病灶区域定位，增强诊断结果的</a:t>
            </a:r>
            <a:r>
              <a:rPr b="1" lang="zh-CN" sz="1050" strike="noStrike" u="none">
                <a:solidFill>
                  <a:srgbClr val="e8823b"/>
                </a:solidFill>
                <a:effectLst/>
                <a:uFillTx/>
                <a:latin typeface="-apple-system"/>
                <a:ea typeface="-apple-system"/>
              </a:rPr>
              <a:t>可解释性</a:t>
            </a: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143000" y="5957640"/>
            <a:ext cx="32695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-apple-system"/>
                <a:ea typeface="-apple-system"/>
              </a:rPr>
              <a:t>工程落地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143000" y="6262560"/>
            <a:ext cx="2779200" cy="6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前后端分离架构，结合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Docker </a:t>
            </a: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容器化部署与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SQLite </a:t>
            </a: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数据持久化，打造完整的 </a:t>
            </a:r>
            <a:r>
              <a:rPr b="0" lang="en-US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Web </a:t>
            </a:r>
            <a:r>
              <a:rPr b="0" lang="zh-CN" sz="1050" strike="noStrike" u="none">
                <a:solidFill>
                  <a:srgbClr val="666666"/>
                </a:solidFill>
                <a:effectLst/>
                <a:uFillTx/>
                <a:latin typeface="-apple-system"/>
                <a:ea typeface="-apple-system"/>
              </a:rPr>
              <a:t>应用闭环。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944240" y="1962000"/>
            <a:ext cx="14396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-apple-system"/>
                <a:ea typeface="-apple-system"/>
              </a:rPr>
              <a:t>系统总体架构图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0869840" y="1981080"/>
            <a:ext cx="843120" cy="264600"/>
          </a:xfrm>
          <a:prstGeom prst="rect">
            <a:avLst/>
          </a:prstGeom>
          <a:noFill/>
          <a:ln w="0">
            <a:noFill/>
          </a:ln>
        </p:spPr>
        <p:txBody>
          <a:bodyPr lIns="75960" rIns="75960" tIns="37800" bIns="37800" anchor="ctr">
            <a:noAutofit/>
          </a:bodyPr>
          <a:p>
            <a:pPr>
              <a:lnSpc>
                <a:spcPts val="1199"/>
              </a:lnSpc>
            </a:pPr>
            <a:r>
              <a:rPr b="0" lang="en-US" sz="900" strike="noStrike" u="none">
                <a:solidFill>
                  <a:srgbClr val="9ca3af"/>
                </a:solidFill>
                <a:effectLst/>
                <a:uFillTx/>
                <a:latin typeface="ui-monospace"/>
                <a:ea typeface="ui-monospace"/>
              </a:rPr>
              <a:t>v2026.04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723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" descr=""/>
          <p:cNvPicPr/>
          <p:nvPr/>
        </p:nvPicPr>
        <p:blipFill>
          <a:blip r:embed="rId2"/>
          <a:stretch/>
        </p:blipFill>
        <p:spPr>
          <a:xfrm>
            <a:off x="609480" y="45720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" descr=""/>
          <p:cNvPicPr/>
          <p:nvPr/>
        </p:nvPicPr>
        <p:blipFill>
          <a:blip r:embed="rId3"/>
          <a:stretch/>
        </p:blipFill>
        <p:spPr>
          <a:xfrm>
            <a:off x="580680" y="1037880"/>
            <a:ext cx="5410080" cy="145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" descr=""/>
          <p:cNvPicPr/>
          <p:nvPr/>
        </p:nvPicPr>
        <p:blipFill>
          <a:blip r:embed="rId4"/>
          <a:stretch/>
        </p:blipFill>
        <p:spPr>
          <a:xfrm>
            <a:off x="876240" y="131436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5"/>
          <a:stretch/>
        </p:blipFill>
        <p:spPr>
          <a:xfrm>
            <a:off x="6238800" y="1037880"/>
            <a:ext cx="5371920" cy="145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" descr=""/>
          <p:cNvPicPr/>
          <p:nvPr/>
        </p:nvPicPr>
        <p:blipFill>
          <a:blip r:embed="rId6"/>
          <a:stretch/>
        </p:blipFill>
        <p:spPr>
          <a:xfrm>
            <a:off x="10248840" y="1066680"/>
            <a:ext cx="1333440" cy="133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" descr=""/>
          <p:cNvPicPr/>
          <p:nvPr/>
        </p:nvPicPr>
        <p:blipFill>
          <a:blip r:embed="rId7"/>
          <a:stretch/>
        </p:blipFill>
        <p:spPr>
          <a:xfrm>
            <a:off x="580680" y="2738160"/>
            <a:ext cx="3016080" cy="406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" descr=""/>
          <p:cNvPicPr/>
          <p:nvPr/>
        </p:nvPicPr>
        <p:blipFill>
          <a:blip r:embed="rId8"/>
          <a:stretch/>
        </p:blipFill>
        <p:spPr>
          <a:xfrm>
            <a:off x="618840" y="2776320"/>
            <a:ext cx="29397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" descr=""/>
          <p:cNvPicPr/>
          <p:nvPr/>
        </p:nvPicPr>
        <p:blipFill>
          <a:blip r:embed="rId9"/>
          <a:stretch/>
        </p:blipFill>
        <p:spPr>
          <a:xfrm>
            <a:off x="847440" y="300492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" descr=""/>
          <p:cNvPicPr/>
          <p:nvPr/>
        </p:nvPicPr>
        <p:blipFill>
          <a:blip r:embed="rId10"/>
          <a:stretch/>
        </p:blipFill>
        <p:spPr>
          <a:xfrm>
            <a:off x="847440" y="414792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" descr=""/>
          <p:cNvPicPr/>
          <p:nvPr/>
        </p:nvPicPr>
        <p:blipFill>
          <a:blip r:embed="rId11"/>
          <a:stretch/>
        </p:blipFill>
        <p:spPr>
          <a:xfrm>
            <a:off x="847440" y="449100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" descr=""/>
          <p:cNvPicPr/>
          <p:nvPr/>
        </p:nvPicPr>
        <p:blipFill>
          <a:blip r:embed="rId12"/>
          <a:stretch/>
        </p:blipFill>
        <p:spPr>
          <a:xfrm>
            <a:off x="847440" y="483372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" descr=""/>
          <p:cNvPicPr/>
          <p:nvPr/>
        </p:nvPicPr>
        <p:blipFill>
          <a:blip r:embed="rId13"/>
          <a:stretch/>
        </p:blipFill>
        <p:spPr>
          <a:xfrm>
            <a:off x="847440" y="6224400"/>
            <a:ext cx="2482560" cy="3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14"/>
          <a:stretch/>
        </p:blipFill>
        <p:spPr>
          <a:xfrm>
            <a:off x="3797280" y="461952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" descr=""/>
          <p:cNvPicPr/>
          <p:nvPr/>
        </p:nvPicPr>
        <p:blipFill>
          <a:blip r:embed="rId15"/>
          <a:stretch/>
        </p:blipFill>
        <p:spPr>
          <a:xfrm>
            <a:off x="4302000" y="2738160"/>
            <a:ext cx="3016080" cy="406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" descr=""/>
          <p:cNvPicPr/>
          <p:nvPr/>
        </p:nvPicPr>
        <p:blipFill>
          <a:blip r:embed="rId16"/>
          <a:stretch/>
        </p:blipFill>
        <p:spPr>
          <a:xfrm>
            <a:off x="4340160" y="2776320"/>
            <a:ext cx="29397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" descr=""/>
          <p:cNvPicPr/>
          <p:nvPr/>
        </p:nvPicPr>
        <p:blipFill>
          <a:blip r:embed="rId17"/>
          <a:stretch/>
        </p:blipFill>
        <p:spPr>
          <a:xfrm>
            <a:off x="4568760" y="300492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18"/>
          <a:stretch/>
        </p:blipFill>
        <p:spPr>
          <a:xfrm>
            <a:off x="4568760" y="414792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19"/>
          <a:stretch/>
        </p:blipFill>
        <p:spPr>
          <a:xfrm>
            <a:off x="4568760" y="449100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" descr=""/>
          <p:cNvPicPr/>
          <p:nvPr/>
        </p:nvPicPr>
        <p:blipFill>
          <a:blip r:embed="rId20"/>
          <a:stretch/>
        </p:blipFill>
        <p:spPr>
          <a:xfrm>
            <a:off x="4568760" y="483372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" descr=""/>
          <p:cNvPicPr/>
          <p:nvPr/>
        </p:nvPicPr>
        <p:blipFill>
          <a:blip r:embed="rId21"/>
          <a:stretch/>
        </p:blipFill>
        <p:spPr>
          <a:xfrm>
            <a:off x="4568760" y="6224400"/>
            <a:ext cx="2482560" cy="3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" descr=""/>
          <p:cNvPicPr/>
          <p:nvPr/>
        </p:nvPicPr>
        <p:blipFill>
          <a:blip r:embed="rId22"/>
          <a:stretch/>
        </p:blipFill>
        <p:spPr>
          <a:xfrm>
            <a:off x="7565760" y="2738160"/>
            <a:ext cx="4044960" cy="406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" descr=""/>
          <p:cNvPicPr/>
          <p:nvPr/>
        </p:nvPicPr>
        <p:blipFill>
          <a:blip r:embed="rId23"/>
          <a:stretch/>
        </p:blipFill>
        <p:spPr>
          <a:xfrm>
            <a:off x="9088920" y="2604960"/>
            <a:ext cx="998280" cy="36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" descr=""/>
          <p:cNvPicPr/>
          <p:nvPr/>
        </p:nvPicPr>
        <p:blipFill>
          <a:blip r:embed="rId24"/>
          <a:stretch/>
        </p:blipFill>
        <p:spPr>
          <a:xfrm>
            <a:off x="9578520" y="4062240"/>
            <a:ext cx="187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" descr=""/>
          <p:cNvPicPr/>
          <p:nvPr/>
        </p:nvPicPr>
        <p:blipFill>
          <a:blip r:embed="rId25"/>
          <a:stretch/>
        </p:blipFill>
        <p:spPr>
          <a:xfrm>
            <a:off x="9473760" y="432900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" descr=""/>
          <p:cNvPicPr/>
          <p:nvPr/>
        </p:nvPicPr>
        <p:blipFill>
          <a:blip r:embed="rId26"/>
          <a:stretch/>
        </p:blipFill>
        <p:spPr>
          <a:xfrm>
            <a:off x="9578520" y="4595760"/>
            <a:ext cx="187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" descr=""/>
          <p:cNvPicPr/>
          <p:nvPr/>
        </p:nvPicPr>
        <p:blipFill>
          <a:blip r:embed="rId27"/>
          <a:stretch/>
        </p:blipFill>
        <p:spPr>
          <a:xfrm>
            <a:off x="8842320" y="6129000"/>
            <a:ext cx="1491840" cy="32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" descr=""/>
          <p:cNvPicPr/>
          <p:nvPr/>
        </p:nvPicPr>
        <p:blipFill>
          <a:blip r:embed="rId28"/>
          <a:stretch/>
        </p:blipFill>
        <p:spPr>
          <a:xfrm>
            <a:off x="9004320" y="6215040"/>
            <a:ext cx="152280" cy="15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"/>
          <p:cNvSpPr txBox="1"/>
          <p:nvPr/>
        </p:nvSpPr>
        <p:spPr>
          <a:xfrm>
            <a:off x="838080" y="457200"/>
            <a:ext cx="60483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关键技术一：混合数据增广策略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218960" y="1295280"/>
            <a:ext cx="9140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面临挑战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76240" y="1676160"/>
            <a:ext cx="4954320" cy="5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原始医学图像数据集存在</a:t>
            </a: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数据量小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和</a:t>
            </a: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类别不平衡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的显著问题，直接训练容易导致模型过拟合及泛化能力差。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6495840" y="1295280"/>
            <a:ext cx="58287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核心策略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495840" y="1676160"/>
            <a:ext cx="4954320" cy="5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e5e7eb"/>
                </a:solidFill>
                <a:effectLst/>
                <a:uFillTx/>
                <a:latin typeface="Inter"/>
                <a:ea typeface="Inter"/>
              </a:rPr>
              <a:t>采用</a:t>
            </a:r>
            <a:r>
              <a:rPr b="1" lang="zh-CN" sz="135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混合数据增广策略</a:t>
            </a:r>
            <a:r>
              <a:rPr b="0" lang="zh-CN" sz="1350" strike="noStrike" u="none">
                <a:solidFill>
                  <a:srgbClr val="e5e7eb"/>
                </a:solidFill>
                <a:effectLst/>
                <a:uFillTx/>
                <a:latin typeface="Inter"/>
                <a:ea typeface="Inter"/>
              </a:rPr>
              <a:t>，结合传统物理变换与深度生成模型，全方位扩充数据特征空间，提升模型鲁棒性。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847440" y="3652560"/>
            <a:ext cx="29790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传统在线增强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037880" y="4071600"/>
            <a:ext cx="13492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随机旋转 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(±15°)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037880" y="4414680"/>
            <a:ext cx="116892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水平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/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垂直翻转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037880" y="4757400"/>
            <a:ext cx="127980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随机缩放与平移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847440" y="6224400"/>
            <a:ext cx="2531880" cy="374400"/>
          </a:xfrm>
          <a:prstGeom prst="rect">
            <a:avLst/>
          </a:prstGeom>
          <a:noFill/>
          <a:ln w="0">
            <a:noFill/>
          </a:ln>
        </p:spPr>
        <p:txBody>
          <a:bodyPr lIns="0" rIns="0" tIns="114120" bIns="0" anchor="t">
            <a:sp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实时处理，增加空间不变性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568760" y="3652560"/>
            <a:ext cx="29790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DAGAN </a:t>
            </a: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离线合成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4759200" y="4071600"/>
            <a:ext cx="182844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数据增强生成对抗网络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759200" y="4414680"/>
            <a:ext cx="182844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学习真实数据分布特征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759200" y="4757400"/>
            <a:ext cx="20116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定向生成高质量罕见样本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4568760" y="6224400"/>
            <a:ext cx="2531880" cy="374400"/>
          </a:xfrm>
          <a:prstGeom prst="rect">
            <a:avLst/>
          </a:prstGeom>
          <a:noFill/>
          <a:ln w="0">
            <a:noFill/>
          </a:ln>
        </p:spPr>
        <p:txBody>
          <a:bodyPr lIns="0" rIns="0" tIns="114120" bIns="0" anchor="t">
            <a:sp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离线生成，解决类别不平衡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9117720" y="2633400"/>
            <a:ext cx="959760" cy="340560"/>
          </a:xfrm>
          <a:prstGeom prst="rect">
            <a:avLst/>
          </a:prstGeom>
          <a:noFill/>
          <a:ln w="0">
            <a:noFill/>
          </a:ln>
        </p:spPr>
        <p:txBody>
          <a:bodyPr lIns="190440" rIns="190440" tIns="56880" bIns="56880" anchor="ctr">
            <a:noAutofit/>
          </a:bodyPr>
          <a:p>
            <a:pPr>
              <a:lnSpc>
                <a:spcPts val="1500"/>
              </a:lnSpc>
            </a:pPr>
            <a:r>
              <a:rPr b="1" lang="zh-CN" sz="1050" spc="51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扩充效果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9238320" y="3090600"/>
            <a:ext cx="7477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0" lang="zh-CN" sz="1050" spc="51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原始训练集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9180000" y="3357360"/>
            <a:ext cx="61884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999"/>
              </a:lnSpc>
            </a:pPr>
            <a:r>
              <a:rPr b="1" lang="en-US" sz="27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546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9825120" y="3490560"/>
            <a:ext cx="1746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0" lang="zh-CN" sz="1350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张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9168120" y="5128920"/>
            <a:ext cx="8971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0" lang="zh-CN" sz="1050" spc="51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扩充后训练集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687520" y="5395680"/>
            <a:ext cx="1564920" cy="57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4499"/>
              </a:lnSpc>
            </a:pPr>
            <a:r>
              <a:rPr b="1" lang="en-US" sz="4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3,276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0298520" y="5709960"/>
            <a:ext cx="1940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0" lang="zh-CN" sz="1500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张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9232920" y="6195960"/>
            <a:ext cx="9579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1" lang="zh-CN" sz="10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数据量提升 </a:t>
            </a:r>
            <a:r>
              <a:rPr b="1" lang="en-US" sz="10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6 </a:t>
            </a:r>
            <a:r>
              <a:rPr b="1" lang="zh-CN" sz="10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倍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11277360" cy="80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" descr=""/>
          <p:cNvPicPr/>
          <p:nvPr/>
        </p:nvPicPr>
        <p:blipFill>
          <a:blip r:embed="rId3"/>
          <a:stretch/>
        </p:blipFill>
        <p:spPr>
          <a:xfrm>
            <a:off x="457200" y="475920"/>
            <a:ext cx="152280" cy="1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" descr=""/>
          <p:cNvPicPr/>
          <p:nvPr/>
        </p:nvPicPr>
        <p:blipFill>
          <a:blip r:embed="rId4"/>
          <a:stretch/>
        </p:blipFill>
        <p:spPr>
          <a:xfrm>
            <a:off x="10515600" y="1066680"/>
            <a:ext cx="12189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" descr=""/>
          <p:cNvPicPr/>
          <p:nvPr/>
        </p:nvPicPr>
        <p:blipFill>
          <a:blip r:embed="rId5"/>
          <a:stretch/>
        </p:blipFill>
        <p:spPr>
          <a:xfrm>
            <a:off x="352080" y="1542960"/>
            <a:ext cx="5695920" cy="496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6"/>
          <a:stretch/>
        </p:blipFill>
        <p:spPr>
          <a:xfrm>
            <a:off x="771480" y="199044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" descr=""/>
          <p:cNvPicPr/>
          <p:nvPr/>
        </p:nvPicPr>
        <p:blipFill>
          <a:blip r:embed="rId7"/>
          <a:stretch/>
        </p:blipFill>
        <p:spPr>
          <a:xfrm>
            <a:off x="1900800" y="2922840"/>
            <a:ext cx="2598480" cy="64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" descr=""/>
          <p:cNvPicPr/>
          <p:nvPr/>
        </p:nvPicPr>
        <p:blipFill>
          <a:blip r:embed="rId8"/>
          <a:stretch/>
        </p:blipFill>
        <p:spPr>
          <a:xfrm>
            <a:off x="771480" y="4418280"/>
            <a:ext cx="2314440" cy="139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" descr=""/>
          <p:cNvPicPr/>
          <p:nvPr/>
        </p:nvPicPr>
        <p:blipFill>
          <a:blip r:embed="rId9"/>
          <a:stretch/>
        </p:blipFill>
        <p:spPr>
          <a:xfrm>
            <a:off x="3314520" y="4418280"/>
            <a:ext cx="2314440" cy="139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" descr=""/>
          <p:cNvPicPr/>
          <p:nvPr/>
        </p:nvPicPr>
        <p:blipFill>
          <a:blip r:embed="rId10"/>
          <a:stretch/>
        </p:blipFill>
        <p:spPr>
          <a:xfrm>
            <a:off x="6143400" y="1542960"/>
            <a:ext cx="5695920" cy="496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" descr=""/>
          <p:cNvPicPr/>
          <p:nvPr/>
        </p:nvPicPr>
        <p:blipFill>
          <a:blip r:embed="rId11"/>
          <a:stretch/>
        </p:blipFill>
        <p:spPr>
          <a:xfrm>
            <a:off x="6562440" y="199044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" descr=""/>
          <p:cNvPicPr/>
          <p:nvPr/>
        </p:nvPicPr>
        <p:blipFill>
          <a:blip r:embed="rId12"/>
          <a:stretch/>
        </p:blipFill>
        <p:spPr>
          <a:xfrm>
            <a:off x="6562440" y="2752560"/>
            <a:ext cx="4857480" cy="115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" descr=""/>
          <p:cNvPicPr/>
          <p:nvPr/>
        </p:nvPicPr>
        <p:blipFill>
          <a:blip r:embed="rId13"/>
          <a:stretch/>
        </p:blipFill>
        <p:spPr>
          <a:xfrm>
            <a:off x="10734480" y="2962080"/>
            <a:ext cx="49500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" descr=""/>
          <p:cNvPicPr/>
          <p:nvPr/>
        </p:nvPicPr>
        <p:blipFill>
          <a:blip r:embed="rId14"/>
          <a:stretch/>
        </p:blipFill>
        <p:spPr>
          <a:xfrm>
            <a:off x="6562440" y="4138560"/>
            <a:ext cx="4857480" cy="115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15"/>
          <a:stretch/>
        </p:blipFill>
        <p:spPr>
          <a:xfrm>
            <a:off x="10620360" y="4348080"/>
            <a:ext cx="60948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" descr=""/>
          <p:cNvPicPr/>
          <p:nvPr/>
        </p:nvPicPr>
        <p:blipFill>
          <a:blip r:embed="rId16"/>
          <a:stretch/>
        </p:blipFill>
        <p:spPr>
          <a:xfrm>
            <a:off x="6562440" y="5524200"/>
            <a:ext cx="4857480" cy="115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" descr=""/>
          <p:cNvPicPr/>
          <p:nvPr/>
        </p:nvPicPr>
        <p:blipFill>
          <a:blip r:embed="rId17"/>
          <a:stretch/>
        </p:blipFill>
        <p:spPr>
          <a:xfrm>
            <a:off x="10620360" y="5733720"/>
            <a:ext cx="60948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"/>
          <p:cNvSpPr txBox="1"/>
          <p:nvPr/>
        </p:nvSpPr>
        <p:spPr>
          <a:xfrm>
            <a:off x="685800" y="457200"/>
            <a:ext cx="19101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pc="51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KEY TECHNOLOGY II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57200" y="723600"/>
            <a:ext cx="60177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关键技术二：骨干网络与训练策略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380960" y="206676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骨干网络架构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929600" y="2951280"/>
            <a:ext cx="2592000" cy="626400"/>
          </a:xfrm>
          <a:prstGeom prst="rect">
            <a:avLst/>
          </a:prstGeom>
          <a:noFill/>
          <a:ln w="0">
            <a:noFill/>
          </a:ln>
        </p:spPr>
        <p:txBody>
          <a:bodyPr lIns="228600" rIns="228600" tIns="114120" bIns="114120" anchor="ctr">
            <a:noAutofit/>
          </a:bodyPr>
          <a:p>
            <a:pPr algn="ctr">
              <a:lnSpc>
                <a:spcPts val="2248"/>
              </a:lnSpc>
            </a:pPr>
            <a:r>
              <a:rPr b="1" lang="en-US" sz="22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EfficientNet-B0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71480" y="3694320"/>
            <a:ext cx="49543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轻量级且高效的卷积神经网络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971280" y="4618080"/>
            <a:ext cx="22971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01. </a:t>
            </a: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轻量化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971280" y="4961160"/>
            <a:ext cx="1952640" cy="6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参数量小，计算复杂度低，极大地降低了硬件资源消耗，适合边缘设备部署。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3514680" y="4618080"/>
            <a:ext cx="22971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02. </a:t>
            </a: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高效性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3514680" y="4961160"/>
            <a:ext cx="1952640" cy="6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通过复合缩放方法（</a:t>
            </a:r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Compound Scaling</a:t>
            </a: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），在深度、宽度和分辨率之间取得最佳平衡。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7172280" y="206676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模型训练策略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6781680" y="2943000"/>
            <a:ext cx="26622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标签平滑 </a:t>
            </a: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(Label Smoothing)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0734480" y="2962080"/>
            <a:ext cx="594000" cy="264600"/>
          </a:xfrm>
          <a:prstGeom prst="rect">
            <a:avLst/>
          </a:prstGeom>
          <a:noFill/>
          <a:ln w="0">
            <a:noFill/>
          </a:ln>
        </p:spPr>
        <p:txBody>
          <a:bodyPr lIns="75960" rIns="75960" tIns="37800" bIns="37800" anchor="ctr">
            <a:noAutofit/>
          </a:bodyPr>
          <a:p>
            <a:pPr>
              <a:lnSpc>
                <a:spcPts val="1199"/>
              </a:lnSpc>
            </a:pPr>
            <a:r>
              <a:rPr b="1" lang="zh-CN" sz="9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正则化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781680" y="3286080"/>
            <a:ext cx="453708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将硬标签（</a:t>
            </a:r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Hard Label</a:t>
            </a: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）转换为软标签（</a:t>
            </a:r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Soft Label</a:t>
            </a: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），有效缓解模型在训练过程中的过拟合现象，提升模型在未知数据上的泛化能力。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781680" y="4329000"/>
            <a:ext cx="35607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均衡采样 </a:t>
            </a: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(WeightedRandomSampler)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0620360" y="4348080"/>
            <a:ext cx="731160" cy="264600"/>
          </a:xfrm>
          <a:prstGeom prst="rect">
            <a:avLst/>
          </a:prstGeom>
          <a:noFill/>
          <a:ln w="0">
            <a:noFill/>
          </a:ln>
        </p:spPr>
        <p:txBody>
          <a:bodyPr lIns="75960" rIns="75960" tIns="37800" bIns="37800" anchor="ctr">
            <a:noAutofit/>
          </a:bodyPr>
          <a:p>
            <a:pPr>
              <a:lnSpc>
                <a:spcPts val="1199"/>
              </a:lnSpc>
            </a:pPr>
            <a:r>
              <a:rPr b="1" lang="zh-CN" sz="9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数据平衡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6781680" y="4671720"/>
            <a:ext cx="453708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针对数据集中存在的类别不平衡问题，通过为不同类别分配不同的采样权重，确保模型在训练时能够充分学习到少数类的特征。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781680" y="5715000"/>
            <a:ext cx="15811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测试时增强 </a:t>
            </a: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(TTA)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0620360" y="5733720"/>
            <a:ext cx="731160" cy="264600"/>
          </a:xfrm>
          <a:prstGeom prst="rect">
            <a:avLst/>
          </a:prstGeom>
          <a:noFill/>
          <a:ln w="0">
            <a:noFill/>
          </a:ln>
        </p:spPr>
        <p:txBody>
          <a:bodyPr lIns="75960" rIns="75960" tIns="37800" bIns="37800" anchor="ctr">
            <a:noAutofit/>
          </a:bodyPr>
          <a:p>
            <a:pPr>
              <a:lnSpc>
                <a:spcPts val="1199"/>
              </a:lnSpc>
            </a:pPr>
            <a:r>
              <a:rPr b="1" lang="zh-CN" sz="9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推理优化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6781680" y="6057720"/>
            <a:ext cx="453708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在推理阶段对输入图像进行多尺度缩放、翻转等几何变换，综合多次预测结果，进一步提升模型预测的稳定性与最终准确度。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88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" descr=""/>
          <p:cNvPicPr/>
          <p:nvPr/>
        </p:nvPicPr>
        <p:blipFill>
          <a:blip r:embed="rId2"/>
          <a:stretch/>
        </p:blipFill>
        <p:spPr>
          <a:xfrm>
            <a:off x="457200" y="495000"/>
            <a:ext cx="759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" descr=""/>
          <p:cNvPicPr/>
          <p:nvPr/>
        </p:nvPicPr>
        <p:blipFill>
          <a:blip r:embed="rId3"/>
          <a:stretch/>
        </p:blipFill>
        <p:spPr>
          <a:xfrm>
            <a:off x="428400" y="2872080"/>
            <a:ext cx="4590360" cy="205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" descr=""/>
          <p:cNvPicPr/>
          <p:nvPr/>
        </p:nvPicPr>
        <p:blipFill>
          <a:blip r:embed="rId4"/>
          <a:stretch/>
        </p:blipFill>
        <p:spPr>
          <a:xfrm>
            <a:off x="466560" y="2910240"/>
            <a:ext cx="37800" cy="198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" descr=""/>
          <p:cNvPicPr/>
          <p:nvPr/>
        </p:nvPicPr>
        <p:blipFill>
          <a:blip r:embed="rId5"/>
          <a:stretch/>
        </p:blipFill>
        <p:spPr>
          <a:xfrm>
            <a:off x="695160" y="313884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" descr=""/>
          <p:cNvPicPr/>
          <p:nvPr/>
        </p:nvPicPr>
        <p:blipFill>
          <a:blip r:embed="rId6"/>
          <a:stretch/>
        </p:blipFill>
        <p:spPr>
          <a:xfrm>
            <a:off x="428400" y="5177160"/>
            <a:ext cx="4590360" cy="180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" descr=""/>
          <p:cNvPicPr/>
          <p:nvPr/>
        </p:nvPicPr>
        <p:blipFill>
          <a:blip r:embed="rId7"/>
          <a:stretch/>
        </p:blipFill>
        <p:spPr>
          <a:xfrm>
            <a:off x="466560" y="5215320"/>
            <a:ext cx="37800" cy="173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" descr=""/>
          <p:cNvPicPr/>
          <p:nvPr/>
        </p:nvPicPr>
        <p:blipFill>
          <a:blip r:embed="rId8"/>
          <a:stretch/>
        </p:blipFill>
        <p:spPr>
          <a:xfrm>
            <a:off x="695160" y="54439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" descr=""/>
          <p:cNvPicPr/>
          <p:nvPr/>
        </p:nvPicPr>
        <p:blipFill>
          <a:blip r:embed="rId9"/>
          <a:stretch/>
        </p:blipFill>
        <p:spPr>
          <a:xfrm>
            <a:off x="5342760" y="1419120"/>
            <a:ext cx="6420240" cy="702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" descr=""/>
          <p:cNvPicPr/>
          <p:nvPr/>
        </p:nvPicPr>
        <p:blipFill>
          <a:blip r:embed="rId10"/>
          <a:stretch/>
        </p:blipFill>
        <p:spPr>
          <a:xfrm>
            <a:off x="5609520" y="172368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" descr=""/>
          <p:cNvPicPr/>
          <p:nvPr/>
        </p:nvPicPr>
        <p:blipFill>
          <a:blip r:embed="rId11"/>
          <a:stretch/>
        </p:blipFill>
        <p:spPr>
          <a:xfrm>
            <a:off x="10046880" y="1704960"/>
            <a:ext cx="144936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" descr=""/>
          <p:cNvPicPr/>
          <p:nvPr/>
        </p:nvPicPr>
        <p:blipFill>
          <a:blip r:embed="rId12"/>
          <a:stretch/>
        </p:blipFill>
        <p:spPr>
          <a:xfrm>
            <a:off x="5609520" y="2104920"/>
            <a:ext cx="5886720" cy="572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"/>
          <p:cNvSpPr txBox="1"/>
          <p:nvPr/>
        </p:nvSpPr>
        <p:spPr>
          <a:xfrm>
            <a:off x="685800" y="457200"/>
            <a:ext cx="641808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可解释性：</a:t>
            </a:r>
            <a:r>
              <a:rPr b="1" lang="en-US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Grad-CAM</a:t>
            </a: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原理与热力图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685800" y="952200"/>
            <a:ext cx="132584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打破深度学习“黑盒”，提供直观的临床诊断依据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190520" y="3196080"/>
            <a:ext cx="20570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梯度加权类激活映射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95160" y="3672360"/>
            <a:ext cx="41378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947"/>
              </a:lnSpc>
            </a:pP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Grad-CAM (Gradient-weighted Class Activation Mapping) 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通过计算深度神经网络</a:t>
            </a:r>
            <a:r>
              <a:rPr b="0" lang="zh-CN" sz="12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最后卷积层的梯度信息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，生成粗略的定位图。该技术能够突出显示对模型预测概念最重要的图像区域。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190520" y="5501160"/>
            <a:ext cx="15832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解决“黑盒”问题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695160" y="5977440"/>
            <a:ext cx="4137840" cy="74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947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直观展示模型在做出分类决策时所关注的</a:t>
            </a:r>
            <a:r>
              <a:rPr b="0" lang="zh-CN" sz="12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病灶区域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。这不仅验证了模型是否学到了正确的特征，更为医生提供了可靠的辅助诊断依据，大幅提升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AI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系统的临床可信度。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5876280" y="1685880"/>
            <a:ext cx="16459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热力图可视化示例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0046880" y="1704960"/>
            <a:ext cx="1739160" cy="264600"/>
          </a:xfrm>
          <a:prstGeom prst="rect">
            <a:avLst/>
          </a:prstGeom>
          <a:noFill/>
          <a:ln w="0">
            <a:noFill/>
          </a:ln>
        </p:spPr>
        <p:txBody>
          <a:bodyPr lIns="95040" rIns="95040" tIns="37800" bIns="37800" anchor="ctr">
            <a:noAutofit/>
          </a:bodyPr>
          <a:p>
            <a:pPr>
              <a:lnSpc>
                <a:spcPts val="1199"/>
              </a:lnSpc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Grad-CAM Visualization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609520" y="7983000"/>
            <a:ext cx="60044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0" lang="zh-CN" sz="10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图示：原图、</a:t>
            </a: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Grad-CAM </a:t>
            </a:r>
            <a:r>
              <a:rPr b="0" lang="zh-CN" sz="10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热力图及叠加可视化效果对比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7596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" descr=""/>
          <p:cNvPicPr/>
          <p:nvPr/>
        </p:nvPicPr>
        <p:blipFill>
          <a:blip r:embed="rId3"/>
          <a:stretch/>
        </p:blipFill>
        <p:spPr>
          <a:xfrm>
            <a:off x="428400" y="1266480"/>
            <a:ext cx="5505120" cy="516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" descr=""/>
          <p:cNvPicPr/>
          <p:nvPr/>
        </p:nvPicPr>
        <p:blipFill>
          <a:blip r:embed="rId4"/>
          <a:stretch/>
        </p:blipFill>
        <p:spPr>
          <a:xfrm>
            <a:off x="4457520" y="1295280"/>
            <a:ext cx="1447560" cy="148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" descr=""/>
          <p:cNvPicPr/>
          <p:nvPr/>
        </p:nvPicPr>
        <p:blipFill>
          <a:blip r:embed="rId5"/>
          <a:stretch/>
        </p:blipFill>
        <p:spPr>
          <a:xfrm>
            <a:off x="838080" y="1714320"/>
            <a:ext cx="5331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" descr=""/>
          <p:cNvPicPr/>
          <p:nvPr/>
        </p:nvPicPr>
        <p:blipFill>
          <a:blip r:embed="rId6"/>
          <a:stretch/>
        </p:blipFill>
        <p:spPr>
          <a:xfrm>
            <a:off x="838080" y="290268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" descr=""/>
          <p:cNvPicPr/>
          <p:nvPr/>
        </p:nvPicPr>
        <p:blipFill>
          <a:blip r:embed="rId7"/>
          <a:stretch/>
        </p:blipFill>
        <p:spPr>
          <a:xfrm>
            <a:off x="838080" y="439812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" descr=""/>
          <p:cNvPicPr/>
          <p:nvPr/>
        </p:nvPicPr>
        <p:blipFill>
          <a:blip r:embed="rId8"/>
          <a:stretch/>
        </p:blipFill>
        <p:spPr>
          <a:xfrm>
            <a:off x="6257880" y="1266480"/>
            <a:ext cx="5505120" cy="516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" descr=""/>
          <p:cNvPicPr/>
          <p:nvPr/>
        </p:nvPicPr>
        <p:blipFill>
          <a:blip r:embed="rId9"/>
          <a:stretch/>
        </p:blipFill>
        <p:spPr>
          <a:xfrm>
            <a:off x="10287000" y="1295280"/>
            <a:ext cx="1447560" cy="148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" descr=""/>
          <p:cNvPicPr/>
          <p:nvPr/>
        </p:nvPicPr>
        <p:blipFill>
          <a:blip r:embed="rId10"/>
          <a:stretch/>
        </p:blipFill>
        <p:spPr>
          <a:xfrm>
            <a:off x="6667200" y="1714320"/>
            <a:ext cx="5331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" descr=""/>
          <p:cNvPicPr/>
          <p:nvPr/>
        </p:nvPicPr>
        <p:blipFill>
          <a:blip r:embed="rId11"/>
          <a:stretch/>
        </p:blipFill>
        <p:spPr>
          <a:xfrm>
            <a:off x="6667200" y="2628720"/>
            <a:ext cx="4686120" cy="10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" descr=""/>
          <p:cNvPicPr/>
          <p:nvPr/>
        </p:nvPicPr>
        <p:blipFill>
          <a:blip r:embed="rId12"/>
          <a:stretch/>
        </p:blipFill>
        <p:spPr>
          <a:xfrm>
            <a:off x="6638760" y="4028760"/>
            <a:ext cx="1517400" cy="201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" descr=""/>
          <p:cNvPicPr/>
          <p:nvPr/>
        </p:nvPicPr>
        <p:blipFill>
          <a:blip r:embed="rId13"/>
          <a:stretch/>
        </p:blipFill>
        <p:spPr>
          <a:xfrm>
            <a:off x="7340400" y="44481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" descr=""/>
          <p:cNvPicPr/>
          <p:nvPr/>
        </p:nvPicPr>
        <p:blipFill>
          <a:blip r:embed="rId14"/>
          <a:stretch/>
        </p:blipFill>
        <p:spPr>
          <a:xfrm>
            <a:off x="8251560" y="4028760"/>
            <a:ext cx="1517400" cy="201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" descr=""/>
          <p:cNvPicPr/>
          <p:nvPr/>
        </p:nvPicPr>
        <p:blipFill>
          <a:blip r:embed="rId15"/>
          <a:stretch/>
        </p:blipFill>
        <p:spPr>
          <a:xfrm>
            <a:off x="8953200" y="44481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0" name="" descr=""/>
          <p:cNvPicPr/>
          <p:nvPr/>
        </p:nvPicPr>
        <p:blipFill>
          <a:blip r:embed="rId16"/>
          <a:stretch/>
        </p:blipFill>
        <p:spPr>
          <a:xfrm>
            <a:off x="9864360" y="4028760"/>
            <a:ext cx="1517400" cy="201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1" name="" descr=""/>
          <p:cNvPicPr/>
          <p:nvPr/>
        </p:nvPicPr>
        <p:blipFill>
          <a:blip r:embed="rId17"/>
          <a:stretch/>
        </p:blipFill>
        <p:spPr>
          <a:xfrm>
            <a:off x="10566000" y="44481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"/>
          <p:cNvSpPr txBox="1"/>
          <p:nvPr/>
        </p:nvSpPr>
        <p:spPr>
          <a:xfrm>
            <a:off x="761760" y="495000"/>
            <a:ext cx="56163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实验设置：硬件环境与数据集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562040" y="1809720"/>
            <a:ext cx="137160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硬件环境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523880" y="2902680"/>
            <a:ext cx="48002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计算平台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1523880" y="3321720"/>
            <a:ext cx="4080240" cy="61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435"/>
              </a:lnSpc>
            </a:pP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基于 </a:t>
            </a:r>
            <a:r>
              <a:rPr b="1" lang="en-US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Apple Silicon M </a:t>
            </a: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系列</a:t>
            </a:r>
            <a:r>
              <a:rPr b="0" lang="en-US" sz="15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 芯片，提供高效的本地计算能力。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523880" y="4398120"/>
            <a:ext cx="48002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加速框架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523880" y="4817160"/>
            <a:ext cx="4080240" cy="87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435"/>
              </a:lnSpc>
            </a:pP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利用 </a:t>
            </a:r>
            <a:r>
              <a:rPr b="0" lang="en-US" sz="15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PyTorch </a:t>
            </a: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的 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MPS (Metal Performance Shaders) </a:t>
            </a: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后端</a:t>
            </a:r>
            <a:r>
              <a:rPr b="0" lang="en-US" sz="15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 实现 </a:t>
            </a:r>
            <a:r>
              <a:rPr b="0" lang="en-US" sz="15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GPU </a:t>
            </a: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硬件加速。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391160" y="1809720"/>
            <a:ext cx="237600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数据集 </a:t>
            </a:r>
            <a:r>
              <a:rPr b="1" lang="en-US" sz="22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(BUSI)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905520" y="2885760"/>
            <a:ext cx="25142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公开乳腺超声图像数据集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6905520" y="3190680"/>
            <a:ext cx="251424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总计图像数量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9703440" y="2866680"/>
            <a:ext cx="1694160" cy="57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4499"/>
              </a:lnSpc>
            </a:pPr>
            <a:r>
              <a:rPr b="1" lang="en-US" sz="4500" spc="-224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780</a:t>
            </a:r>
            <a:r>
              <a:rPr b="0" lang="zh-CN" sz="1800" spc="-224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7039440" y="4714560"/>
            <a:ext cx="8586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437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6914880" y="5171760"/>
            <a:ext cx="983880" cy="40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良性 </a:t>
            </a: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(Benign)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8652240" y="4714560"/>
            <a:ext cx="8586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210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8527680" y="5171760"/>
            <a:ext cx="9838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恶性 </a:t>
            </a: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(Malignant)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0265400" y="4714560"/>
            <a:ext cx="8586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133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0140840" y="5171760"/>
            <a:ext cx="9838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正常 </a:t>
            </a: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(Normal)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526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" descr=""/>
          <p:cNvPicPr/>
          <p:nvPr/>
        </p:nvPicPr>
        <p:blipFill>
          <a:blip r:embed="rId2"/>
          <a:stretch/>
        </p:blipFill>
        <p:spPr>
          <a:xfrm>
            <a:off x="457200" y="3263400"/>
            <a:ext cx="112773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" descr=""/>
          <p:cNvPicPr/>
          <p:nvPr/>
        </p:nvPicPr>
        <p:blipFill>
          <a:blip r:embed="rId3"/>
          <a:stretch/>
        </p:blipFill>
        <p:spPr>
          <a:xfrm>
            <a:off x="457200" y="3263400"/>
            <a:ext cx="112773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" descr=""/>
          <p:cNvPicPr/>
          <p:nvPr/>
        </p:nvPicPr>
        <p:blipFill>
          <a:blip r:embed="rId4"/>
          <a:stretch/>
        </p:blipFill>
        <p:spPr>
          <a:xfrm>
            <a:off x="1800000" y="1723680"/>
            <a:ext cx="859140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" descr=""/>
          <p:cNvPicPr/>
          <p:nvPr/>
        </p:nvPicPr>
        <p:blipFill>
          <a:blip r:embed="rId5"/>
          <a:stretch/>
        </p:blipFill>
        <p:spPr>
          <a:xfrm>
            <a:off x="352080" y="2619360"/>
            <a:ext cx="1976400" cy="245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" descr=""/>
          <p:cNvPicPr/>
          <p:nvPr/>
        </p:nvPicPr>
        <p:blipFill>
          <a:blip r:embed="rId6"/>
          <a:stretch/>
        </p:blipFill>
        <p:spPr>
          <a:xfrm>
            <a:off x="466560" y="2733480"/>
            <a:ext cx="174780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" descr=""/>
          <p:cNvPicPr/>
          <p:nvPr/>
        </p:nvPicPr>
        <p:blipFill>
          <a:blip r:embed="rId7"/>
          <a:stretch/>
        </p:blipFill>
        <p:spPr>
          <a:xfrm>
            <a:off x="1985760" y="290484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" descr=""/>
          <p:cNvPicPr/>
          <p:nvPr/>
        </p:nvPicPr>
        <p:blipFill>
          <a:blip r:embed="rId8"/>
          <a:stretch/>
        </p:blipFill>
        <p:spPr>
          <a:xfrm>
            <a:off x="1112040" y="331452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6" name="" descr=""/>
          <p:cNvPicPr/>
          <p:nvPr/>
        </p:nvPicPr>
        <p:blipFill>
          <a:blip r:embed="rId9"/>
          <a:stretch/>
        </p:blipFill>
        <p:spPr>
          <a:xfrm>
            <a:off x="2376360" y="36158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" descr=""/>
          <p:cNvPicPr/>
          <p:nvPr/>
        </p:nvPicPr>
        <p:blipFill>
          <a:blip r:embed="rId10"/>
          <a:stretch/>
        </p:blipFill>
        <p:spPr>
          <a:xfrm>
            <a:off x="2728800" y="2543040"/>
            <a:ext cx="1976400" cy="245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" descr=""/>
          <p:cNvPicPr/>
          <p:nvPr/>
        </p:nvPicPr>
        <p:blipFill>
          <a:blip r:embed="rId11"/>
          <a:stretch/>
        </p:blipFill>
        <p:spPr>
          <a:xfrm>
            <a:off x="2843280" y="2657160"/>
            <a:ext cx="174780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" descr=""/>
          <p:cNvPicPr/>
          <p:nvPr/>
        </p:nvPicPr>
        <p:blipFill>
          <a:blip r:embed="rId12"/>
          <a:stretch/>
        </p:blipFill>
        <p:spPr>
          <a:xfrm>
            <a:off x="4362480" y="282888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" descr=""/>
          <p:cNvPicPr/>
          <p:nvPr/>
        </p:nvPicPr>
        <p:blipFill>
          <a:blip r:embed="rId13"/>
          <a:stretch/>
        </p:blipFill>
        <p:spPr>
          <a:xfrm>
            <a:off x="3488400" y="32382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" descr=""/>
          <p:cNvPicPr/>
          <p:nvPr/>
        </p:nvPicPr>
        <p:blipFill>
          <a:blip r:embed="rId14"/>
          <a:stretch/>
        </p:blipFill>
        <p:spPr>
          <a:xfrm>
            <a:off x="4753080" y="353952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" descr=""/>
          <p:cNvPicPr/>
          <p:nvPr/>
        </p:nvPicPr>
        <p:blipFill>
          <a:blip r:embed="rId15"/>
          <a:stretch/>
        </p:blipFill>
        <p:spPr>
          <a:xfrm>
            <a:off x="5105520" y="2575080"/>
            <a:ext cx="1976400" cy="223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" descr=""/>
          <p:cNvPicPr/>
          <p:nvPr/>
        </p:nvPicPr>
        <p:blipFill>
          <a:blip r:embed="rId16"/>
          <a:stretch/>
        </p:blipFill>
        <p:spPr>
          <a:xfrm>
            <a:off x="5219640" y="2689560"/>
            <a:ext cx="174780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" descr=""/>
          <p:cNvPicPr/>
          <p:nvPr/>
        </p:nvPicPr>
        <p:blipFill>
          <a:blip r:embed="rId17"/>
          <a:stretch/>
        </p:blipFill>
        <p:spPr>
          <a:xfrm>
            <a:off x="6739200" y="286092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" descr=""/>
          <p:cNvPicPr/>
          <p:nvPr/>
        </p:nvPicPr>
        <p:blipFill>
          <a:blip r:embed="rId18"/>
          <a:stretch/>
        </p:blipFill>
        <p:spPr>
          <a:xfrm>
            <a:off x="5865120" y="32706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" descr=""/>
          <p:cNvPicPr/>
          <p:nvPr/>
        </p:nvPicPr>
        <p:blipFill>
          <a:blip r:embed="rId19"/>
          <a:stretch/>
        </p:blipFill>
        <p:spPr>
          <a:xfrm>
            <a:off x="7129800" y="34632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" descr=""/>
          <p:cNvPicPr/>
          <p:nvPr/>
        </p:nvPicPr>
        <p:blipFill>
          <a:blip r:embed="rId20"/>
          <a:stretch/>
        </p:blipFill>
        <p:spPr>
          <a:xfrm>
            <a:off x="7482240" y="2499120"/>
            <a:ext cx="1976400" cy="223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" descr=""/>
          <p:cNvPicPr/>
          <p:nvPr/>
        </p:nvPicPr>
        <p:blipFill>
          <a:blip r:embed="rId21"/>
          <a:stretch/>
        </p:blipFill>
        <p:spPr>
          <a:xfrm>
            <a:off x="7596360" y="2613240"/>
            <a:ext cx="174780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" descr=""/>
          <p:cNvPicPr/>
          <p:nvPr/>
        </p:nvPicPr>
        <p:blipFill>
          <a:blip r:embed="rId22"/>
          <a:stretch/>
        </p:blipFill>
        <p:spPr>
          <a:xfrm>
            <a:off x="9115920" y="278460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" descr=""/>
          <p:cNvPicPr/>
          <p:nvPr/>
        </p:nvPicPr>
        <p:blipFill>
          <a:blip r:embed="rId23"/>
          <a:stretch/>
        </p:blipFill>
        <p:spPr>
          <a:xfrm>
            <a:off x="8241840" y="319428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" descr=""/>
          <p:cNvPicPr/>
          <p:nvPr/>
        </p:nvPicPr>
        <p:blipFill>
          <a:blip r:embed="rId24"/>
          <a:stretch/>
        </p:blipFill>
        <p:spPr>
          <a:xfrm>
            <a:off x="9506520" y="33872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" descr=""/>
          <p:cNvPicPr/>
          <p:nvPr/>
        </p:nvPicPr>
        <p:blipFill>
          <a:blip r:embed="rId25"/>
          <a:stretch/>
        </p:blipFill>
        <p:spPr>
          <a:xfrm>
            <a:off x="9696960" y="2251440"/>
            <a:ext cx="2304360" cy="257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" descr=""/>
          <p:cNvPicPr/>
          <p:nvPr/>
        </p:nvPicPr>
        <p:blipFill>
          <a:blip r:embed="rId26"/>
          <a:stretch/>
        </p:blipFill>
        <p:spPr>
          <a:xfrm>
            <a:off x="11185920" y="2536920"/>
            <a:ext cx="5299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" descr=""/>
          <p:cNvPicPr/>
          <p:nvPr/>
        </p:nvPicPr>
        <p:blipFill>
          <a:blip r:embed="rId27"/>
          <a:stretch/>
        </p:blipFill>
        <p:spPr>
          <a:xfrm>
            <a:off x="9982440" y="2536920"/>
            <a:ext cx="173304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" descr=""/>
          <p:cNvPicPr/>
          <p:nvPr/>
        </p:nvPicPr>
        <p:blipFill>
          <a:blip r:embed="rId28"/>
          <a:stretch/>
        </p:blipFill>
        <p:spPr>
          <a:xfrm>
            <a:off x="11487240" y="270864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" descr=""/>
          <p:cNvPicPr/>
          <p:nvPr/>
        </p:nvPicPr>
        <p:blipFill>
          <a:blip r:embed="rId29"/>
          <a:stretch/>
        </p:blipFill>
        <p:spPr>
          <a:xfrm>
            <a:off x="10620360" y="311796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7" name="" descr=""/>
          <p:cNvPicPr/>
          <p:nvPr/>
        </p:nvPicPr>
        <p:blipFill>
          <a:blip r:embed="rId30"/>
          <a:stretch/>
        </p:blipFill>
        <p:spPr>
          <a:xfrm>
            <a:off x="0" y="0"/>
            <a:ext cx="12191760" cy="132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"/>
          <p:cNvSpPr txBox="1"/>
          <p:nvPr/>
        </p:nvSpPr>
        <p:spPr>
          <a:xfrm>
            <a:off x="457200" y="304560"/>
            <a:ext cx="61855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pc="51" strike="noStrike" u="none">
                <a:solidFill>
                  <a:srgbClr val="e8823b"/>
                </a:solidFill>
                <a:effectLst/>
                <a:uFillTx/>
                <a:latin typeface="Arial"/>
                <a:ea typeface="Arial"/>
              </a:rPr>
              <a:t>EXPERIMENTAL OVERVIEW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457200" y="571320"/>
            <a:ext cx="60177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Arial"/>
                <a:ea typeface="Arial"/>
              </a:rPr>
              <a:t>实验总览：五阶段递进式实验方案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0362960" y="723600"/>
            <a:ext cx="139896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r">
              <a:lnSpc>
                <a:spcPts val="1800"/>
              </a:lnSpc>
            </a:pPr>
            <a:r>
              <a:rPr b="0" lang="zh-CN" sz="1200" strike="noStrike" u="non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控制变量法系统评估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828800" y="1752480"/>
            <a:ext cx="8704800" cy="550080"/>
          </a:xfrm>
          <a:prstGeom prst="rect">
            <a:avLst/>
          </a:prstGeom>
          <a:noFill/>
          <a:ln w="0">
            <a:noFill/>
          </a:ln>
        </p:spPr>
        <p:txBody>
          <a:bodyPr lIns="228600" rIns="228600" tIns="114120" bIns="114120" anchor="ctr">
            <a:noAutofit/>
          </a:bodyPr>
          <a:p>
            <a:pPr algn="ctr">
              <a:lnSpc>
                <a:spcPts val="2098"/>
              </a:lnSpc>
            </a:pPr>
            <a:r>
              <a:rPr b="0" lang="zh-CN" sz="1350" strike="noStrike" u="non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采用递进式实验方法，通过控制变量法，逐步引入优化策略，系统验证各项技术对分类性能的贡献。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618840" y="2847960"/>
            <a:ext cx="743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trike="noStrike" u="non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STAGE 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168920" y="3848040"/>
            <a:ext cx="3495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Arial"/>
                <a:ea typeface="Arial"/>
              </a:rPr>
              <a:t>基线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618840" y="4152600"/>
            <a:ext cx="147168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704"/>
              </a:lnSpc>
            </a:pPr>
            <a:r>
              <a:rPr b="0" lang="zh-CN" sz="1050" strike="noStrike" u="non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仅使用原始数据集训练，建立基础性能基准。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2995560" y="2771640"/>
            <a:ext cx="743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trike="noStrike" u="none">
                <a:solidFill>
                  <a:srgbClr val="1f3a68"/>
                </a:solidFill>
                <a:effectLst/>
                <a:uFillTx/>
                <a:latin typeface="Arial"/>
                <a:ea typeface="Arial"/>
              </a:rPr>
              <a:t>STAGE 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3374280" y="3771720"/>
            <a:ext cx="6994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Arial"/>
                <a:ea typeface="Arial"/>
              </a:rPr>
              <a:t>传统增强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995560" y="4076640"/>
            <a:ext cx="147168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704"/>
              </a:lnSpc>
            </a:pPr>
            <a:r>
              <a:rPr b="0" lang="zh-CN" sz="1050" strike="noStrike" u="non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引入基础几何与色彩变换，评估数据扩增收益。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5372280" y="2803680"/>
            <a:ext cx="743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trike="noStrike" u="none">
                <a:solidFill>
                  <a:srgbClr val="4338ca"/>
                </a:solidFill>
                <a:effectLst/>
                <a:uFillTx/>
                <a:latin typeface="Arial"/>
                <a:ea typeface="Arial"/>
              </a:rPr>
              <a:t>STAGE 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5576400" y="3803760"/>
            <a:ext cx="10551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Arial"/>
                <a:ea typeface="Arial"/>
              </a:rPr>
              <a:t>DAGAN</a:t>
            </a: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Arial"/>
                <a:ea typeface="Arial"/>
              </a:rPr>
              <a:t>合成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5372280" y="4108680"/>
            <a:ext cx="147168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704"/>
              </a:lnSpc>
            </a:pPr>
            <a:r>
              <a:rPr b="0" lang="zh-CN" sz="1050" strike="noStrike" u="non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应用生成对抗网络，验证深度生成模型优势。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749000" y="2727720"/>
            <a:ext cx="743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trike="noStrike" u="none">
                <a:solidFill>
                  <a:srgbClr val="e8823b"/>
                </a:solidFill>
                <a:effectLst/>
                <a:uFillTx/>
                <a:latin typeface="Arial"/>
                <a:ea typeface="Arial"/>
              </a:rPr>
              <a:t>STAGE 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8127360" y="3727800"/>
            <a:ext cx="6994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Arial"/>
                <a:ea typeface="Arial"/>
              </a:rPr>
              <a:t>混合策略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749000" y="4032360"/>
            <a:ext cx="147168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704"/>
              </a:lnSpc>
            </a:pPr>
            <a:r>
              <a:rPr b="0" lang="zh-CN" sz="1050" strike="noStrike" u="non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结合传统与生成数据，探索策略协同效应。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1185920" y="2536920"/>
            <a:ext cx="635760" cy="264600"/>
          </a:xfrm>
          <a:prstGeom prst="rect">
            <a:avLst/>
          </a:prstGeom>
          <a:noFill/>
          <a:ln w="0">
            <a:noFill/>
          </a:ln>
        </p:spPr>
        <p:txBody>
          <a:bodyPr lIns="75960" rIns="75960" tIns="37800" bIns="37800" anchor="ctr">
            <a:noAutofit/>
          </a:bodyPr>
          <a:p>
            <a:pPr>
              <a:lnSpc>
                <a:spcPts val="1199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FINAL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0135080" y="2651400"/>
            <a:ext cx="743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STAGE 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0506240" y="3651480"/>
            <a:ext cx="6994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Arial"/>
                <a:ea typeface="Arial"/>
              </a:rPr>
              <a:t>全套优化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0135080" y="3956400"/>
            <a:ext cx="145656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704"/>
              </a:lnSpc>
            </a:pPr>
            <a:r>
              <a:rPr b="0" lang="zh-CN" sz="1050" strike="noStrike" u="non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综合所有策略并微调，达到最佳分类性能。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" descr=""/>
          <p:cNvPicPr/>
          <p:nvPr/>
        </p:nvPicPr>
        <p:blipFill>
          <a:blip r:embed="rId3"/>
          <a:stretch/>
        </p:blipFill>
        <p:spPr>
          <a:xfrm>
            <a:off x="457200" y="1066680"/>
            <a:ext cx="11277360" cy="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" descr=""/>
          <p:cNvPicPr/>
          <p:nvPr/>
        </p:nvPicPr>
        <p:blipFill>
          <a:blip r:embed="rId4"/>
          <a:stretch/>
        </p:blipFill>
        <p:spPr>
          <a:xfrm>
            <a:off x="428400" y="1276200"/>
            <a:ext cx="4827960" cy="249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2" name="" descr=""/>
          <p:cNvPicPr/>
          <p:nvPr/>
        </p:nvPicPr>
        <p:blipFill>
          <a:blip r:embed="rId5"/>
          <a:stretch/>
        </p:blipFill>
        <p:spPr>
          <a:xfrm>
            <a:off x="4032000" y="1304640"/>
            <a:ext cx="1196280" cy="83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" descr=""/>
          <p:cNvPicPr/>
          <p:nvPr/>
        </p:nvPicPr>
        <p:blipFill>
          <a:blip r:embed="rId6"/>
          <a:stretch/>
        </p:blipFill>
        <p:spPr>
          <a:xfrm>
            <a:off x="723600" y="155232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" descr=""/>
          <p:cNvPicPr/>
          <p:nvPr/>
        </p:nvPicPr>
        <p:blipFill>
          <a:blip r:embed="rId7"/>
          <a:stretch/>
        </p:blipFill>
        <p:spPr>
          <a:xfrm>
            <a:off x="723600" y="208584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5" name="" descr=""/>
          <p:cNvPicPr/>
          <p:nvPr/>
        </p:nvPicPr>
        <p:blipFill>
          <a:blip r:embed="rId8"/>
          <a:stretch/>
        </p:blipFill>
        <p:spPr>
          <a:xfrm>
            <a:off x="723600" y="246672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6" name="" descr=""/>
          <p:cNvPicPr/>
          <p:nvPr/>
        </p:nvPicPr>
        <p:blipFill>
          <a:blip r:embed="rId9"/>
          <a:stretch/>
        </p:blipFill>
        <p:spPr>
          <a:xfrm>
            <a:off x="723600" y="2823840"/>
            <a:ext cx="4275720" cy="68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" descr=""/>
          <p:cNvPicPr/>
          <p:nvPr/>
        </p:nvPicPr>
        <p:blipFill>
          <a:blip r:embed="rId10"/>
          <a:stretch/>
        </p:blipFill>
        <p:spPr>
          <a:xfrm>
            <a:off x="428400" y="3938400"/>
            <a:ext cx="4827960" cy="249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8" name="" descr=""/>
          <p:cNvPicPr/>
          <p:nvPr/>
        </p:nvPicPr>
        <p:blipFill>
          <a:blip r:embed="rId11"/>
          <a:stretch/>
        </p:blipFill>
        <p:spPr>
          <a:xfrm>
            <a:off x="4032000" y="3966840"/>
            <a:ext cx="1196280" cy="83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" descr=""/>
          <p:cNvPicPr/>
          <p:nvPr/>
        </p:nvPicPr>
        <p:blipFill>
          <a:blip r:embed="rId12"/>
          <a:stretch/>
        </p:blipFill>
        <p:spPr>
          <a:xfrm>
            <a:off x="723600" y="4214520"/>
            <a:ext cx="2664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" descr=""/>
          <p:cNvPicPr/>
          <p:nvPr/>
        </p:nvPicPr>
        <p:blipFill>
          <a:blip r:embed="rId13"/>
          <a:stretch/>
        </p:blipFill>
        <p:spPr>
          <a:xfrm>
            <a:off x="723600" y="474804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1" name="" descr=""/>
          <p:cNvPicPr/>
          <p:nvPr/>
        </p:nvPicPr>
        <p:blipFill>
          <a:blip r:embed="rId14"/>
          <a:stretch/>
        </p:blipFill>
        <p:spPr>
          <a:xfrm>
            <a:off x="723600" y="512892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2" name="" descr=""/>
          <p:cNvPicPr/>
          <p:nvPr/>
        </p:nvPicPr>
        <p:blipFill>
          <a:blip r:embed="rId15"/>
          <a:stretch/>
        </p:blipFill>
        <p:spPr>
          <a:xfrm>
            <a:off x="723600" y="5486400"/>
            <a:ext cx="4275720" cy="68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3" name="" descr=""/>
          <p:cNvPicPr/>
          <p:nvPr/>
        </p:nvPicPr>
        <p:blipFill>
          <a:blip r:embed="rId16"/>
          <a:stretch/>
        </p:blipFill>
        <p:spPr>
          <a:xfrm>
            <a:off x="3523680" y="5695920"/>
            <a:ext cx="8791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4" name="" descr=""/>
          <p:cNvPicPr/>
          <p:nvPr/>
        </p:nvPicPr>
        <p:blipFill>
          <a:blip r:embed="rId17"/>
          <a:stretch/>
        </p:blipFill>
        <p:spPr>
          <a:xfrm>
            <a:off x="3600000" y="575280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" descr=""/>
          <p:cNvPicPr/>
          <p:nvPr/>
        </p:nvPicPr>
        <p:blipFill>
          <a:blip r:embed="rId18"/>
          <a:stretch/>
        </p:blipFill>
        <p:spPr>
          <a:xfrm>
            <a:off x="5504400" y="1276200"/>
            <a:ext cx="6258600" cy="515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" descr=""/>
          <p:cNvPicPr/>
          <p:nvPr/>
        </p:nvPicPr>
        <p:blipFill>
          <a:blip r:embed="rId19"/>
          <a:stretch/>
        </p:blipFill>
        <p:spPr>
          <a:xfrm>
            <a:off x="11001240" y="161892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" descr=""/>
          <p:cNvPicPr/>
          <p:nvPr/>
        </p:nvPicPr>
        <p:blipFill>
          <a:blip r:embed="rId20"/>
          <a:stretch/>
        </p:blipFill>
        <p:spPr>
          <a:xfrm>
            <a:off x="11191680" y="161892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" descr=""/>
          <p:cNvPicPr/>
          <p:nvPr/>
        </p:nvPicPr>
        <p:blipFill>
          <a:blip r:embed="rId21"/>
          <a:stretch/>
        </p:blipFill>
        <p:spPr>
          <a:xfrm>
            <a:off x="11382120" y="161892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" descr=""/>
          <p:cNvPicPr/>
          <p:nvPr/>
        </p:nvPicPr>
        <p:blipFill>
          <a:blip r:embed="rId22"/>
          <a:stretch/>
        </p:blipFill>
        <p:spPr>
          <a:xfrm>
            <a:off x="5771160" y="1962000"/>
            <a:ext cx="5725080" cy="336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" descr=""/>
          <p:cNvPicPr/>
          <p:nvPr/>
        </p:nvPicPr>
        <p:blipFill>
          <a:blip r:embed="rId23"/>
          <a:stretch/>
        </p:blipFill>
        <p:spPr>
          <a:xfrm>
            <a:off x="5771160" y="5481360"/>
            <a:ext cx="5725080" cy="68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1" name="" descr=""/>
          <p:cNvPicPr/>
          <p:nvPr/>
        </p:nvPicPr>
        <p:blipFill>
          <a:blip r:embed="rId24"/>
          <a:stretch/>
        </p:blipFill>
        <p:spPr>
          <a:xfrm>
            <a:off x="5895000" y="562428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"/>
          <p:cNvSpPr txBox="1"/>
          <p:nvPr/>
        </p:nvSpPr>
        <p:spPr>
          <a:xfrm>
            <a:off x="685800" y="457200"/>
            <a:ext cx="708552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实验过程：</a:t>
            </a:r>
            <a:r>
              <a:rPr b="1" lang="en-US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Stage 1-2 </a:t>
            </a: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基线与传统增强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104840" y="1533240"/>
            <a:ext cx="41439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en-US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Stage 1: </a:t>
            </a: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基线模型 </a:t>
            </a:r>
            <a:r>
              <a:rPr b="1" lang="en-US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(Baseline)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914400" y="1990440"/>
            <a:ext cx="43336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核心架构：采用 </a:t>
            </a:r>
            <a:r>
              <a:rPr b="1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ResNet18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结合迁移学习策略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914400" y="2371680"/>
            <a:ext cx="45259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初步验证模型在当前数据集上的基础特征提取能力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876240" y="3071520"/>
            <a:ext cx="10972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验证集准确率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942920" y="2976480"/>
            <a:ext cx="17136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83.76%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1104840" y="4195440"/>
            <a:ext cx="30333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en-US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Stage 2: </a:t>
            </a: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传统数据增强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914400" y="4652640"/>
            <a:ext cx="36280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引入 </a:t>
            </a:r>
            <a:r>
              <a:rPr b="1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旋转、翻转、缩放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 等在线增强技术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914400" y="5033880"/>
            <a:ext cx="44510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有效扩充样本多样性，显著改善 </a:t>
            </a:r>
            <a:r>
              <a:rPr b="1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少数类识别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 性能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876240" y="5733720"/>
            <a:ext cx="10972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验证集准确率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942920" y="5638680"/>
            <a:ext cx="17136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86.32%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3752280" y="5715000"/>
            <a:ext cx="6890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trike="noStrike" u="none">
                <a:solidFill>
                  <a:srgbClr val="16a34a"/>
                </a:solidFill>
                <a:effectLst/>
                <a:uFillTx/>
                <a:latin typeface="Inter"/>
                <a:ea typeface="Inter"/>
              </a:rPr>
              <a:t>+2.56%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5771160" y="1542960"/>
            <a:ext cx="18284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性能指标对比分析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6199560" y="5605200"/>
            <a:ext cx="527616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1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洞察：</a:t>
            </a: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从 </a:t>
            </a:r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Stage 1 </a:t>
            </a: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到 </a:t>
            </a:r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Stage 2</a:t>
            </a: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，通过引入传统数据增强策略，模型在验证集上的准确率实现了稳健提升，特别是在处理复杂形态和少数类样本时表现出更强的鲁棒性。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744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" descr=""/>
          <p:cNvPicPr/>
          <p:nvPr/>
        </p:nvPicPr>
        <p:blipFill>
          <a:blip r:embed="rId3"/>
          <a:stretch/>
        </p:blipFill>
        <p:spPr>
          <a:xfrm>
            <a:off x="0" y="0"/>
            <a:ext cx="7596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" descr=""/>
          <p:cNvPicPr/>
          <p:nvPr/>
        </p:nvPicPr>
        <p:blipFill>
          <a:blip r:embed="rId4"/>
          <a:stretch/>
        </p:blipFill>
        <p:spPr>
          <a:xfrm>
            <a:off x="457200" y="642600"/>
            <a:ext cx="60948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" descr=""/>
          <p:cNvPicPr/>
          <p:nvPr/>
        </p:nvPicPr>
        <p:blipFill>
          <a:blip r:embed="rId5"/>
          <a:stretch/>
        </p:blipFill>
        <p:spPr>
          <a:xfrm>
            <a:off x="352080" y="1266480"/>
            <a:ext cx="4686840" cy="217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1" name="" descr=""/>
          <p:cNvPicPr/>
          <p:nvPr/>
        </p:nvPicPr>
        <p:blipFill>
          <a:blip r:embed="rId6"/>
          <a:stretch/>
        </p:blipFill>
        <p:spPr>
          <a:xfrm>
            <a:off x="390240" y="1304640"/>
            <a:ext cx="461088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2" name="" descr=""/>
          <p:cNvPicPr/>
          <p:nvPr/>
        </p:nvPicPr>
        <p:blipFill>
          <a:blip r:embed="rId7"/>
          <a:stretch/>
        </p:blipFill>
        <p:spPr>
          <a:xfrm>
            <a:off x="618840" y="1571400"/>
            <a:ext cx="73656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3" name="" descr=""/>
          <p:cNvPicPr/>
          <p:nvPr/>
        </p:nvPicPr>
        <p:blipFill>
          <a:blip r:embed="rId8"/>
          <a:stretch/>
        </p:blipFill>
        <p:spPr>
          <a:xfrm>
            <a:off x="618840" y="2600280"/>
            <a:ext cx="415368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4" name="" descr=""/>
          <p:cNvPicPr/>
          <p:nvPr/>
        </p:nvPicPr>
        <p:blipFill>
          <a:blip r:embed="rId9"/>
          <a:stretch/>
        </p:blipFill>
        <p:spPr>
          <a:xfrm>
            <a:off x="4429800" y="279072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5" name="" descr=""/>
          <p:cNvPicPr/>
          <p:nvPr/>
        </p:nvPicPr>
        <p:blipFill>
          <a:blip r:embed="rId10"/>
          <a:stretch/>
        </p:blipFill>
        <p:spPr>
          <a:xfrm>
            <a:off x="352080" y="3609720"/>
            <a:ext cx="4686840" cy="348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6" name="" descr=""/>
          <p:cNvPicPr/>
          <p:nvPr/>
        </p:nvPicPr>
        <p:blipFill>
          <a:blip r:embed="rId11"/>
          <a:stretch/>
        </p:blipFill>
        <p:spPr>
          <a:xfrm>
            <a:off x="390240" y="3647880"/>
            <a:ext cx="461088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7" name="" descr=""/>
          <p:cNvPicPr/>
          <p:nvPr/>
        </p:nvPicPr>
        <p:blipFill>
          <a:blip r:embed="rId12"/>
          <a:stretch/>
        </p:blipFill>
        <p:spPr>
          <a:xfrm>
            <a:off x="618840" y="3914640"/>
            <a:ext cx="73656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8" name="" descr=""/>
          <p:cNvPicPr/>
          <p:nvPr/>
        </p:nvPicPr>
        <p:blipFill>
          <a:blip r:embed="rId13"/>
          <a:stretch/>
        </p:blipFill>
        <p:spPr>
          <a:xfrm>
            <a:off x="618840" y="4333680"/>
            <a:ext cx="78084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" descr=""/>
          <p:cNvPicPr/>
          <p:nvPr/>
        </p:nvPicPr>
        <p:blipFill>
          <a:blip r:embed="rId14"/>
          <a:stretch/>
        </p:blipFill>
        <p:spPr>
          <a:xfrm>
            <a:off x="1476360" y="4333680"/>
            <a:ext cx="110304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" descr=""/>
          <p:cNvPicPr/>
          <p:nvPr/>
        </p:nvPicPr>
        <p:blipFill>
          <a:blip r:embed="rId15"/>
          <a:stretch/>
        </p:blipFill>
        <p:spPr>
          <a:xfrm>
            <a:off x="2655360" y="4333680"/>
            <a:ext cx="103428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1" name="" descr=""/>
          <p:cNvPicPr/>
          <p:nvPr/>
        </p:nvPicPr>
        <p:blipFill>
          <a:blip r:embed="rId16"/>
          <a:stretch/>
        </p:blipFill>
        <p:spPr>
          <a:xfrm>
            <a:off x="618840" y="5643000"/>
            <a:ext cx="4153680" cy="118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2" name="" descr=""/>
          <p:cNvPicPr/>
          <p:nvPr/>
        </p:nvPicPr>
        <p:blipFill>
          <a:blip r:embed="rId17"/>
          <a:stretch/>
        </p:blipFill>
        <p:spPr>
          <a:xfrm>
            <a:off x="2341440" y="5547960"/>
            <a:ext cx="708480" cy="1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" descr=""/>
          <p:cNvPicPr/>
          <p:nvPr/>
        </p:nvPicPr>
        <p:blipFill>
          <a:blip r:embed="rId18"/>
          <a:stretch/>
        </p:blipFill>
        <p:spPr>
          <a:xfrm>
            <a:off x="2429640" y="62337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" descr=""/>
          <p:cNvPicPr/>
          <p:nvPr/>
        </p:nvPicPr>
        <p:blipFill>
          <a:blip r:embed="rId19"/>
          <a:stretch/>
        </p:blipFill>
        <p:spPr>
          <a:xfrm>
            <a:off x="5286960" y="1266480"/>
            <a:ext cx="6552000" cy="582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5" name="" descr=""/>
          <p:cNvPicPr/>
          <p:nvPr/>
        </p:nvPicPr>
        <p:blipFill>
          <a:blip r:embed="rId20"/>
          <a:stretch/>
        </p:blipFill>
        <p:spPr>
          <a:xfrm>
            <a:off x="11077560" y="16095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6" name="" descr=""/>
          <p:cNvPicPr/>
          <p:nvPr/>
        </p:nvPicPr>
        <p:blipFill>
          <a:blip r:embed="rId21"/>
          <a:stretch/>
        </p:blipFill>
        <p:spPr>
          <a:xfrm>
            <a:off x="11268000" y="16095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7" name="" descr=""/>
          <p:cNvPicPr/>
          <p:nvPr/>
        </p:nvPicPr>
        <p:blipFill>
          <a:blip r:embed="rId22"/>
          <a:stretch/>
        </p:blipFill>
        <p:spPr>
          <a:xfrm>
            <a:off x="11458440" y="160956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8" name="" descr=""/>
          <p:cNvPicPr/>
          <p:nvPr/>
        </p:nvPicPr>
        <p:blipFill>
          <a:blip r:embed="rId23"/>
          <a:stretch/>
        </p:blipFill>
        <p:spPr>
          <a:xfrm>
            <a:off x="5553720" y="1952280"/>
            <a:ext cx="6018840" cy="48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"/>
          <p:cNvSpPr txBox="1"/>
          <p:nvPr/>
        </p:nvSpPr>
        <p:spPr>
          <a:xfrm>
            <a:off x="457200" y="223560"/>
            <a:ext cx="677916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pc="-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实验过程：</a:t>
            </a:r>
            <a:r>
              <a:rPr b="1" lang="en-US" sz="2250" spc="-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Stage 3-4 DAGAN</a:t>
            </a:r>
            <a:r>
              <a:rPr b="1" lang="zh-CN" sz="2250" spc="-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合成与混合策略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18840" y="1533240"/>
            <a:ext cx="49842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ts val="2398"/>
              </a:lnSpc>
            </a:pPr>
            <a:r>
              <a:rPr b="1" lang="en-US" sz="900" spc="43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STAGE 3</a:t>
            </a:r>
            <a:r>
              <a:rPr b="1" lang="en-US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 DAGAN</a:t>
            </a:r>
            <a:r>
              <a:rPr b="1" lang="zh-CN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合成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618840" y="1952280"/>
            <a:ext cx="4236480" cy="4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947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利用生成对抗网络合成数据，有效扩充少数类样本，解决数据分布不均问题。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71480" y="2771640"/>
            <a:ext cx="10972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1" lang="zh-CN" sz="12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良性类准确率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3629880" y="2752560"/>
            <a:ext cx="91404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显著飙升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18840" y="3876480"/>
            <a:ext cx="49842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ts val="2398"/>
              </a:lnSpc>
            </a:pPr>
            <a:r>
              <a:rPr b="1" lang="en-US" sz="900" spc="43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STAGE 4</a:t>
            </a:r>
            <a:r>
              <a:rPr b="1" lang="en-US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b="1" lang="zh-CN" sz="1800" spc="43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混合策略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618840" y="4333680"/>
            <a:ext cx="936720" cy="321480"/>
          </a:xfrm>
          <a:prstGeom prst="rect">
            <a:avLst/>
          </a:prstGeom>
          <a:noFill/>
          <a:ln w="0">
            <a:noFill/>
          </a:ln>
        </p:spPr>
        <p:txBody>
          <a:bodyPr lIns="114120" rIns="114120" tIns="37800" bIns="37800" anchor="ctr">
            <a:no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传统增强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476360" y="4333680"/>
            <a:ext cx="1323360" cy="321480"/>
          </a:xfrm>
          <a:prstGeom prst="rect">
            <a:avLst/>
          </a:prstGeom>
          <a:noFill/>
          <a:ln w="0">
            <a:noFill/>
          </a:ln>
        </p:spPr>
        <p:txBody>
          <a:bodyPr lIns="114120" rIns="114120" tIns="37800" bIns="37800" anchor="ctr">
            <a:noAutofit/>
          </a:bodyPr>
          <a:p>
            <a:pPr>
              <a:lnSpc>
                <a:spcPts val="1500"/>
              </a:lnSpc>
            </a:pP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+ DAGAN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合成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2655360" y="4333680"/>
            <a:ext cx="1240920" cy="321480"/>
          </a:xfrm>
          <a:prstGeom prst="rect">
            <a:avLst/>
          </a:prstGeom>
          <a:noFill/>
          <a:ln w="0">
            <a:noFill/>
          </a:ln>
        </p:spPr>
        <p:txBody>
          <a:bodyPr lIns="114120" rIns="114120" tIns="37800" bIns="37800" anchor="ctr">
            <a:noAutofit/>
          </a:bodyPr>
          <a:p>
            <a:pPr>
              <a:lnSpc>
                <a:spcPts val="1500"/>
              </a:lnSpc>
            </a:pP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+ Focal Loss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2341440" y="5547960"/>
            <a:ext cx="745920" cy="152640"/>
          </a:xfrm>
          <a:prstGeom prst="rect">
            <a:avLst/>
          </a:prstGeom>
          <a:noFill/>
          <a:ln w="0">
            <a:noFill/>
          </a:ln>
        </p:spPr>
        <p:txBody>
          <a:bodyPr lIns="114120" rIns="114120" tIns="0" bIns="0" anchor="t">
            <a:spAutoFit/>
          </a:bodyPr>
          <a:p>
            <a:pPr algn="ctr">
              <a:lnSpc>
                <a:spcPts val="1199"/>
              </a:lnSpc>
            </a:pPr>
            <a:r>
              <a:rPr b="1" lang="zh-CN" sz="900" spc="43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核心突破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828360" y="5852520"/>
            <a:ext cx="38091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500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正常类识别率实现飞跃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597320" y="6214680"/>
            <a:ext cx="61524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699"/>
              </a:lnSpc>
            </a:pPr>
            <a:r>
              <a:rPr b="1" lang="en-US" sz="2250" strike="sng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70%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2963160" y="6157440"/>
            <a:ext cx="84744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3600"/>
              </a:lnSpc>
            </a:pPr>
            <a:r>
              <a:rPr b="1" lang="en-US" sz="36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95%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5553720" y="1533240"/>
            <a:ext cx="16459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性能指标对比分析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777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4" name="" descr=""/>
          <p:cNvPicPr/>
          <p:nvPr/>
        </p:nvPicPr>
        <p:blipFill>
          <a:blip r:embed="rId2"/>
          <a:stretch/>
        </p:blipFill>
        <p:spPr>
          <a:xfrm>
            <a:off x="457200" y="62856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" descr=""/>
          <p:cNvPicPr/>
          <p:nvPr/>
        </p:nvPicPr>
        <p:blipFill>
          <a:blip r:embed="rId3"/>
          <a:stretch/>
        </p:blipFill>
        <p:spPr>
          <a:xfrm>
            <a:off x="428400" y="1457280"/>
            <a:ext cx="6076800" cy="169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6" name="" descr=""/>
          <p:cNvPicPr/>
          <p:nvPr/>
        </p:nvPicPr>
        <p:blipFill>
          <a:blip r:embed="rId4"/>
          <a:stretch/>
        </p:blipFill>
        <p:spPr>
          <a:xfrm>
            <a:off x="695160" y="2066760"/>
            <a:ext cx="1260000" cy="36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" descr=""/>
          <p:cNvPicPr/>
          <p:nvPr/>
        </p:nvPicPr>
        <p:blipFill>
          <a:blip r:embed="rId5"/>
          <a:stretch/>
        </p:blipFill>
        <p:spPr>
          <a:xfrm>
            <a:off x="2069640" y="2066760"/>
            <a:ext cx="1994040" cy="36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8" name="" descr=""/>
          <p:cNvPicPr/>
          <p:nvPr/>
        </p:nvPicPr>
        <p:blipFill>
          <a:blip r:embed="rId6"/>
          <a:stretch/>
        </p:blipFill>
        <p:spPr>
          <a:xfrm>
            <a:off x="695160" y="2543040"/>
            <a:ext cx="21448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9" name="" descr=""/>
          <p:cNvPicPr/>
          <p:nvPr/>
        </p:nvPicPr>
        <p:blipFill>
          <a:blip r:embed="rId7"/>
          <a:stretch/>
        </p:blipFill>
        <p:spPr>
          <a:xfrm>
            <a:off x="2954520" y="2543040"/>
            <a:ext cx="13176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" descr=""/>
          <p:cNvPicPr/>
          <p:nvPr/>
        </p:nvPicPr>
        <p:blipFill>
          <a:blip r:embed="rId8"/>
          <a:stretch/>
        </p:blipFill>
        <p:spPr>
          <a:xfrm>
            <a:off x="428400" y="3323880"/>
            <a:ext cx="2952720" cy="135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1" name="" descr=""/>
          <p:cNvPicPr/>
          <p:nvPr/>
        </p:nvPicPr>
        <p:blipFill>
          <a:blip r:embed="rId9"/>
          <a:stretch/>
        </p:blipFill>
        <p:spPr>
          <a:xfrm>
            <a:off x="2895480" y="3352680"/>
            <a:ext cx="45720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" descr=""/>
          <p:cNvPicPr/>
          <p:nvPr/>
        </p:nvPicPr>
        <p:blipFill>
          <a:blip r:embed="rId10"/>
          <a:stretch/>
        </p:blipFill>
        <p:spPr>
          <a:xfrm>
            <a:off x="3552480" y="3323880"/>
            <a:ext cx="2952720" cy="135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3" name="" descr=""/>
          <p:cNvPicPr/>
          <p:nvPr/>
        </p:nvPicPr>
        <p:blipFill>
          <a:blip r:embed="rId11"/>
          <a:stretch/>
        </p:blipFill>
        <p:spPr>
          <a:xfrm>
            <a:off x="6019560" y="3352680"/>
            <a:ext cx="45720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4" name="" descr=""/>
          <p:cNvPicPr/>
          <p:nvPr/>
        </p:nvPicPr>
        <p:blipFill>
          <a:blip r:embed="rId12"/>
          <a:stretch/>
        </p:blipFill>
        <p:spPr>
          <a:xfrm>
            <a:off x="428400" y="4848120"/>
            <a:ext cx="6076800" cy="249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5" name="" descr=""/>
          <p:cNvPicPr/>
          <p:nvPr/>
        </p:nvPicPr>
        <p:blipFill>
          <a:blip r:embed="rId13"/>
          <a:stretch/>
        </p:blipFill>
        <p:spPr>
          <a:xfrm>
            <a:off x="695160" y="515268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" descr=""/>
          <p:cNvPicPr/>
          <p:nvPr/>
        </p:nvPicPr>
        <p:blipFill>
          <a:blip r:embed="rId14"/>
          <a:stretch/>
        </p:blipFill>
        <p:spPr>
          <a:xfrm>
            <a:off x="695160" y="5876640"/>
            <a:ext cx="5543280" cy="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7" name="" descr=""/>
          <p:cNvPicPr/>
          <p:nvPr/>
        </p:nvPicPr>
        <p:blipFill>
          <a:blip r:embed="rId15"/>
          <a:stretch/>
        </p:blipFill>
        <p:spPr>
          <a:xfrm>
            <a:off x="695160" y="6429240"/>
            <a:ext cx="5543280" cy="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8" name="" descr=""/>
          <p:cNvPicPr/>
          <p:nvPr/>
        </p:nvPicPr>
        <p:blipFill>
          <a:blip r:embed="rId16"/>
          <a:stretch/>
        </p:blipFill>
        <p:spPr>
          <a:xfrm>
            <a:off x="695160" y="6981480"/>
            <a:ext cx="5543280" cy="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" descr=""/>
          <p:cNvPicPr/>
          <p:nvPr/>
        </p:nvPicPr>
        <p:blipFill>
          <a:blip r:embed="rId17"/>
          <a:stretch/>
        </p:blipFill>
        <p:spPr>
          <a:xfrm>
            <a:off x="6752880" y="1457280"/>
            <a:ext cx="5010120" cy="588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0" name="" descr=""/>
          <p:cNvPicPr/>
          <p:nvPr/>
        </p:nvPicPr>
        <p:blipFill>
          <a:blip r:embed="rId18"/>
          <a:stretch/>
        </p:blipFill>
        <p:spPr>
          <a:xfrm>
            <a:off x="7019640" y="2143080"/>
            <a:ext cx="4476600" cy="447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"/>
          <p:cNvSpPr txBox="1"/>
          <p:nvPr/>
        </p:nvSpPr>
        <p:spPr>
          <a:xfrm>
            <a:off x="761760" y="457200"/>
            <a:ext cx="59238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最终结果：</a:t>
            </a:r>
            <a:r>
              <a:rPr b="1" lang="en-US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Stage 5 </a:t>
            </a: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核心性能指标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61760" y="914400"/>
            <a:ext cx="59238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独立测试集上的全套优化表现评估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695160" y="1723680"/>
            <a:ext cx="67640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en-US" sz="1050" spc="51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STAGE 5 </a:t>
            </a:r>
            <a:r>
              <a:rPr b="1" lang="zh-CN" sz="1050" spc="51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优化策略组合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695160" y="2066760"/>
            <a:ext cx="1285200" cy="397800"/>
          </a:xfrm>
          <a:prstGeom prst="rect">
            <a:avLst/>
          </a:prstGeom>
          <a:noFill/>
          <a:ln w="0">
            <a:noFill/>
          </a:ln>
        </p:spPr>
        <p:txBody>
          <a:bodyPr lIns="152280" rIns="152280" tIns="75960" bIns="75960" anchor="ctr">
            <a:noAutofit/>
          </a:bodyPr>
          <a:p>
            <a:pPr>
              <a:lnSpc>
                <a:spcPts val="1500"/>
              </a:lnSpc>
            </a:pPr>
            <a:r>
              <a:rPr b="0" lang="en-US" sz="10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EfficientNet-B0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2069640" y="2066760"/>
            <a:ext cx="2033640" cy="397800"/>
          </a:xfrm>
          <a:prstGeom prst="rect">
            <a:avLst/>
          </a:prstGeom>
          <a:noFill/>
          <a:ln w="0">
            <a:noFill/>
          </a:ln>
        </p:spPr>
        <p:txBody>
          <a:bodyPr lIns="152280" rIns="152280" tIns="75960" bIns="75960" anchor="ctr">
            <a:no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标签平滑 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(Label Smoothing)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695160" y="2543040"/>
            <a:ext cx="2187720" cy="378720"/>
          </a:xfrm>
          <a:prstGeom prst="rect">
            <a:avLst/>
          </a:prstGeom>
          <a:noFill/>
          <a:ln w="0">
            <a:noFill/>
          </a:ln>
        </p:spPr>
        <p:txBody>
          <a:bodyPr lIns="152280" rIns="152280" tIns="75960" bIns="75960" anchor="ctr">
            <a:no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均衡采样 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(Balanced Sampling)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2954520" y="2543040"/>
            <a:ext cx="1343880" cy="378720"/>
          </a:xfrm>
          <a:prstGeom prst="rect">
            <a:avLst/>
          </a:prstGeom>
          <a:noFill/>
          <a:ln w="0">
            <a:noFill/>
          </a:ln>
        </p:spPr>
        <p:txBody>
          <a:bodyPr lIns="152280" rIns="152280" tIns="75960" bIns="75960" anchor="ctr">
            <a:no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测试时增强 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(TTA)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032840" y="3619440"/>
            <a:ext cx="20919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整体准确率 </a:t>
            </a:r>
            <a:r>
              <a:rPr b="0" lang="en-US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(Accuracy)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1189800" y="3962160"/>
            <a:ext cx="17154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94.87</a:t>
            </a:r>
            <a:r>
              <a:rPr b="1" lang="en-US" sz="22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%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4039560" y="3619440"/>
            <a:ext cx="23742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宏平均 </a:t>
            </a:r>
            <a:r>
              <a:rPr b="0" lang="en-US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AUC (Macro AUC)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4313880" y="3962160"/>
            <a:ext cx="17154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99.63</a:t>
            </a:r>
            <a:r>
              <a:rPr b="1" lang="en-US" sz="22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%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961920" y="5114880"/>
            <a:ext cx="16459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各类别准确率细分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695160" y="5609880"/>
            <a:ext cx="111096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良性 </a:t>
            </a:r>
            <a:r>
              <a:rPr b="0" lang="en-US" sz="12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(Benign)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5704920" y="5609880"/>
            <a:ext cx="6400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1" lang="en-US" sz="12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96.97%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695160" y="6162480"/>
            <a:ext cx="135144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恶性 </a:t>
            </a:r>
            <a:r>
              <a:rPr b="0" lang="en-US" sz="12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(Malignant)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5704920" y="6162480"/>
            <a:ext cx="6400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1" lang="en-US" sz="12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93.55%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695160" y="6715080"/>
            <a:ext cx="11278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正常 </a:t>
            </a:r>
            <a:r>
              <a:rPr b="0" lang="en-US" sz="120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(Normal)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5704920" y="6715080"/>
            <a:ext cx="6400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1" lang="en-US" sz="12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90.00%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019640" y="1723680"/>
            <a:ext cx="45658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混淆矩阵 </a:t>
            </a: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(Confusion Matrix)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7019640" y="6771960"/>
            <a:ext cx="456588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ts val="1199"/>
              </a:lnSpc>
            </a:pPr>
            <a:r>
              <a:rPr b="0" lang="zh-CN" sz="900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图表显示模型在独立测试集上对三个类别的预测分布情况，对角线元素代表正确预测数量。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796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2" name="" descr=""/>
          <p:cNvPicPr/>
          <p:nvPr/>
        </p:nvPicPr>
        <p:blipFill>
          <a:blip r:embed="rId2"/>
          <a:stretch/>
        </p:blipFill>
        <p:spPr>
          <a:xfrm>
            <a:off x="352080" y="1314360"/>
            <a:ext cx="5581440" cy="629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3" name="" descr=""/>
          <p:cNvPicPr/>
          <p:nvPr/>
        </p:nvPicPr>
        <p:blipFill>
          <a:blip r:embed="rId3"/>
          <a:stretch/>
        </p:blipFill>
        <p:spPr>
          <a:xfrm>
            <a:off x="618840" y="1581120"/>
            <a:ext cx="5047920" cy="3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4" name="" descr=""/>
          <p:cNvPicPr/>
          <p:nvPr/>
        </p:nvPicPr>
        <p:blipFill>
          <a:blip r:embed="rId4"/>
          <a:stretch/>
        </p:blipFill>
        <p:spPr>
          <a:xfrm>
            <a:off x="618840" y="160020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5" name="" descr=""/>
          <p:cNvPicPr/>
          <p:nvPr/>
        </p:nvPicPr>
        <p:blipFill>
          <a:blip r:embed="rId5"/>
          <a:stretch/>
        </p:blipFill>
        <p:spPr>
          <a:xfrm>
            <a:off x="618840" y="2124000"/>
            <a:ext cx="5047920" cy="406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6" name="" descr=""/>
          <p:cNvPicPr/>
          <p:nvPr/>
        </p:nvPicPr>
        <p:blipFill>
          <a:blip r:embed="rId6"/>
          <a:stretch/>
        </p:blipFill>
        <p:spPr>
          <a:xfrm>
            <a:off x="618840" y="6378480"/>
            <a:ext cx="5047920" cy="96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7" name="" descr=""/>
          <p:cNvPicPr/>
          <p:nvPr/>
        </p:nvPicPr>
        <p:blipFill>
          <a:blip r:embed="rId7"/>
          <a:stretch/>
        </p:blipFill>
        <p:spPr>
          <a:xfrm>
            <a:off x="6257880" y="1314360"/>
            <a:ext cx="5581440" cy="629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8" name="" descr=""/>
          <p:cNvPicPr/>
          <p:nvPr/>
        </p:nvPicPr>
        <p:blipFill>
          <a:blip r:embed="rId8"/>
          <a:stretch/>
        </p:blipFill>
        <p:spPr>
          <a:xfrm>
            <a:off x="6524280" y="1581120"/>
            <a:ext cx="5047920" cy="3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9" name="" descr=""/>
          <p:cNvPicPr/>
          <p:nvPr/>
        </p:nvPicPr>
        <p:blipFill>
          <a:blip r:embed="rId9"/>
          <a:stretch/>
        </p:blipFill>
        <p:spPr>
          <a:xfrm>
            <a:off x="6524280" y="160020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" descr=""/>
          <p:cNvPicPr/>
          <p:nvPr/>
        </p:nvPicPr>
        <p:blipFill>
          <a:blip r:embed="rId10"/>
          <a:stretch/>
        </p:blipFill>
        <p:spPr>
          <a:xfrm>
            <a:off x="6524280" y="2124000"/>
            <a:ext cx="5047920" cy="406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1" name="" descr=""/>
          <p:cNvPicPr/>
          <p:nvPr/>
        </p:nvPicPr>
        <p:blipFill>
          <a:blip r:embed="rId11"/>
          <a:stretch/>
        </p:blipFill>
        <p:spPr>
          <a:xfrm>
            <a:off x="6524280" y="6376320"/>
            <a:ext cx="5047920" cy="96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2" name="" descr=""/>
          <p:cNvPicPr/>
          <p:nvPr/>
        </p:nvPicPr>
        <p:blipFill>
          <a:blip r:embed="rId12"/>
          <a:stretch/>
        </p:blipFill>
        <p:spPr>
          <a:xfrm>
            <a:off x="0" y="0"/>
            <a:ext cx="12191760" cy="96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3" name="" descr=""/>
          <p:cNvPicPr/>
          <p:nvPr/>
        </p:nvPicPr>
        <p:blipFill>
          <a:blip r:embed="rId13"/>
          <a:stretch/>
        </p:blipFill>
        <p:spPr>
          <a:xfrm>
            <a:off x="457200" y="323640"/>
            <a:ext cx="759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"/>
          <p:cNvSpPr txBox="1"/>
          <p:nvPr/>
        </p:nvSpPr>
        <p:spPr>
          <a:xfrm>
            <a:off x="723600" y="304560"/>
            <a:ext cx="514008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pc="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评价曲线：混淆矩阵与</a:t>
            </a:r>
            <a:r>
              <a:rPr b="1" lang="en-US" sz="2250" spc="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ROC</a:t>
            </a:r>
            <a:r>
              <a:rPr b="1" lang="zh-CN" sz="2250" spc="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曲线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0228320" y="380880"/>
            <a:ext cx="19512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0" lang="en-US" sz="1050" spc="51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STAGE 5 EVALUATION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961920" y="1581120"/>
            <a:ext cx="29793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混淆矩阵 </a:t>
            </a:r>
            <a:r>
              <a:rPr b="1" lang="en-US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(Confusion Matrix)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809280" y="6531120"/>
            <a:ext cx="4799160" cy="6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混淆矩阵直观展示了模型在各类别上的预测分布。对角线上的高数值表明模型保持了</a:t>
            </a:r>
            <a:r>
              <a:rPr b="1" lang="zh-CN" sz="10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极高的识别率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，非对角线区域的极低数值证明了模型具有优异的抗干扰能力，误判样本极少。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6867360" y="1581120"/>
            <a:ext cx="25740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ROC </a:t>
            </a: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曲线 </a:t>
            </a:r>
            <a:r>
              <a:rPr b="1" lang="en-US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(ROC Curves)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6715080" y="6528600"/>
            <a:ext cx="4799160" cy="6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ROC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曲线反映了不同阈值下的真阳性率与假阳性率关系。各类别曲线均紧贴左上角，展现出模型极强的类别判别能力，整体平均 </a:t>
            </a:r>
            <a:r>
              <a:rPr b="1" lang="en-US" sz="12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AUC </a:t>
            </a:r>
            <a:r>
              <a:rPr b="1" lang="zh-CN" sz="12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高达 </a:t>
            </a:r>
            <a:r>
              <a:rPr b="1" lang="en-US" sz="12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99.63%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，性能卓越。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1" name="" descr=""/>
          <p:cNvPicPr/>
          <p:nvPr/>
        </p:nvPicPr>
        <p:blipFill>
          <a:blip r:embed="rId2"/>
          <a:stretch/>
        </p:blipFill>
        <p:spPr>
          <a:xfrm>
            <a:off x="533160" y="45720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2" name="" descr=""/>
          <p:cNvPicPr/>
          <p:nvPr/>
        </p:nvPicPr>
        <p:blipFill>
          <a:blip r:embed="rId3"/>
          <a:stretch/>
        </p:blipFill>
        <p:spPr>
          <a:xfrm>
            <a:off x="504720" y="1583280"/>
            <a:ext cx="3632760" cy="469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3" name="" descr=""/>
          <p:cNvPicPr/>
          <p:nvPr/>
        </p:nvPicPr>
        <p:blipFill>
          <a:blip r:embed="rId4"/>
          <a:stretch/>
        </p:blipFill>
        <p:spPr>
          <a:xfrm>
            <a:off x="847440" y="1696320"/>
            <a:ext cx="294696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4" name="" descr=""/>
          <p:cNvPicPr/>
          <p:nvPr/>
        </p:nvPicPr>
        <p:blipFill>
          <a:blip r:embed="rId5"/>
          <a:stretch/>
        </p:blipFill>
        <p:spPr>
          <a:xfrm>
            <a:off x="847440" y="2430000"/>
            <a:ext cx="2946960" cy="373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5" name="" descr=""/>
          <p:cNvPicPr/>
          <p:nvPr/>
        </p:nvPicPr>
        <p:blipFill>
          <a:blip r:embed="rId6"/>
          <a:stretch/>
        </p:blipFill>
        <p:spPr>
          <a:xfrm>
            <a:off x="752400" y="2439360"/>
            <a:ext cx="209520" cy="2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6" name="" descr=""/>
          <p:cNvPicPr/>
          <p:nvPr/>
        </p:nvPicPr>
        <p:blipFill>
          <a:blip r:embed="rId7"/>
          <a:stretch/>
        </p:blipFill>
        <p:spPr>
          <a:xfrm>
            <a:off x="780840" y="3763440"/>
            <a:ext cx="152280" cy="1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7" name="" descr=""/>
          <p:cNvPicPr/>
          <p:nvPr/>
        </p:nvPicPr>
        <p:blipFill>
          <a:blip r:embed="rId8"/>
          <a:stretch/>
        </p:blipFill>
        <p:spPr>
          <a:xfrm>
            <a:off x="1171440" y="429696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8" name="" descr=""/>
          <p:cNvPicPr/>
          <p:nvPr/>
        </p:nvPicPr>
        <p:blipFill>
          <a:blip r:embed="rId9"/>
          <a:stretch/>
        </p:blipFill>
        <p:spPr>
          <a:xfrm>
            <a:off x="1304640" y="429696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9" name="" descr=""/>
          <p:cNvPicPr/>
          <p:nvPr/>
        </p:nvPicPr>
        <p:blipFill>
          <a:blip r:embed="rId10"/>
          <a:stretch/>
        </p:blipFill>
        <p:spPr>
          <a:xfrm>
            <a:off x="1438200" y="4296960"/>
            <a:ext cx="568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0" name="" descr=""/>
          <p:cNvPicPr/>
          <p:nvPr/>
        </p:nvPicPr>
        <p:blipFill>
          <a:blip r:embed="rId11"/>
          <a:stretch/>
        </p:blipFill>
        <p:spPr>
          <a:xfrm>
            <a:off x="637920" y="466812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1" name="" descr=""/>
          <p:cNvPicPr/>
          <p:nvPr/>
        </p:nvPicPr>
        <p:blipFill>
          <a:blip r:embed="rId12"/>
          <a:stretch/>
        </p:blipFill>
        <p:spPr>
          <a:xfrm>
            <a:off x="1171440" y="5878080"/>
            <a:ext cx="116028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2" name="" descr=""/>
          <p:cNvPicPr/>
          <p:nvPr/>
        </p:nvPicPr>
        <p:blipFill>
          <a:blip r:embed="rId13"/>
          <a:stretch/>
        </p:blipFill>
        <p:spPr>
          <a:xfrm>
            <a:off x="1285560" y="5934960"/>
            <a:ext cx="152280" cy="1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3" name="" descr=""/>
          <p:cNvPicPr/>
          <p:nvPr/>
        </p:nvPicPr>
        <p:blipFill>
          <a:blip r:embed="rId14"/>
          <a:stretch/>
        </p:blipFill>
        <p:spPr>
          <a:xfrm>
            <a:off x="4461480" y="1431000"/>
            <a:ext cx="7225560" cy="499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" descr=""/>
          <p:cNvPicPr/>
          <p:nvPr/>
        </p:nvPicPr>
        <p:blipFill>
          <a:blip r:embed="rId15"/>
          <a:stretch/>
        </p:blipFill>
        <p:spPr>
          <a:xfrm>
            <a:off x="4728240" y="173592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5" name="" descr=""/>
          <p:cNvPicPr/>
          <p:nvPr/>
        </p:nvPicPr>
        <p:blipFill>
          <a:blip r:embed="rId16"/>
          <a:stretch/>
        </p:blipFill>
        <p:spPr>
          <a:xfrm>
            <a:off x="9846000" y="1716840"/>
            <a:ext cx="15739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6" name="" descr=""/>
          <p:cNvPicPr/>
          <p:nvPr/>
        </p:nvPicPr>
        <p:blipFill>
          <a:blip r:embed="rId17"/>
          <a:stretch/>
        </p:blipFill>
        <p:spPr>
          <a:xfrm>
            <a:off x="4728240" y="2116800"/>
            <a:ext cx="6692040" cy="404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"/>
          <p:cNvSpPr txBox="1"/>
          <p:nvPr/>
        </p:nvSpPr>
        <p:spPr>
          <a:xfrm>
            <a:off x="761760" y="457200"/>
            <a:ext cx="521532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对比与验证：五阶段指标演进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761760" y="952200"/>
            <a:ext cx="10240920" cy="2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展示五阶段递进式实验的指标演进对比，验证各项优化策略的有效性。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847440" y="1696320"/>
            <a:ext cx="3005640" cy="52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5228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准确率演进路径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1171440" y="2430000"/>
            <a:ext cx="31474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Stage 1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171440" y="2734560"/>
            <a:ext cx="3147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基础基线模型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1171440" y="3001320"/>
            <a:ext cx="314748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en-US" sz="2250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83.76%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1171440" y="3725280"/>
            <a:ext cx="31474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350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Stage 2 - 4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171440" y="4030200"/>
            <a:ext cx="3147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递进式策略优化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171440" y="4735080"/>
            <a:ext cx="31474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Stage 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171440" y="5039640"/>
            <a:ext cx="3147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0" lang="zh-CN" sz="10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最终融合模型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171440" y="5306400"/>
            <a:ext cx="314748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3600"/>
              </a:lnSpc>
            </a:pPr>
            <a:r>
              <a:rPr b="1" lang="en-US" sz="3600" spc="-88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94.87%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476360" y="5915880"/>
            <a:ext cx="8892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1" lang="zh-CN" sz="10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提升 </a:t>
            </a:r>
            <a:r>
              <a:rPr b="1" lang="en-US" sz="10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11.11%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4994640" y="1697760"/>
            <a:ext cx="16459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五阶段指标对比图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9846000" y="1716840"/>
            <a:ext cx="2012040" cy="264600"/>
          </a:xfrm>
          <a:prstGeom prst="rect">
            <a:avLst/>
          </a:prstGeom>
          <a:noFill/>
          <a:ln w="0">
            <a:noFill/>
          </a:ln>
        </p:spPr>
        <p:txBody>
          <a:bodyPr lIns="75960" rIns="75960" tIns="37800" bIns="37800" anchor="ctr">
            <a:noAutofit/>
          </a:bodyPr>
          <a:p>
            <a:pPr>
              <a:lnSpc>
                <a:spcPts val="1199"/>
              </a:lnSpc>
            </a:pPr>
            <a:r>
              <a:rPr b="0" lang="en-US" sz="900" spc="43" strike="noStrike" u="none">
                <a:solidFill>
                  <a:srgbClr val="9ca3af"/>
                </a:solidFill>
                <a:effectLst/>
                <a:uFillTx/>
                <a:latin typeface="Inter"/>
                <a:ea typeface="Inter"/>
              </a:rPr>
              <a:t>METRICS COMPARISON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749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2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20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" descr=""/>
          <p:cNvPicPr/>
          <p:nvPr/>
        </p:nvPicPr>
        <p:blipFill>
          <a:blip r:embed="rId3"/>
          <a:stretch/>
        </p:blipFill>
        <p:spPr>
          <a:xfrm>
            <a:off x="457200" y="380880"/>
            <a:ext cx="60948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4" name="" descr=""/>
          <p:cNvPicPr/>
          <p:nvPr/>
        </p:nvPicPr>
        <p:blipFill>
          <a:blip r:embed="rId4"/>
          <a:stretch/>
        </p:blipFill>
        <p:spPr>
          <a:xfrm>
            <a:off x="9432720" y="66672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5" name="" descr=""/>
          <p:cNvPicPr/>
          <p:nvPr/>
        </p:nvPicPr>
        <p:blipFill>
          <a:blip r:embed="rId5"/>
          <a:stretch/>
        </p:blipFill>
        <p:spPr>
          <a:xfrm>
            <a:off x="428400" y="2269080"/>
            <a:ext cx="4590720" cy="195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6" name="" descr=""/>
          <p:cNvPicPr/>
          <p:nvPr/>
        </p:nvPicPr>
        <p:blipFill>
          <a:blip r:embed="rId6"/>
          <a:stretch/>
        </p:blipFill>
        <p:spPr>
          <a:xfrm>
            <a:off x="799920" y="264060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7" name="" descr=""/>
          <p:cNvPicPr/>
          <p:nvPr/>
        </p:nvPicPr>
        <p:blipFill>
          <a:blip r:embed="rId7"/>
          <a:stretch/>
        </p:blipFill>
        <p:spPr>
          <a:xfrm>
            <a:off x="428400" y="4476600"/>
            <a:ext cx="4590720" cy="195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" descr=""/>
          <p:cNvPicPr/>
          <p:nvPr/>
        </p:nvPicPr>
        <p:blipFill>
          <a:blip r:embed="rId8"/>
          <a:stretch/>
        </p:blipFill>
        <p:spPr>
          <a:xfrm>
            <a:off x="799920" y="484812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" descr=""/>
          <p:cNvPicPr/>
          <p:nvPr/>
        </p:nvPicPr>
        <p:blipFill>
          <a:blip r:embed="rId9"/>
          <a:stretch/>
        </p:blipFill>
        <p:spPr>
          <a:xfrm>
            <a:off x="5371560" y="1666800"/>
            <a:ext cx="6362640" cy="537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" descr=""/>
          <p:cNvPicPr/>
          <p:nvPr/>
        </p:nvPicPr>
        <p:blipFill>
          <a:blip r:embed="rId10"/>
          <a:stretch/>
        </p:blipFill>
        <p:spPr>
          <a:xfrm>
            <a:off x="6096600" y="1790640"/>
            <a:ext cx="4912920" cy="47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"/>
          <p:cNvSpPr txBox="1"/>
          <p:nvPr/>
        </p:nvSpPr>
        <p:spPr>
          <a:xfrm>
            <a:off x="457200" y="590400"/>
            <a:ext cx="703584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65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对比与验证：</a:t>
            </a:r>
            <a:r>
              <a:rPr b="1" lang="en-US" sz="2700" spc="65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Grad-CAM </a:t>
            </a:r>
            <a:r>
              <a:rPr b="1" lang="zh-CN" sz="2700" spc="65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可视化验证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9813600" y="685800"/>
            <a:ext cx="248976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en-US" sz="1350" spc="65" strike="noStrike" u="none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MODEL VERIFICATION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104840" y="260244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精准聚焦病灶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799920" y="3059640"/>
            <a:ext cx="3963240" cy="8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通过 </a:t>
            </a: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Grad-CAM </a:t>
            </a: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热力图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 验证，模型在进行分类决策时，能够准确聚焦于关键的病灶区域（如恶性肿瘤的不规则边缘）。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104840" y="480996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符合医学先验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799920" y="5267160"/>
            <a:ext cx="3963240" cy="8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可视化结果证实了深度学习模型的 </a:t>
            </a:r>
            <a:r>
              <a:rPr b="1" lang="zh-CN" sz="135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决策依据与医学专家的先验知识高度一致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，极大提升了模型在临床应用中的可解释性与可信度。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7387200" y="6619680"/>
            <a:ext cx="28821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0" lang="zh-CN" sz="1050" spc="26" strike="noStrike" u="none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图：</a:t>
            </a:r>
            <a:r>
              <a:rPr b="0" lang="en-US" sz="1050" spc="26" strike="noStrike" u="none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Grad-CAM </a:t>
            </a:r>
            <a:r>
              <a:rPr b="0" lang="zh-CN" sz="1050" spc="26" strike="noStrike" u="none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热力图可视化结果示例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9" name="" descr=""/>
          <p:cNvPicPr/>
          <p:nvPr/>
        </p:nvPicPr>
        <p:blipFill>
          <a:blip r:embed="rId2"/>
          <a:stretch/>
        </p:blipFill>
        <p:spPr>
          <a:xfrm>
            <a:off x="11048760" y="8762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" descr=""/>
          <p:cNvPicPr/>
          <p:nvPr/>
        </p:nvPicPr>
        <p:blipFill>
          <a:blip r:embed="rId3"/>
          <a:stretch/>
        </p:blipFill>
        <p:spPr>
          <a:xfrm>
            <a:off x="11430000" y="87624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1" name="" descr=""/>
          <p:cNvPicPr/>
          <p:nvPr/>
        </p:nvPicPr>
        <p:blipFill>
          <a:blip r:embed="rId4"/>
          <a:stretch/>
        </p:blipFill>
        <p:spPr>
          <a:xfrm>
            <a:off x="428400" y="1409400"/>
            <a:ext cx="4597200" cy="15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2" name="" descr=""/>
          <p:cNvPicPr/>
          <p:nvPr/>
        </p:nvPicPr>
        <p:blipFill>
          <a:blip r:embed="rId5"/>
          <a:stretch/>
        </p:blipFill>
        <p:spPr>
          <a:xfrm>
            <a:off x="723600" y="166680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3" name="" descr=""/>
          <p:cNvPicPr/>
          <p:nvPr/>
        </p:nvPicPr>
        <p:blipFill>
          <a:blip r:embed="rId6"/>
          <a:stretch/>
        </p:blipFill>
        <p:spPr>
          <a:xfrm>
            <a:off x="428400" y="3162240"/>
            <a:ext cx="4597200" cy="156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4" name="" descr=""/>
          <p:cNvPicPr/>
          <p:nvPr/>
        </p:nvPicPr>
        <p:blipFill>
          <a:blip r:embed="rId7"/>
          <a:stretch/>
        </p:blipFill>
        <p:spPr>
          <a:xfrm>
            <a:off x="723600" y="341928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5" name="" descr=""/>
          <p:cNvPicPr/>
          <p:nvPr/>
        </p:nvPicPr>
        <p:blipFill>
          <a:blip r:embed="rId8"/>
          <a:stretch/>
        </p:blipFill>
        <p:spPr>
          <a:xfrm>
            <a:off x="428400" y="4971960"/>
            <a:ext cx="4597200" cy="15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6" name="" descr=""/>
          <p:cNvPicPr/>
          <p:nvPr/>
        </p:nvPicPr>
        <p:blipFill>
          <a:blip r:embed="rId9"/>
          <a:stretch/>
        </p:blipFill>
        <p:spPr>
          <a:xfrm>
            <a:off x="723600" y="522900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7" name="" descr=""/>
          <p:cNvPicPr/>
          <p:nvPr/>
        </p:nvPicPr>
        <p:blipFill>
          <a:blip r:embed="rId10"/>
          <a:stretch/>
        </p:blipFill>
        <p:spPr>
          <a:xfrm>
            <a:off x="5111640" y="1143000"/>
            <a:ext cx="6889680" cy="560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" descr=""/>
          <p:cNvPicPr/>
          <p:nvPr/>
        </p:nvPicPr>
        <p:blipFill>
          <a:blip r:embed="rId11"/>
          <a:stretch/>
        </p:blipFill>
        <p:spPr>
          <a:xfrm>
            <a:off x="5387760" y="1419120"/>
            <a:ext cx="63370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9" name="" descr=""/>
          <p:cNvPicPr/>
          <p:nvPr/>
        </p:nvPicPr>
        <p:blipFill>
          <a:blip r:embed="rId12"/>
          <a:stretch/>
        </p:blipFill>
        <p:spPr>
          <a:xfrm>
            <a:off x="5540400" y="154764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" descr=""/>
          <p:cNvPicPr/>
          <p:nvPr/>
        </p:nvPicPr>
        <p:blipFill>
          <a:blip r:embed="rId13"/>
          <a:stretch/>
        </p:blipFill>
        <p:spPr>
          <a:xfrm>
            <a:off x="5730840" y="154764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1" name="" descr=""/>
          <p:cNvPicPr/>
          <p:nvPr/>
        </p:nvPicPr>
        <p:blipFill>
          <a:blip r:embed="rId14"/>
          <a:stretch/>
        </p:blipFill>
        <p:spPr>
          <a:xfrm>
            <a:off x="5921280" y="1547640"/>
            <a:ext cx="114120" cy="11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2" name="" descr=""/>
          <p:cNvPicPr/>
          <p:nvPr/>
        </p:nvPicPr>
        <p:blipFill>
          <a:blip r:embed="rId15"/>
          <a:stretch/>
        </p:blipFill>
        <p:spPr>
          <a:xfrm>
            <a:off x="7296120" y="1481040"/>
            <a:ext cx="301608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" descr=""/>
          <p:cNvPicPr/>
          <p:nvPr/>
        </p:nvPicPr>
        <p:blipFill>
          <a:blip r:embed="rId16"/>
          <a:stretch/>
        </p:blipFill>
        <p:spPr>
          <a:xfrm>
            <a:off x="5387760" y="1800000"/>
            <a:ext cx="6337080" cy="466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"/>
          <p:cNvSpPr txBox="1"/>
          <p:nvPr/>
        </p:nvSpPr>
        <p:spPr>
          <a:xfrm>
            <a:off x="457200" y="457200"/>
            <a:ext cx="52344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Web</a:t>
            </a:r>
            <a:r>
              <a:rPr b="1" lang="zh-CN" sz="2700" spc="-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系统演示：单张分析模式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57200" y="914400"/>
            <a:ext cx="52344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zh-CN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基于 </a:t>
            </a:r>
            <a:r>
              <a:rPr b="0" lang="en-US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Web </a:t>
            </a:r>
            <a:r>
              <a:rPr b="0" lang="zh-CN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的 </a:t>
            </a:r>
            <a:r>
              <a:rPr b="0" lang="en-US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CAD </a:t>
            </a:r>
            <a:r>
              <a:rPr b="0" lang="zh-CN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系统 </a:t>
            </a:r>
            <a:r>
              <a:rPr b="0" lang="en-US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/ </a:t>
            </a:r>
            <a:r>
              <a:rPr b="0" lang="zh-CN" sz="135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实时智能诊断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257120" y="1723680"/>
            <a:ext cx="13716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便捷交互设计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257120" y="2162160"/>
            <a:ext cx="3581640" cy="4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947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支持直观的</a:t>
            </a:r>
            <a:r>
              <a:rPr b="1" lang="zh-CN" sz="1200" strike="noStrike" u="none">
                <a:solidFill>
                  <a:srgbClr val="1f2937"/>
                </a:solidFill>
                <a:effectLst/>
                <a:uFillTx/>
                <a:latin typeface="Inter"/>
                <a:ea typeface="Inter"/>
              </a:rPr>
              <a:t>拖拽上传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图像，简化医生操作流程，提供流畅的现代化 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Web 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体验。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257120" y="3476520"/>
            <a:ext cx="13716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极速实时响应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257120" y="3914640"/>
            <a:ext cx="358164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947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依托高效的后端推理引擎，单张图像分析在 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100-200ms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内即可实时返回完整的诊断结果。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257120" y="5286240"/>
            <a:ext cx="137160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多维结果展示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257120" y="5724360"/>
            <a:ext cx="3581640" cy="4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947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综合呈现明确的</a:t>
            </a:r>
            <a:r>
              <a:rPr b="1" lang="zh-CN" sz="1200" strike="noStrike" u="none">
                <a:solidFill>
                  <a:srgbClr val="1f2937"/>
                </a:solidFill>
                <a:effectLst/>
                <a:uFillTx/>
                <a:latin typeface="Inter"/>
                <a:ea typeface="Inter"/>
              </a:rPr>
              <a:t>诊断结论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、详细的</a:t>
            </a:r>
            <a:r>
              <a:rPr b="1" lang="zh-CN" sz="1200" strike="noStrike" u="none">
                <a:solidFill>
                  <a:srgbClr val="1f2937"/>
                </a:solidFill>
                <a:effectLst/>
                <a:uFillTx/>
                <a:latin typeface="Inter"/>
                <a:ea typeface="Inter"/>
              </a:rPr>
              <a:t>概率分布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，以及直观的</a:t>
            </a:r>
            <a:r>
              <a:rPr b="1" lang="zh-CN" sz="1200" strike="noStrike" u="none">
                <a:solidFill>
                  <a:srgbClr val="1f2937"/>
                </a:solidFill>
                <a:effectLst/>
                <a:uFillTx/>
                <a:latin typeface="Inter"/>
                <a:ea typeface="Inter"/>
              </a:rPr>
              <a:t>热力图叠加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，增强可解释性。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7296120" y="1481040"/>
            <a:ext cx="3076200" cy="283320"/>
          </a:xfrm>
          <a:prstGeom prst="rect">
            <a:avLst/>
          </a:prstGeom>
          <a:noFill/>
          <a:ln w="0">
            <a:noFill/>
          </a:ln>
        </p:spPr>
        <p:txBody>
          <a:bodyPr lIns="152280" rIns="152280" tIns="37800" bIns="37800" anchor="ctr">
            <a:noAutofit/>
          </a:bodyPr>
          <a:p>
            <a:pPr algn="ctr">
              <a:lnSpc>
                <a:spcPts val="1199"/>
              </a:lnSpc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CAD System - Single Analysis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4" name="" descr=""/>
          <p:cNvPicPr/>
          <p:nvPr/>
        </p:nvPicPr>
        <p:blipFill>
          <a:blip r:embed="rId2"/>
          <a:stretch/>
        </p:blipFill>
        <p:spPr>
          <a:xfrm>
            <a:off x="0" y="914400"/>
            <a:ext cx="12191760" cy="594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5" name="" descr=""/>
          <p:cNvPicPr/>
          <p:nvPr/>
        </p:nvPicPr>
        <p:blipFill>
          <a:blip r:embed="rId3"/>
          <a:stretch/>
        </p:blipFill>
        <p:spPr>
          <a:xfrm>
            <a:off x="199800" y="1114200"/>
            <a:ext cx="5848200" cy="554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6" name="" descr=""/>
          <p:cNvPicPr/>
          <p:nvPr/>
        </p:nvPicPr>
        <p:blipFill>
          <a:blip r:embed="rId4"/>
          <a:stretch/>
        </p:blipFill>
        <p:spPr>
          <a:xfrm>
            <a:off x="314280" y="1228680"/>
            <a:ext cx="5619600" cy="14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7" name="" descr=""/>
          <p:cNvPicPr/>
          <p:nvPr/>
        </p:nvPicPr>
        <p:blipFill>
          <a:blip r:embed="rId5"/>
          <a:stretch/>
        </p:blipFill>
        <p:spPr>
          <a:xfrm>
            <a:off x="542880" y="145728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8" name="" descr=""/>
          <p:cNvPicPr/>
          <p:nvPr/>
        </p:nvPicPr>
        <p:blipFill>
          <a:blip r:embed="rId6"/>
          <a:stretch/>
        </p:blipFill>
        <p:spPr>
          <a:xfrm>
            <a:off x="314280" y="2685960"/>
            <a:ext cx="5619600" cy="385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9" name="" descr=""/>
          <p:cNvPicPr/>
          <p:nvPr/>
        </p:nvPicPr>
        <p:blipFill>
          <a:blip r:embed="rId7"/>
          <a:stretch/>
        </p:blipFill>
        <p:spPr>
          <a:xfrm>
            <a:off x="6143400" y="1114200"/>
            <a:ext cx="5848200" cy="554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0" name="" descr=""/>
          <p:cNvPicPr/>
          <p:nvPr/>
        </p:nvPicPr>
        <p:blipFill>
          <a:blip r:embed="rId8"/>
          <a:stretch/>
        </p:blipFill>
        <p:spPr>
          <a:xfrm>
            <a:off x="6257880" y="1228680"/>
            <a:ext cx="5619600" cy="14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1" name="" descr=""/>
          <p:cNvPicPr/>
          <p:nvPr/>
        </p:nvPicPr>
        <p:blipFill>
          <a:blip r:embed="rId9"/>
          <a:stretch/>
        </p:blipFill>
        <p:spPr>
          <a:xfrm>
            <a:off x="6486480" y="145728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2" name="" descr=""/>
          <p:cNvPicPr/>
          <p:nvPr/>
        </p:nvPicPr>
        <p:blipFill>
          <a:blip r:embed="rId10"/>
          <a:stretch/>
        </p:blipFill>
        <p:spPr>
          <a:xfrm>
            <a:off x="6257880" y="2685960"/>
            <a:ext cx="5619600" cy="385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3" name="" descr=""/>
          <p:cNvPicPr/>
          <p:nvPr/>
        </p:nvPicPr>
        <p:blipFill>
          <a:blip r:embed="rId11"/>
          <a:stretch/>
        </p:blipFill>
        <p:spPr>
          <a:xfrm>
            <a:off x="0" y="0"/>
            <a:ext cx="12191760" cy="9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4" name="" descr=""/>
          <p:cNvPicPr/>
          <p:nvPr/>
        </p:nvPicPr>
        <p:blipFill>
          <a:blip r:embed="rId12"/>
          <a:stretch/>
        </p:blipFill>
        <p:spPr>
          <a:xfrm>
            <a:off x="380880" y="24732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5" name="" descr=""/>
          <p:cNvPicPr/>
          <p:nvPr/>
        </p:nvPicPr>
        <p:blipFill>
          <a:blip r:embed="rId13"/>
          <a:stretch/>
        </p:blipFill>
        <p:spPr>
          <a:xfrm>
            <a:off x="11505960" y="28548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"/>
          <p:cNvSpPr txBox="1"/>
          <p:nvPr/>
        </p:nvSpPr>
        <p:spPr>
          <a:xfrm>
            <a:off x="609480" y="266400"/>
            <a:ext cx="581184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en-US" sz="2250" spc="54" strike="noStrike" u="none">
                <a:solidFill>
                  <a:srgbClr val="1f3a68"/>
                </a:solidFill>
                <a:effectLst/>
                <a:uFillTx/>
                <a:latin typeface="TencentSans"/>
                <a:ea typeface="TencentSans"/>
              </a:rPr>
              <a:t>Web</a:t>
            </a:r>
            <a:r>
              <a:rPr b="1" lang="zh-CN" sz="2250" spc="54" strike="noStrike" u="none">
                <a:solidFill>
                  <a:srgbClr val="1f3a68"/>
                </a:solidFill>
                <a:effectLst/>
                <a:uFillTx/>
                <a:latin typeface="TencentSans"/>
                <a:ea typeface="TencentSans"/>
              </a:rPr>
              <a:t>系统演示：批量处理与历史记录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10125000" y="342720"/>
            <a:ext cx="14742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500"/>
              </a:lnSpc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TencentSans"/>
                <a:ea typeface="TencentSans"/>
              </a:rPr>
              <a:t>2026 System Demo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076040" y="149508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2937"/>
                </a:solidFill>
                <a:effectLst/>
                <a:uFillTx/>
                <a:latin typeface="TencentSans"/>
                <a:ea typeface="TencentSans"/>
              </a:rPr>
              <a:t>批量分析模式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542880" y="1952280"/>
            <a:ext cx="5265360" cy="4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947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TencentSans"/>
                <a:ea typeface="TencentSans"/>
              </a:rPr>
              <a:t>支持一次上传最多 </a:t>
            </a:r>
            <a:r>
              <a:rPr b="1" lang="en-US" sz="1200" strike="noStrike" u="none">
                <a:solidFill>
                  <a:srgbClr val="e8823b"/>
                </a:solidFill>
                <a:effectLst/>
                <a:uFillTx/>
                <a:latin typeface="TencentSans"/>
                <a:ea typeface="TencentSans"/>
              </a:rPr>
              <a:t>10</a:t>
            </a:r>
            <a:r>
              <a:rPr b="1" lang="zh-CN" sz="1200" strike="noStrike" u="none">
                <a:solidFill>
                  <a:srgbClr val="e8823b"/>
                </a:solidFill>
                <a:effectLst/>
                <a:uFillTx/>
                <a:latin typeface="TencentSans"/>
                <a:ea typeface="TencentSans"/>
              </a:rPr>
              <a:t>张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TencentSans"/>
                <a:ea typeface="TencentSans"/>
              </a:rPr>
              <a:t> 图像进行并发推理，系统自动生成诊断结果的 </a:t>
            </a:r>
            <a:r>
              <a:rPr b="1" lang="zh-CN" sz="1200" strike="noStrike" u="none">
                <a:solidFill>
                  <a:srgbClr val="1f3a68"/>
                </a:solidFill>
                <a:effectLst/>
                <a:uFillTx/>
                <a:latin typeface="TencentSans"/>
                <a:ea typeface="TencentSans"/>
              </a:rPr>
              <a:t>汇总分布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TencentSans"/>
                <a:ea typeface="TencentSans"/>
              </a:rPr>
              <a:t>，极大提升临床筛查效率。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7019640" y="149508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2937"/>
                </a:solidFill>
                <a:effectLst/>
                <a:uFillTx/>
                <a:latin typeface="TencentSans"/>
                <a:ea typeface="TencentSans"/>
              </a:rPr>
              <a:t>历史记录功能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6486480" y="1952280"/>
            <a:ext cx="5265360" cy="4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947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TencentSans"/>
                <a:ea typeface="TencentSans"/>
              </a:rPr>
              <a:t>基于 </a:t>
            </a:r>
            <a:r>
              <a:rPr b="1" lang="en-US" sz="1200" strike="noStrike" u="none">
                <a:solidFill>
                  <a:srgbClr val="1f3a68"/>
                </a:solidFill>
                <a:effectLst/>
                <a:uFillTx/>
                <a:latin typeface="TencentSans"/>
                <a:ea typeface="TencentSans"/>
              </a:rPr>
              <a:t>SQLite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TencentSans"/>
                <a:ea typeface="TencentSans"/>
              </a:rPr>
              <a:t> 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TencentSans"/>
                <a:ea typeface="TencentSans"/>
              </a:rPr>
              <a:t>实现历次诊断结果的持久化存储，支持按时间、诊断类别进行 </a:t>
            </a:r>
            <a:r>
              <a:rPr b="1" lang="zh-CN" sz="1200" strike="noStrike" u="none">
                <a:solidFill>
                  <a:srgbClr val="e8823b"/>
                </a:solidFill>
                <a:effectLst/>
                <a:uFillTx/>
                <a:latin typeface="TencentSans"/>
                <a:ea typeface="TencentSans"/>
              </a:rPr>
              <a:t>筛选与统计</a:t>
            </a: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TencentSans"/>
                <a:ea typeface="TencentSans"/>
              </a:rPr>
              <a:t>，便于回顾与追踪。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3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" descr=""/>
          <p:cNvPicPr/>
          <p:nvPr/>
        </p:nvPicPr>
        <p:blipFill>
          <a:blip r:embed="rId3"/>
          <a:stretch/>
        </p:blipFill>
        <p:spPr>
          <a:xfrm>
            <a:off x="457200" y="318960"/>
            <a:ext cx="759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" descr=""/>
          <p:cNvPicPr/>
          <p:nvPr/>
        </p:nvPicPr>
        <p:blipFill>
          <a:blip r:embed="rId4"/>
          <a:stretch/>
        </p:blipFill>
        <p:spPr>
          <a:xfrm>
            <a:off x="428400" y="1380960"/>
            <a:ext cx="11334600" cy="11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6" name="" descr=""/>
          <p:cNvPicPr/>
          <p:nvPr/>
        </p:nvPicPr>
        <p:blipFill>
          <a:blip r:embed="rId5"/>
          <a:stretch/>
        </p:blipFill>
        <p:spPr>
          <a:xfrm>
            <a:off x="761760" y="1714320"/>
            <a:ext cx="5331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7" name="" descr=""/>
          <p:cNvPicPr/>
          <p:nvPr/>
        </p:nvPicPr>
        <p:blipFill>
          <a:blip r:embed="rId6"/>
          <a:stretch/>
        </p:blipFill>
        <p:spPr>
          <a:xfrm>
            <a:off x="1584720" y="3920400"/>
            <a:ext cx="9021960" cy="212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8" name="" descr=""/>
          <p:cNvPicPr/>
          <p:nvPr/>
        </p:nvPicPr>
        <p:blipFill>
          <a:blip r:embed="rId7"/>
          <a:stretch/>
        </p:blipFill>
        <p:spPr>
          <a:xfrm>
            <a:off x="190440" y="4185000"/>
            <a:ext cx="3181320" cy="248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9" name="" descr=""/>
          <p:cNvPicPr/>
          <p:nvPr/>
        </p:nvPicPr>
        <p:blipFill>
          <a:blip r:embed="rId8"/>
          <a:stretch/>
        </p:blipFill>
        <p:spPr>
          <a:xfrm>
            <a:off x="685800" y="5771880"/>
            <a:ext cx="219060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0" name="" descr=""/>
          <p:cNvPicPr/>
          <p:nvPr/>
        </p:nvPicPr>
        <p:blipFill>
          <a:blip r:embed="rId9"/>
          <a:stretch/>
        </p:blipFill>
        <p:spPr>
          <a:xfrm>
            <a:off x="685800" y="5943600"/>
            <a:ext cx="114300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1" name="" descr=""/>
          <p:cNvPicPr/>
          <p:nvPr/>
        </p:nvPicPr>
        <p:blipFill>
          <a:blip r:embed="rId10"/>
          <a:stretch/>
        </p:blipFill>
        <p:spPr>
          <a:xfrm>
            <a:off x="3066840" y="3653640"/>
            <a:ext cx="3181320" cy="301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" descr=""/>
          <p:cNvPicPr/>
          <p:nvPr/>
        </p:nvPicPr>
        <p:blipFill>
          <a:blip r:embed="rId11"/>
          <a:stretch/>
        </p:blipFill>
        <p:spPr>
          <a:xfrm>
            <a:off x="3562200" y="5771880"/>
            <a:ext cx="219060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3" name="" descr=""/>
          <p:cNvPicPr/>
          <p:nvPr/>
        </p:nvPicPr>
        <p:blipFill>
          <a:blip r:embed="rId12"/>
          <a:stretch/>
        </p:blipFill>
        <p:spPr>
          <a:xfrm>
            <a:off x="3562200" y="5943600"/>
            <a:ext cx="10285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4" name="" descr=""/>
          <p:cNvPicPr/>
          <p:nvPr/>
        </p:nvPicPr>
        <p:blipFill>
          <a:blip r:embed="rId13"/>
          <a:stretch/>
        </p:blipFill>
        <p:spPr>
          <a:xfrm>
            <a:off x="5943600" y="3122280"/>
            <a:ext cx="3181320" cy="354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5" name="" descr=""/>
          <p:cNvPicPr/>
          <p:nvPr/>
        </p:nvPicPr>
        <p:blipFill>
          <a:blip r:embed="rId14"/>
          <a:stretch/>
        </p:blipFill>
        <p:spPr>
          <a:xfrm>
            <a:off x="6438600" y="5771880"/>
            <a:ext cx="219060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" descr=""/>
          <p:cNvPicPr/>
          <p:nvPr/>
        </p:nvPicPr>
        <p:blipFill>
          <a:blip r:embed="rId15"/>
          <a:stretch/>
        </p:blipFill>
        <p:spPr>
          <a:xfrm>
            <a:off x="6438600" y="5943600"/>
            <a:ext cx="102852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7" name="" descr=""/>
          <p:cNvPicPr/>
          <p:nvPr/>
        </p:nvPicPr>
        <p:blipFill>
          <a:blip r:embed="rId16"/>
          <a:stretch/>
        </p:blipFill>
        <p:spPr>
          <a:xfrm>
            <a:off x="8820000" y="2590560"/>
            <a:ext cx="3181320" cy="407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8" name="" descr=""/>
          <p:cNvPicPr/>
          <p:nvPr/>
        </p:nvPicPr>
        <p:blipFill>
          <a:blip r:embed="rId17"/>
          <a:stretch/>
        </p:blipFill>
        <p:spPr>
          <a:xfrm>
            <a:off x="9315360" y="5771880"/>
            <a:ext cx="219060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" descr=""/>
          <p:cNvPicPr/>
          <p:nvPr/>
        </p:nvPicPr>
        <p:blipFill>
          <a:blip r:embed="rId18"/>
          <a:stretch/>
        </p:blipFill>
        <p:spPr>
          <a:xfrm>
            <a:off x="9315360" y="5943600"/>
            <a:ext cx="114300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"/>
          <p:cNvSpPr txBox="1"/>
          <p:nvPr/>
        </p:nvSpPr>
        <p:spPr>
          <a:xfrm>
            <a:off x="685800" y="299880"/>
            <a:ext cx="432036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pc="54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消融实验：各技术贡献分析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1447560" y="1714320"/>
            <a:ext cx="38404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5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核心结论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447560" y="2019240"/>
            <a:ext cx="38404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800"/>
              </a:lnSpc>
            </a:pPr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各项优化技术叠加，实现了显著的模型性能跨越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9218520" y="1638000"/>
            <a:ext cx="2373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r">
              <a:lnSpc>
                <a:spcPts val="1500"/>
              </a:lnSpc>
            </a:pPr>
            <a:r>
              <a:rPr b="1" lang="zh-CN" sz="1050" spc="51" strike="noStrike" u="none">
                <a:solidFill>
                  <a:srgbClr val="6b7280"/>
                </a:solidFill>
                <a:effectLst/>
                <a:uFillTx/>
                <a:latin typeface="Inter"/>
                <a:ea typeface="Inter"/>
              </a:rPr>
              <a:t>累计性能提升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9218520" y="1866600"/>
            <a:ext cx="233280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r">
              <a:lnSpc>
                <a:spcPts val="3600"/>
              </a:lnSpc>
            </a:pPr>
            <a:r>
              <a:rPr b="1" lang="en-US" sz="36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+11.11%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2475360" y="4642200"/>
            <a:ext cx="5724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e5e7eb"/>
                </a:solidFill>
                <a:effectLst/>
                <a:uFillTx/>
                <a:latin typeface="Inter"/>
                <a:ea typeface="Inter"/>
              </a:rPr>
              <a:t>01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685800" y="4718520"/>
            <a:ext cx="2628720" cy="266760"/>
          </a:xfrm>
          <a:prstGeom prst="rect">
            <a:avLst/>
          </a:prstGeom>
          <a:noFill/>
          <a:ln w="0">
            <a:noFill/>
          </a:ln>
        </p:spPr>
        <p:txBody>
          <a:bodyPr lIns="0" rIns="304560" tIns="0" bIns="0" anchor="t">
            <a:spAutoFit/>
          </a:bodyPr>
          <a:p>
            <a:pPr>
              <a:lnSpc>
                <a:spcPts val="2098"/>
              </a:lnSpc>
            </a:pP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传统数据增强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685800" y="5137560"/>
            <a:ext cx="223416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通过旋转、翻转、缩放等基础几何变换，初步扩充数据集规模。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685800" y="5771880"/>
            <a:ext cx="223416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152280" bIns="0" anchor="t">
            <a:spAutoFit/>
          </a:bodyPr>
          <a:p>
            <a:pPr>
              <a:lnSpc>
                <a:spcPts val="1800"/>
              </a:lnSpc>
            </a:pPr>
            <a:r>
              <a:rPr b="1" lang="zh-CN" sz="9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提升少数类稳健性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5351760" y="4110840"/>
            <a:ext cx="5724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e5e7eb"/>
                </a:solidFill>
                <a:effectLst/>
                <a:uFillTx/>
                <a:latin typeface="Inter"/>
                <a:ea typeface="Inter"/>
              </a:rPr>
              <a:t>02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3562200" y="4187160"/>
            <a:ext cx="2628720" cy="266760"/>
          </a:xfrm>
          <a:prstGeom prst="rect">
            <a:avLst/>
          </a:prstGeom>
          <a:noFill/>
          <a:ln w="0">
            <a:noFill/>
          </a:ln>
        </p:spPr>
        <p:txBody>
          <a:bodyPr lIns="0" rIns="30456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DAGAN </a:t>
            </a:r>
            <a:r>
              <a:rPr b="1" lang="zh-CN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生成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3562200" y="4606200"/>
            <a:ext cx="223416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引入数据增强生成对抗网络，合成高质量、高逼真度的医学影像样本。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3562200" y="5771880"/>
            <a:ext cx="223416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152280" bIns="0" anchor="t">
            <a:spAutoFit/>
          </a:bodyPr>
          <a:p>
            <a:pPr>
              <a:lnSpc>
                <a:spcPts val="1800"/>
              </a:lnSpc>
            </a:pPr>
            <a:r>
              <a:rPr b="1" lang="zh-CN" sz="9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丰富良性类特征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8228520" y="3579480"/>
            <a:ext cx="5724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e5e7eb"/>
                </a:solidFill>
                <a:effectLst/>
                <a:uFillTx/>
                <a:latin typeface="Inter"/>
                <a:ea typeface="Inter"/>
              </a:rPr>
              <a:t>03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6438600" y="3655800"/>
            <a:ext cx="2628720" cy="266760"/>
          </a:xfrm>
          <a:prstGeom prst="rect">
            <a:avLst/>
          </a:prstGeom>
          <a:noFill/>
          <a:ln w="0">
            <a:noFill/>
          </a:ln>
        </p:spPr>
        <p:txBody>
          <a:bodyPr lIns="0" rIns="30456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35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Focal Loss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6438600" y="4074840"/>
            <a:ext cx="223416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重塑损失函数，动态调整易分样本权重，使模型聚焦于难分样本。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6438600" y="5771880"/>
            <a:ext cx="223416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152280" bIns="0" anchor="t">
            <a:spAutoFit/>
          </a:bodyPr>
          <a:p>
            <a:pPr>
              <a:lnSpc>
                <a:spcPts val="1800"/>
              </a:lnSpc>
            </a:pPr>
            <a:r>
              <a:rPr b="1" lang="zh-CN" sz="9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解决类别不平衡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1104920" y="3047760"/>
            <a:ext cx="5724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en-US" sz="2700" strike="noStrike" u="none">
                <a:solidFill>
                  <a:srgbClr val="ffedd5"/>
                </a:solidFill>
                <a:effectLst/>
                <a:uFillTx/>
                <a:latin typeface="Inter"/>
                <a:ea typeface="Inter"/>
              </a:rPr>
              <a:t>04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9315360" y="3124080"/>
            <a:ext cx="2234160" cy="533160"/>
          </a:xfrm>
          <a:prstGeom prst="rect">
            <a:avLst/>
          </a:prstGeom>
          <a:noFill/>
          <a:ln w="0">
            <a:noFill/>
          </a:ln>
        </p:spPr>
        <p:txBody>
          <a:bodyPr lIns="0" rIns="30456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3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EfficientNet-B0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098"/>
              </a:lnSpc>
            </a:pPr>
            <a:r>
              <a:rPr b="1" lang="en-US" sz="13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+ </a:t>
            </a:r>
            <a:r>
              <a:rPr b="1" lang="zh-CN" sz="13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训练技巧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9315360" y="3809880"/>
            <a:ext cx="2234160" cy="43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1704"/>
              </a:lnSpc>
            </a:pPr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采用轻量级高效网络架构，结合学习率预热、余弦退火等高级训练策略。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9315360" y="5771880"/>
            <a:ext cx="223416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152280" bIns="0" anchor="t">
            <a:spAutoFit/>
          </a:bodyPr>
          <a:p>
            <a:pPr>
              <a:lnSpc>
                <a:spcPts val="1800"/>
              </a:lnSpc>
            </a:pPr>
            <a:r>
              <a:rPr b="1" lang="zh-CN" sz="90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实现最终性能突破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2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106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3" name="" descr=""/>
          <p:cNvPicPr/>
          <p:nvPr/>
        </p:nvPicPr>
        <p:blipFill>
          <a:blip r:embed="rId3"/>
          <a:stretch/>
        </p:blipFill>
        <p:spPr>
          <a:xfrm>
            <a:off x="609480" y="33804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4" name="" descr=""/>
          <p:cNvPicPr/>
          <p:nvPr/>
        </p:nvPicPr>
        <p:blipFill>
          <a:blip r:embed="rId4"/>
          <a:stretch/>
        </p:blipFill>
        <p:spPr>
          <a:xfrm>
            <a:off x="580680" y="1647720"/>
            <a:ext cx="3511440" cy="462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" descr=""/>
          <p:cNvPicPr/>
          <p:nvPr/>
        </p:nvPicPr>
        <p:blipFill>
          <a:blip r:embed="rId5"/>
          <a:stretch/>
        </p:blipFill>
        <p:spPr>
          <a:xfrm>
            <a:off x="618840" y="1685880"/>
            <a:ext cx="343512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" descr=""/>
          <p:cNvPicPr/>
          <p:nvPr/>
        </p:nvPicPr>
        <p:blipFill>
          <a:blip r:embed="rId6"/>
          <a:stretch/>
        </p:blipFill>
        <p:spPr>
          <a:xfrm>
            <a:off x="2808720" y="1914480"/>
            <a:ext cx="10170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7" name="" descr=""/>
          <p:cNvPicPr/>
          <p:nvPr/>
        </p:nvPicPr>
        <p:blipFill>
          <a:blip r:embed="rId7"/>
          <a:stretch/>
        </p:blipFill>
        <p:spPr>
          <a:xfrm>
            <a:off x="1000080" y="2066760"/>
            <a:ext cx="60948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8" name="" descr=""/>
          <p:cNvPicPr/>
          <p:nvPr/>
        </p:nvPicPr>
        <p:blipFill>
          <a:blip r:embed="rId8"/>
          <a:stretch/>
        </p:blipFill>
        <p:spPr>
          <a:xfrm>
            <a:off x="1000080" y="3476520"/>
            <a:ext cx="45720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9" name="" descr=""/>
          <p:cNvPicPr/>
          <p:nvPr/>
        </p:nvPicPr>
        <p:blipFill>
          <a:blip r:embed="rId9"/>
          <a:stretch/>
        </p:blipFill>
        <p:spPr>
          <a:xfrm>
            <a:off x="4340160" y="1647720"/>
            <a:ext cx="3511440" cy="462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0" name="" descr=""/>
          <p:cNvPicPr/>
          <p:nvPr/>
        </p:nvPicPr>
        <p:blipFill>
          <a:blip r:embed="rId10"/>
          <a:stretch/>
        </p:blipFill>
        <p:spPr>
          <a:xfrm>
            <a:off x="4378320" y="1685880"/>
            <a:ext cx="343512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1" name="" descr=""/>
          <p:cNvPicPr/>
          <p:nvPr/>
        </p:nvPicPr>
        <p:blipFill>
          <a:blip r:embed="rId11"/>
          <a:stretch/>
        </p:blipFill>
        <p:spPr>
          <a:xfrm>
            <a:off x="6567840" y="1914480"/>
            <a:ext cx="10170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2" name="" descr=""/>
          <p:cNvPicPr/>
          <p:nvPr/>
        </p:nvPicPr>
        <p:blipFill>
          <a:blip r:embed="rId12"/>
          <a:stretch/>
        </p:blipFill>
        <p:spPr>
          <a:xfrm>
            <a:off x="4759200" y="2066760"/>
            <a:ext cx="60948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3" name="" descr=""/>
          <p:cNvPicPr/>
          <p:nvPr/>
        </p:nvPicPr>
        <p:blipFill>
          <a:blip r:embed="rId13"/>
          <a:stretch/>
        </p:blipFill>
        <p:spPr>
          <a:xfrm>
            <a:off x="4759200" y="3476520"/>
            <a:ext cx="45720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4" name="" descr=""/>
          <p:cNvPicPr/>
          <p:nvPr/>
        </p:nvPicPr>
        <p:blipFill>
          <a:blip r:embed="rId14"/>
          <a:stretch/>
        </p:blipFill>
        <p:spPr>
          <a:xfrm>
            <a:off x="8099280" y="1647720"/>
            <a:ext cx="3511440" cy="462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5" name="" descr=""/>
          <p:cNvPicPr/>
          <p:nvPr/>
        </p:nvPicPr>
        <p:blipFill>
          <a:blip r:embed="rId15"/>
          <a:stretch/>
        </p:blipFill>
        <p:spPr>
          <a:xfrm>
            <a:off x="8137440" y="1685880"/>
            <a:ext cx="343512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" descr=""/>
          <p:cNvPicPr/>
          <p:nvPr/>
        </p:nvPicPr>
        <p:blipFill>
          <a:blip r:embed="rId16"/>
          <a:stretch/>
        </p:blipFill>
        <p:spPr>
          <a:xfrm>
            <a:off x="10327320" y="1914480"/>
            <a:ext cx="10170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" descr=""/>
          <p:cNvPicPr/>
          <p:nvPr/>
        </p:nvPicPr>
        <p:blipFill>
          <a:blip r:embed="rId17"/>
          <a:stretch/>
        </p:blipFill>
        <p:spPr>
          <a:xfrm>
            <a:off x="8518320" y="2066760"/>
            <a:ext cx="60948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8" name="" descr=""/>
          <p:cNvPicPr/>
          <p:nvPr/>
        </p:nvPicPr>
        <p:blipFill>
          <a:blip r:embed="rId18"/>
          <a:stretch/>
        </p:blipFill>
        <p:spPr>
          <a:xfrm>
            <a:off x="8518320" y="3476520"/>
            <a:ext cx="457200" cy="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"/>
          <p:cNvSpPr txBox="1"/>
          <p:nvPr/>
        </p:nvSpPr>
        <p:spPr>
          <a:xfrm>
            <a:off x="914400" y="338040"/>
            <a:ext cx="216000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65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创新点总结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1000080" y="2981160"/>
            <a:ext cx="32079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递进式实验方法论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1000080" y="3743280"/>
            <a:ext cx="2726640" cy="206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构建了严谨的</a:t>
            </a:r>
            <a:r>
              <a:rPr b="1" lang="zh-CN" sz="13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五阶段框架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，通过层层递进的实验设计，清晰且系统地量化了各项技术改进的实际贡献，确保了研究结论的可靠性。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4759200" y="2981160"/>
            <a:ext cx="32079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混合增强策略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4759200" y="3743280"/>
            <a:ext cx="2726640" cy="206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深入验证了传统数据增强技术与 </a:t>
            </a:r>
            <a:r>
              <a:rPr b="1" lang="en-US" sz="13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DAGAN </a:t>
            </a:r>
            <a:r>
              <a:rPr b="1" lang="zh-CN" sz="13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合成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方法之间的互补性，有效解决了数据不平衡问题，显著提升了模型在复杂场景下的泛化能力。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8518320" y="2981160"/>
            <a:ext cx="32079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Inter"/>
                <a:ea typeface="Inter"/>
              </a:rPr>
              <a:t>端到端交付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8518320" y="3743280"/>
            <a:ext cx="2726640" cy="206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191"/>
              </a:lnSpc>
            </a:pP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成功打通了从底层模型训练、深度可解释性分析到最终 </a:t>
            </a:r>
            <a:r>
              <a:rPr b="1" lang="en-US" sz="13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Web </a:t>
            </a:r>
            <a:r>
              <a:rPr b="1" lang="zh-CN" sz="1350" strike="noStrike" u="none">
                <a:solidFill>
                  <a:srgbClr val="e8823b"/>
                </a:solidFill>
                <a:effectLst/>
                <a:uFillTx/>
                <a:latin typeface="Inter"/>
                <a:ea typeface="Inter"/>
              </a:rPr>
              <a:t>部署</a:t>
            </a:r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的完整链路，实现了从理论研究到工程化落地的闭环。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7" name="" descr=""/>
          <p:cNvPicPr/>
          <p:nvPr/>
        </p:nvPicPr>
        <p:blipFill>
          <a:blip r:embed="rId2"/>
          <a:stretch/>
        </p:blipFill>
        <p:spPr>
          <a:xfrm>
            <a:off x="609480" y="533160"/>
            <a:ext cx="7596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8" name="" descr=""/>
          <p:cNvPicPr/>
          <p:nvPr/>
        </p:nvPicPr>
        <p:blipFill>
          <a:blip r:embed="rId3"/>
          <a:stretch/>
        </p:blipFill>
        <p:spPr>
          <a:xfrm>
            <a:off x="10896480" y="704520"/>
            <a:ext cx="45720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9" name="" descr=""/>
          <p:cNvPicPr/>
          <p:nvPr/>
        </p:nvPicPr>
        <p:blipFill>
          <a:blip r:embed="rId4"/>
          <a:stretch/>
        </p:blipFill>
        <p:spPr>
          <a:xfrm>
            <a:off x="11430000" y="704520"/>
            <a:ext cx="15228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0" name="" descr=""/>
          <p:cNvPicPr/>
          <p:nvPr/>
        </p:nvPicPr>
        <p:blipFill>
          <a:blip r:embed="rId5"/>
          <a:stretch/>
        </p:blipFill>
        <p:spPr>
          <a:xfrm>
            <a:off x="609480" y="1143000"/>
            <a:ext cx="5295600" cy="518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1" name="" descr=""/>
          <p:cNvPicPr/>
          <p:nvPr/>
        </p:nvPicPr>
        <p:blipFill>
          <a:blip r:embed="rId6"/>
          <a:stretch/>
        </p:blipFill>
        <p:spPr>
          <a:xfrm>
            <a:off x="4676760" y="118080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2" name="" descr=""/>
          <p:cNvPicPr/>
          <p:nvPr/>
        </p:nvPicPr>
        <p:blipFill>
          <a:blip r:embed="rId7"/>
          <a:stretch/>
        </p:blipFill>
        <p:spPr>
          <a:xfrm>
            <a:off x="1000080" y="1562040"/>
            <a:ext cx="60948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3" name="" descr=""/>
          <p:cNvPicPr/>
          <p:nvPr/>
        </p:nvPicPr>
        <p:blipFill>
          <a:blip r:embed="rId8"/>
          <a:stretch/>
        </p:blipFill>
        <p:spPr>
          <a:xfrm>
            <a:off x="971280" y="2523960"/>
            <a:ext cx="4572000" cy="174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4" name="" descr=""/>
          <p:cNvPicPr/>
          <p:nvPr/>
        </p:nvPicPr>
        <p:blipFill>
          <a:blip r:embed="rId9"/>
          <a:stretch/>
        </p:blipFill>
        <p:spPr>
          <a:xfrm>
            <a:off x="1037880" y="2552400"/>
            <a:ext cx="37800" cy="16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5" name="" descr=""/>
          <p:cNvPicPr/>
          <p:nvPr/>
        </p:nvPicPr>
        <p:blipFill>
          <a:blip r:embed="rId10"/>
          <a:stretch/>
        </p:blipFill>
        <p:spPr>
          <a:xfrm>
            <a:off x="1342800" y="297180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6" name="" descr=""/>
          <p:cNvPicPr/>
          <p:nvPr/>
        </p:nvPicPr>
        <p:blipFill>
          <a:blip r:embed="rId11"/>
          <a:stretch/>
        </p:blipFill>
        <p:spPr>
          <a:xfrm>
            <a:off x="971280" y="4514760"/>
            <a:ext cx="4572000" cy="180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7" name="" descr=""/>
          <p:cNvPicPr/>
          <p:nvPr/>
        </p:nvPicPr>
        <p:blipFill>
          <a:blip r:embed="rId12"/>
          <a:stretch/>
        </p:blipFill>
        <p:spPr>
          <a:xfrm>
            <a:off x="1037880" y="4543200"/>
            <a:ext cx="37800" cy="199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" descr=""/>
          <p:cNvPicPr/>
          <p:nvPr/>
        </p:nvPicPr>
        <p:blipFill>
          <a:blip r:embed="rId13"/>
          <a:stretch/>
        </p:blipFill>
        <p:spPr>
          <a:xfrm>
            <a:off x="1342800" y="496224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9" name="" descr=""/>
          <p:cNvPicPr/>
          <p:nvPr/>
        </p:nvPicPr>
        <p:blipFill>
          <a:blip r:embed="rId14"/>
          <a:stretch/>
        </p:blipFill>
        <p:spPr>
          <a:xfrm>
            <a:off x="6286320" y="1143000"/>
            <a:ext cx="5295600" cy="518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" descr=""/>
          <p:cNvPicPr/>
          <p:nvPr/>
        </p:nvPicPr>
        <p:blipFill>
          <a:blip r:embed="rId15"/>
          <a:stretch/>
        </p:blipFill>
        <p:spPr>
          <a:xfrm>
            <a:off x="10353600" y="118080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" descr=""/>
          <p:cNvPicPr/>
          <p:nvPr/>
        </p:nvPicPr>
        <p:blipFill>
          <a:blip r:embed="rId16"/>
          <a:stretch/>
        </p:blipFill>
        <p:spPr>
          <a:xfrm>
            <a:off x="6676920" y="1562040"/>
            <a:ext cx="609480" cy="60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2" name="" descr=""/>
          <p:cNvPicPr/>
          <p:nvPr/>
        </p:nvPicPr>
        <p:blipFill>
          <a:blip r:embed="rId17"/>
          <a:stretch/>
        </p:blipFill>
        <p:spPr>
          <a:xfrm>
            <a:off x="6648120" y="2523960"/>
            <a:ext cx="4572000" cy="174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3" name="" descr=""/>
          <p:cNvPicPr/>
          <p:nvPr/>
        </p:nvPicPr>
        <p:blipFill>
          <a:blip r:embed="rId18"/>
          <a:stretch/>
        </p:blipFill>
        <p:spPr>
          <a:xfrm>
            <a:off x="6715080" y="2552400"/>
            <a:ext cx="37800" cy="168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4" name="" descr=""/>
          <p:cNvPicPr/>
          <p:nvPr/>
        </p:nvPicPr>
        <p:blipFill>
          <a:blip r:embed="rId19"/>
          <a:stretch/>
        </p:blipFill>
        <p:spPr>
          <a:xfrm>
            <a:off x="7019640" y="2971800"/>
            <a:ext cx="759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5" name="" descr=""/>
          <p:cNvPicPr/>
          <p:nvPr/>
        </p:nvPicPr>
        <p:blipFill>
          <a:blip r:embed="rId20"/>
          <a:stretch/>
        </p:blipFill>
        <p:spPr>
          <a:xfrm>
            <a:off x="6648120" y="4514760"/>
            <a:ext cx="4572000" cy="180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6" name="" descr=""/>
          <p:cNvPicPr/>
          <p:nvPr/>
        </p:nvPicPr>
        <p:blipFill>
          <a:blip r:embed="rId21"/>
          <a:stretch/>
        </p:blipFill>
        <p:spPr>
          <a:xfrm>
            <a:off x="6715080" y="4543200"/>
            <a:ext cx="37800" cy="199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7" name="" descr=""/>
          <p:cNvPicPr/>
          <p:nvPr/>
        </p:nvPicPr>
        <p:blipFill>
          <a:blip r:embed="rId22"/>
          <a:stretch/>
        </p:blipFill>
        <p:spPr>
          <a:xfrm>
            <a:off x="7019640" y="4962240"/>
            <a:ext cx="75960" cy="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"/>
          <p:cNvSpPr txBox="1"/>
          <p:nvPr/>
        </p:nvSpPr>
        <p:spPr>
          <a:xfrm>
            <a:off x="914400" y="533160"/>
            <a:ext cx="22629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99"/>
              </a:lnSpc>
            </a:pPr>
            <a:r>
              <a:rPr b="1" lang="zh-CN" sz="2700" spc="133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不足与展望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838160" y="1695240"/>
            <a:ext cx="143964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pc="54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研究不足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1533240" y="2857320"/>
            <a:ext cx="19202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单一数据集验证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1342800" y="3314520"/>
            <a:ext cx="3944160" cy="618840"/>
          </a:xfrm>
          <a:prstGeom prst="rect">
            <a:avLst/>
          </a:prstGeom>
          <a:noFill/>
          <a:ln w="0">
            <a:noFill/>
          </a:ln>
        </p:spPr>
        <p:txBody>
          <a:bodyPr lIns="190440" rIns="0" tIns="0" bIns="0" anchor="t">
            <a:spAutoFit/>
          </a:bodyPr>
          <a:p>
            <a:pPr>
              <a:lnSpc>
                <a:spcPts val="2435"/>
              </a:lnSpc>
            </a:pP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目前模型仅在单一公开数据集（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BUSI</a:t>
            </a: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）上进行了验证与测试，数据多样性受限。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533240" y="4848120"/>
            <a:ext cx="19202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泛化能力待确认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342800" y="5305320"/>
            <a:ext cx="3944160" cy="928080"/>
          </a:xfrm>
          <a:prstGeom prst="rect">
            <a:avLst/>
          </a:prstGeom>
          <a:noFill/>
          <a:ln w="0">
            <a:noFill/>
          </a:ln>
        </p:spPr>
        <p:txBody>
          <a:bodyPr lIns="190440" rIns="0" tIns="0" bIns="0" anchor="t">
            <a:spAutoFit/>
          </a:bodyPr>
          <a:p>
            <a:pPr>
              <a:lnSpc>
                <a:spcPts val="2435"/>
              </a:lnSpc>
            </a:pP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由于数据来源单一，模型在不同设备、不同人群中的</a:t>
            </a: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泛化能力</a:t>
            </a: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仍有待进一步的临床确认。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7515000" y="1695240"/>
            <a:ext cx="143964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1" lang="zh-CN" sz="2250" spc="54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未来展望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7210080" y="2857320"/>
            <a:ext cx="192024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多中心临床验证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7019640" y="3314520"/>
            <a:ext cx="3944160" cy="618840"/>
          </a:xfrm>
          <a:prstGeom prst="rect">
            <a:avLst/>
          </a:prstGeom>
          <a:noFill/>
          <a:ln w="0">
            <a:noFill/>
          </a:ln>
        </p:spPr>
        <p:txBody>
          <a:bodyPr lIns="190440" rIns="0" tIns="0" bIns="0" anchor="t">
            <a:spAutoFit/>
          </a:bodyPr>
          <a:p>
            <a:pPr>
              <a:lnSpc>
                <a:spcPts val="2435"/>
              </a:lnSpc>
            </a:pP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计划引入</a:t>
            </a: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多中心临床数据</a:t>
            </a: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进行大规模验证，以提升模型的鲁棒性与实际临床应用价值。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7210080" y="4848120"/>
            <a:ext cx="164592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398"/>
              </a:lnSpc>
            </a:pP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Noto Sans SC"/>
                <a:ea typeface="Noto Sans SC"/>
              </a:rPr>
              <a:t>生成模型升级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7019640" y="5305320"/>
            <a:ext cx="3944160" cy="928080"/>
          </a:xfrm>
          <a:prstGeom prst="rect">
            <a:avLst/>
          </a:prstGeom>
          <a:noFill/>
          <a:ln w="0">
            <a:noFill/>
          </a:ln>
        </p:spPr>
        <p:txBody>
          <a:bodyPr lIns="190440" rIns="0" tIns="0" bIns="0" anchor="t">
            <a:spAutoFit/>
          </a:bodyPr>
          <a:p>
            <a:pPr>
              <a:lnSpc>
                <a:spcPts val="2435"/>
              </a:lnSpc>
            </a:pP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尝试使用先进的 </a:t>
            </a:r>
            <a:r>
              <a:rPr b="1" lang="en-US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Diffusion </a:t>
            </a:r>
            <a:r>
              <a:rPr b="1" lang="zh-CN" sz="1500" strike="noStrike" u="none">
                <a:solidFill>
                  <a:srgbClr val="e8823b"/>
                </a:solidFill>
                <a:effectLst/>
                <a:uFillTx/>
                <a:latin typeface="Noto Sans SC"/>
                <a:ea typeface="Noto Sans SC"/>
              </a:rPr>
              <a:t>模型</a:t>
            </a:r>
            <a:r>
              <a:rPr b="0" lang="en-US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 替代现有的 </a:t>
            </a:r>
            <a:r>
              <a:rPr b="0" lang="en-US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DAGAN</a:t>
            </a:r>
            <a:r>
              <a:rPr b="0" lang="zh-CN" sz="150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，以进一步提升合成图像的质量与多样性。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0" name="" descr=""/>
          <p:cNvPicPr/>
          <p:nvPr/>
        </p:nvPicPr>
        <p:blipFill>
          <a:blip r:embed="rId2"/>
          <a:stretch/>
        </p:blipFill>
        <p:spPr>
          <a:xfrm>
            <a:off x="5790960" y="799920"/>
            <a:ext cx="60948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1" name="" descr=""/>
          <p:cNvPicPr/>
          <p:nvPr/>
        </p:nvPicPr>
        <p:blipFill>
          <a:blip r:embed="rId3"/>
          <a:stretch/>
        </p:blipFill>
        <p:spPr>
          <a:xfrm>
            <a:off x="2438280" y="1866600"/>
            <a:ext cx="7315200" cy="361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2" name="" descr=""/>
          <p:cNvPicPr/>
          <p:nvPr/>
        </p:nvPicPr>
        <p:blipFill>
          <a:blip r:embed="rId4"/>
          <a:stretch/>
        </p:blipFill>
        <p:spPr>
          <a:xfrm>
            <a:off x="2828880" y="231444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3" name="" descr=""/>
          <p:cNvPicPr/>
          <p:nvPr/>
        </p:nvPicPr>
        <p:blipFill>
          <a:blip r:embed="rId5"/>
          <a:stretch/>
        </p:blipFill>
        <p:spPr>
          <a:xfrm>
            <a:off x="2828880" y="336204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4" name="" descr=""/>
          <p:cNvPicPr/>
          <p:nvPr/>
        </p:nvPicPr>
        <p:blipFill>
          <a:blip r:embed="rId6"/>
          <a:stretch/>
        </p:blipFill>
        <p:spPr>
          <a:xfrm>
            <a:off x="2828880" y="4410000"/>
            <a:ext cx="190440" cy="1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5" name="" descr=""/>
          <p:cNvPicPr/>
          <p:nvPr/>
        </p:nvPicPr>
        <p:blipFill>
          <a:blip r:embed="rId7"/>
          <a:stretch/>
        </p:blipFill>
        <p:spPr>
          <a:xfrm>
            <a:off x="5145480" y="6719760"/>
            <a:ext cx="457200" cy="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6" name="" descr=""/>
          <p:cNvPicPr/>
          <p:nvPr/>
        </p:nvPicPr>
        <p:blipFill>
          <a:blip r:embed="rId8"/>
          <a:stretch/>
        </p:blipFill>
        <p:spPr>
          <a:xfrm>
            <a:off x="6588720" y="6719760"/>
            <a:ext cx="457200" cy="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7" name=""/>
          <p:cNvSpPr txBox="1"/>
          <p:nvPr/>
        </p:nvSpPr>
        <p:spPr>
          <a:xfrm>
            <a:off x="5466960" y="0"/>
            <a:ext cx="1920240" cy="57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4499"/>
              </a:lnSpc>
            </a:pPr>
            <a:r>
              <a:rPr b="1" lang="zh-CN" sz="4500" spc="899" strike="noStrike" u="none">
                <a:solidFill>
                  <a:srgbClr val="1f3a68"/>
                </a:solidFill>
                <a:effectLst/>
                <a:uFillTx/>
                <a:latin typeface="PingFang SC"/>
                <a:ea typeface="PingFang SC"/>
              </a:rPr>
              <a:t>致谢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4978080" y="990360"/>
            <a:ext cx="302472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0" lang="en-US" sz="1500" spc="147" strike="noStrike" u="none">
                <a:solidFill>
                  <a:srgbClr val="666666"/>
                </a:solidFill>
                <a:effectLst/>
                <a:uFillTx/>
                <a:latin typeface="PingFang SC"/>
                <a:ea typeface="PingFang SC"/>
              </a:rPr>
              <a:t>ACKNOWLEDGEMENT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3247920" y="2257200"/>
            <a:ext cx="6237000" cy="74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23"/>
              </a:lnSpc>
            </a:pPr>
            <a:r>
              <a:rPr b="0" lang="zh-CN" sz="1800" strike="noStrike" u="none">
                <a:solidFill>
                  <a:srgbClr val="333333"/>
                </a:solidFill>
                <a:effectLst/>
                <a:uFillTx/>
                <a:latin typeface="PingFang SC"/>
                <a:ea typeface="PingFang SC"/>
              </a:rPr>
              <a:t>感谢指导教师 </a:t>
            </a: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PingFang SC"/>
                <a:ea typeface="PingFang SC"/>
              </a:rPr>
              <a:t>陆枫</a:t>
            </a: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PingFang SC"/>
                <a:ea typeface="PingFang SC"/>
              </a:rPr>
              <a:t> 的悉心指导与严谨治学的态度，为本研究指明了方向。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3247920" y="3305160"/>
            <a:ext cx="6237000" cy="74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23"/>
              </a:lnSpc>
            </a:pPr>
            <a:r>
              <a:rPr b="0" lang="zh-CN" sz="1800" strike="noStrike" u="none">
                <a:solidFill>
                  <a:srgbClr val="333333"/>
                </a:solidFill>
                <a:effectLst/>
                <a:uFillTx/>
                <a:latin typeface="PingFang SC"/>
                <a:ea typeface="PingFang SC"/>
              </a:rPr>
              <a:t>感谢 </a:t>
            </a:r>
            <a:r>
              <a:rPr b="1" lang="zh-CN" sz="1800" strike="noStrike" u="none">
                <a:solidFill>
                  <a:srgbClr val="1f3a68"/>
                </a:solidFill>
                <a:effectLst/>
                <a:uFillTx/>
                <a:latin typeface="PingFang SC"/>
                <a:ea typeface="PingFang SC"/>
              </a:rPr>
              <a:t>华中科技大学计算机科学与技术学院</a:t>
            </a: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PingFang SC"/>
                <a:ea typeface="PingFang SC"/>
              </a:rPr>
              <a:t> 提供的优良学术环境与培养。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3247920" y="4352760"/>
            <a:ext cx="6237000" cy="74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923"/>
              </a:lnSpc>
            </a:pPr>
            <a:r>
              <a:rPr b="0" lang="zh-CN" sz="1800" strike="noStrike" u="none">
                <a:solidFill>
                  <a:srgbClr val="333333"/>
                </a:solidFill>
                <a:effectLst/>
                <a:uFillTx/>
                <a:latin typeface="PingFang SC"/>
                <a:ea typeface="PingFang SC"/>
              </a:rPr>
              <a:t>感谢各位评委老师在百忙之中抽出时间聆听汇报并给予宝贵指正。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5152680" y="6095880"/>
            <a:ext cx="2468880" cy="3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699"/>
              </a:lnSpc>
            </a:pPr>
            <a:r>
              <a:rPr b="0" lang="zh-CN" sz="2250" spc="224" strike="noStrike" u="none">
                <a:solidFill>
                  <a:srgbClr val="1f3a68"/>
                </a:solidFill>
                <a:effectLst/>
                <a:uFillTx/>
                <a:latin typeface="PingFang SC"/>
                <a:ea typeface="PingFang SC"/>
              </a:rPr>
              <a:t>敬请批评指正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5754960" y="6591240"/>
            <a:ext cx="931680" cy="2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>
              <a:lnSpc>
                <a:spcPts val="2098"/>
              </a:lnSpc>
            </a:pPr>
            <a:r>
              <a:rPr b="1" lang="en-US" sz="1500" spc="147" strike="noStrike" u="none">
                <a:solidFill>
                  <a:srgbClr val="e8823b"/>
                </a:solidFill>
                <a:effectLst/>
                <a:uFillTx/>
                <a:latin typeface="PingFang SC"/>
                <a:ea typeface="PingFang SC"/>
              </a:rPr>
              <a:t>Q &amp; 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LibreOffice/25.2.5.2$Linux_X86_64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2026-04-26T22:16:51Z</dcterms:modified>
  <cp:revision>1</cp:revision>
  <dc:subject/>
  <dc:title/>
</cp:coreProperties>
</file>